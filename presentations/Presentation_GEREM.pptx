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5"/>
  </p:notesMasterIdLst>
  <p:sldIdLst>
    <p:sldId id="259" r:id="rId3"/>
    <p:sldId id="307" r:id="rId4"/>
    <p:sldId id="262" r:id="rId5"/>
    <p:sldId id="295" r:id="rId6"/>
    <p:sldId id="264" r:id="rId7"/>
    <p:sldId id="265" r:id="rId8"/>
    <p:sldId id="266" r:id="rId9"/>
    <p:sldId id="267" r:id="rId10"/>
    <p:sldId id="268" r:id="rId11"/>
    <p:sldId id="310" r:id="rId12"/>
    <p:sldId id="296" r:id="rId13"/>
    <p:sldId id="269" r:id="rId14"/>
    <p:sldId id="270" r:id="rId15"/>
    <p:sldId id="304" r:id="rId16"/>
    <p:sldId id="272" r:id="rId17"/>
    <p:sldId id="273" r:id="rId18"/>
    <p:sldId id="274" r:id="rId19"/>
    <p:sldId id="297" r:id="rId20"/>
    <p:sldId id="276" r:id="rId21"/>
    <p:sldId id="282" r:id="rId22"/>
    <p:sldId id="298" r:id="rId23"/>
    <p:sldId id="284" r:id="rId24"/>
    <p:sldId id="299" r:id="rId25"/>
    <p:sldId id="300" r:id="rId26"/>
    <p:sldId id="287" r:id="rId27"/>
    <p:sldId id="285" r:id="rId28"/>
    <p:sldId id="301" r:id="rId29"/>
    <p:sldId id="308" r:id="rId30"/>
    <p:sldId id="309" r:id="rId31"/>
    <p:sldId id="302" r:id="rId32"/>
    <p:sldId id="313" r:id="rId33"/>
    <p:sldId id="314" r:id="rId34"/>
    <p:sldId id="306" r:id="rId35"/>
    <p:sldId id="315" r:id="rId36"/>
    <p:sldId id="277" r:id="rId37"/>
    <p:sldId id="278" r:id="rId38"/>
    <p:sldId id="279" r:id="rId39"/>
    <p:sldId id="280" r:id="rId40"/>
    <p:sldId id="281" r:id="rId41"/>
    <p:sldId id="288" r:id="rId42"/>
    <p:sldId id="289" r:id="rId43"/>
    <p:sldId id="290" r:id="rId44"/>
    <p:sldId id="316" r:id="rId45"/>
    <p:sldId id="294" r:id="rId46"/>
    <p:sldId id="317" r:id="rId47"/>
    <p:sldId id="318" r:id="rId48"/>
    <p:sldId id="303" r:id="rId49"/>
    <p:sldId id="320" r:id="rId50"/>
    <p:sldId id="321" r:id="rId51"/>
    <p:sldId id="271" r:id="rId52"/>
    <p:sldId id="275" r:id="rId53"/>
    <p:sldId id="283" r:id="rId5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B5A"/>
    <a:srgbClr val="6699FF"/>
    <a:srgbClr val="2C3EEA"/>
    <a:srgbClr val="2318FE"/>
    <a:srgbClr val="3399FF"/>
    <a:srgbClr val="3F79D7"/>
    <a:srgbClr val="E4F91B"/>
    <a:srgbClr val="3366FF"/>
    <a:srgbClr val="CBD828"/>
    <a:srgbClr val="A9C8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8400" autoAdjust="0"/>
  </p:normalViewPr>
  <p:slideViewPr>
    <p:cSldViewPr>
      <p:cViewPr>
        <p:scale>
          <a:sx n="80" d="100"/>
          <a:sy n="80" d="100"/>
        </p:scale>
        <p:origin x="-37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79DE2-A02F-448A-A320-3DA251F540B4}" type="datetimeFigureOut">
              <a:rPr lang="fr-FR" smtClean="0"/>
              <a:t>15/09/2016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138A9-E360-4807-95E3-28C6C4E141D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1545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Pour commencer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décrire</a:t>
            </a:r>
            <a:r>
              <a:rPr lang="en-US" dirty="0" smtClean="0"/>
              <a:t> très </a:t>
            </a:r>
            <a:r>
              <a:rPr lang="en-US" dirty="0" err="1" smtClean="0"/>
              <a:t>globalement</a:t>
            </a:r>
            <a:r>
              <a:rPr lang="en-US" baseline="0" dirty="0" smtClean="0"/>
              <a:t> le cycle de vie de </a:t>
            </a:r>
            <a:r>
              <a:rPr lang="en-US" baseline="0" dirty="0" err="1" smtClean="0"/>
              <a:t>l’anguille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européenne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Espèce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catadrome</a:t>
            </a:r>
            <a:r>
              <a:rPr lang="en-US" baseline="0" dirty="0" smtClean="0"/>
              <a:t> (reproduction en 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et phase de </a:t>
            </a:r>
            <a:r>
              <a:rPr lang="en-US" baseline="0" dirty="0" err="1" smtClean="0"/>
              <a:t>croissance</a:t>
            </a:r>
            <a:r>
              <a:rPr lang="en-US" baseline="0" dirty="0" smtClean="0"/>
              <a:t> ds les </a:t>
            </a:r>
            <a:r>
              <a:rPr lang="en-US" baseline="0" dirty="0" err="1" smtClean="0"/>
              <a:t>eaux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continentales</a:t>
            </a:r>
            <a:r>
              <a:rPr lang="en-US" baseline="0" dirty="0" smtClean="0"/>
              <a:t>)- </a:t>
            </a:r>
            <a:r>
              <a:rPr lang="en-US" baseline="0" dirty="0" err="1" smtClean="0"/>
              <a:t>Espèce</a:t>
            </a:r>
            <a:r>
              <a:rPr lang="en-US" baseline="0" dirty="0" smtClean="0"/>
              <a:t> distribuée dans </a:t>
            </a:r>
            <a:r>
              <a:rPr lang="en-US" baseline="0" dirty="0" err="1" smtClean="0"/>
              <a:t>toute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l’europe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entière</a:t>
            </a:r>
            <a:r>
              <a:rPr lang="en-US" baseline="0" dirty="0" smtClean="0"/>
              <a:t> et en </a:t>
            </a:r>
            <a:r>
              <a:rPr lang="en-US" baseline="0" dirty="0" err="1" smtClean="0"/>
              <a:t>Affrique</a:t>
            </a:r>
            <a:r>
              <a:rPr lang="en-US" baseline="0" dirty="0" smtClean="0"/>
              <a:t> du Nord. Reproduction en 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des </a:t>
            </a:r>
            <a:r>
              <a:rPr lang="en-US" baseline="0" dirty="0" err="1" smtClean="0"/>
              <a:t>sargasses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Larves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leptocéphales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dérivées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passivement</a:t>
            </a:r>
            <a:r>
              <a:rPr lang="en-US" baseline="0" dirty="0" smtClean="0"/>
              <a:t> grâce au GS qui </a:t>
            </a:r>
            <a:r>
              <a:rPr lang="en-US" baseline="0" dirty="0" err="1" smtClean="0"/>
              <a:t>semble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être</a:t>
            </a:r>
            <a:r>
              <a:rPr lang="en-US" baseline="0" dirty="0" smtClean="0"/>
              <a:t> la route </a:t>
            </a:r>
            <a:r>
              <a:rPr lang="en-US" baseline="0" dirty="0" err="1" smtClean="0"/>
              <a:t>migratoire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prépondérante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prise</a:t>
            </a:r>
            <a:r>
              <a:rPr lang="en-US" baseline="0" dirty="0" smtClean="0"/>
              <a:t> par les </a:t>
            </a:r>
            <a:r>
              <a:rPr lang="en-US" baseline="0" dirty="0" err="1" smtClean="0"/>
              <a:t>larves</a:t>
            </a:r>
            <a:r>
              <a:rPr lang="en-US" baseline="0" dirty="0" smtClean="0"/>
              <a:t>. Suite à </a:t>
            </a:r>
            <a:r>
              <a:rPr lang="en-US" baseline="0" dirty="0" err="1" smtClean="0"/>
              <a:t>cette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dérive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dure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probablement</a:t>
            </a:r>
            <a:r>
              <a:rPr lang="en-US" baseline="0" dirty="0" smtClean="0"/>
              <a:t> entre 1 an et 3 ans, les </a:t>
            </a:r>
            <a:r>
              <a:rPr lang="en-US" baseline="0" dirty="0" err="1" smtClean="0"/>
              <a:t>larves</a:t>
            </a:r>
            <a:r>
              <a:rPr lang="en-US" baseline="0" dirty="0" smtClean="0"/>
              <a:t> arrive au niveau du plateau continental et se </a:t>
            </a:r>
            <a:r>
              <a:rPr lang="en-US" baseline="0" dirty="0" err="1" smtClean="0"/>
              <a:t>métamorphose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civelle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vont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colonier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eaux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continentales</a:t>
            </a:r>
            <a:r>
              <a:rPr lang="en-US" baseline="0" dirty="0" smtClean="0"/>
              <a:t>. Phase de </a:t>
            </a:r>
            <a:r>
              <a:rPr lang="en-US" baseline="0" dirty="0" err="1" smtClean="0"/>
              <a:t>croissance</a:t>
            </a:r>
            <a:r>
              <a:rPr lang="en-US" baseline="0" dirty="0" smtClean="0"/>
              <a:t> = </a:t>
            </a:r>
            <a:r>
              <a:rPr lang="en-US" baseline="0" dirty="0" err="1" smtClean="0"/>
              <a:t>stade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jaune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dure</a:t>
            </a:r>
            <a:r>
              <a:rPr lang="en-US" baseline="0" dirty="0" smtClean="0"/>
              <a:t> entre 5-20 ans </a:t>
            </a:r>
            <a:r>
              <a:rPr lang="en-US" baseline="0" dirty="0" err="1" smtClean="0"/>
              <a:t>suivant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</a:t>
            </a:r>
            <a:r>
              <a:rPr lang="en-US" baseline="0" dirty="0" err="1" smtClean="0"/>
              <a:t>ou</a:t>
            </a:r>
            <a:r>
              <a:rPr lang="en-US" baseline="0" dirty="0" smtClean="0"/>
              <a:t> regions </a:t>
            </a:r>
            <a:r>
              <a:rPr lang="en-US" baseline="0" dirty="0" err="1" smtClean="0"/>
              <a:t>d’Europe</a:t>
            </a:r>
            <a:r>
              <a:rPr lang="en-US" baseline="0" dirty="0" smtClean="0"/>
              <a:t>. Puis après </a:t>
            </a:r>
            <a:r>
              <a:rPr lang="en-US" baseline="0" dirty="0" err="1" smtClean="0"/>
              <a:t>cette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période</a:t>
            </a:r>
            <a:r>
              <a:rPr lang="en-US" baseline="0" dirty="0" smtClean="0"/>
              <a:t> , </a:t>
            </a:r>
            <a:r>
              <a:rPr lang="en-US" baseline="0" dirty="0" err="1" smtClean="0"/>
              <a:t>dernière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métamorphose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stade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jaune:anguille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argentée</a:t>
            </a:r>
            <a:r>
              <a:rPr lang="en-US" baseline="0" dirty="0" smtClean="0"/>
              <a:t>, migration </a:t>
            </a:r>
            <a:r>
              <a:rPr lang="en-US" baseline="0" dirty="0" err="1" smtClean="0"/>
              <a:t>transatlantique</a:t>
            </a:r>
            <a:r>
              <a:rPr lang="en-US" baseline="0" dirty="0" smtClean="0"/>
              <a:t>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puis reproduction et mort. 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122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Chute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d’abondance</a:t>
            </a:r>
            <a:r>
              <a:rPr lang="en-US" baseline="0" dirty="0" smtClean="0"/>
              <a:t> depuis fin années 1970, visible à </a:t>
            </a:r>
            <a:r>
              <a:rPr lang="en-US" baseline="0" dirty="0" err="1" smtClean="0"/>
              <a:t>tous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stades</a:t>
            </a:r>
            <a:endParaRPr lang="en-US" baseline="0" dirty="0" smtClean="0"/>
          </a:p>
          <a:p>
            <a:r>
              <a:rPr lang="en-US" baseline="0" dirty="0" smtClean="0"/>
              <a:t>Atteint des niveaux </a:t>
            </a:r>
            <a:r>
              <a:rPr lang="en-US" baseline="0" dirty="0" err="1" smtClean="0"/>
              <a:t>d’abondance</a:t>
            </a:r>
            <a:r>
              <a:rPr lang="en-US" baseline="0" dirty="0" smtClean="0"/>
              <a:t> très bas: 1.2%, 8.4%, 11% en 2015</a:t>
            </a:r>
          </a:p>
          <a:p>
            <a:r>
              <a:rPr lang="en-US" baseline="0" dirty="0" err="1" smtClean="0"/>
              <a:t>Jugé</a:t>
            </a:r>
            <a:r>
              <a:rPr lang="en-US" baseline="0" dirty="0" smtClean="0"/>
              <a:t> en danger critique </a:t>
            </a:r>
            <a:r>
              <a:rPr lang="en-US" baseline="0" dirty="0" err="1" smtClean="0"/>
              <a:t>d’extintion</a:t>
            </a:r>
            <a:r>
              <a:rPr lang="en-US" baseline="0" dirty="0" smtClean="0"/>
              <a:t> depuis 2008</a:t>
            </a:r>
          </a:p>
          <a:p>
            <a:r>
              <a:rPr lang="en-US" baseline="0" dirty="0" smtClean="0"/>
              <a:t>Causes </a:t>
            </a:r>
            <a:r>
              <a:rPr lang="en-US" baseline="0" dirty="0" err="1" smtClean="0"/>
              <a:t>probablement</a:t>
            </a:r>
            <a:r>
              <a:rPr lang="en-US" baseline="0" dirty="0" smtClean="0"/>
              <a:t> multiples : phase continentale et phase océanique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765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Objectifs</a:t>
            </a:r>
            <a:r>
              <a:rPr lang="en-US" dirty="0" smtClean="0"/>
              <a:t> </a:t>
            </a:r>
            <a:r>
              <a:rPr lang="en-US" dirty="0" err="1" smtClean="0"/>
              <a:t>fixés</a:t>
            </a:r>
            <a:r>
              <a:rPr lang="en-US" dirty="0" smtClean="0"/>
              <a:t> par l’Europe suite au </a:t>
            </a:r>
            <a:r>
              <a:rPr lang="en-US" dirty="0" err="1" smtClean="0"/>
              <a:t>déclin</a:t>
            </a:r>
            <a:r>
              <a:rPr lang="en-US" dirty="0" smtClean="0"/>
              <a:t> </a:t>
            </a:r>
            <a:r>
              <a:rPr lang="en-US" dirty="0" err="1" smtClean="0"/>
              <a:t>prononcé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Poursuivis</a:t>
            </a:r>
            <a:r>
              <a:rPr lang="en-US" dirty="0" smtClean="0"/>
              <a:t> à l’échelle des EMU = </a:t>
            </a:r>
            <a:r>
              <a:rPr lang="en-US" dirty="0" err="1" smtClean="0"/>
              <a:t>unité</a:t>
            </a:r>
            <a:r>
              <a:rPr lang="en-US" dirty="0" smtClean="0"/>
              <a:t> </a:t>
            </a:r>
            <a:r>
              <a:rPr lang="en-US" dirty="0" err="1" smtClean="0"/>
              <a:t>homogène</a:t>
            </a:r>
            <a:r>
              <a:rPr lang="en-US" baseline="0" dirty="0" smtClean="0"/>
              <a:t> en terme se sous-pop</a:t>
            </a:r>
            <a:r>
              <a:rPr lang="en-US" dirty="0" smtClean="0"/>
              <a:t>: </a:t>
            </a:r>
            <a:r>
              <a:rPr lang="en-US" dirty="0" err="1" smtClean="0"/>
              <a:t>mise</a:t>
            </a:r>
            <a:r>
              <a:rPr lang="en-US" dirty="0" smtClean="0"/>
              <a:t> en place </a:t>
            </a:r>
            <a:r>
              <a:rPr lang="en-US" dirty="0" err="1" smtClean="0"/>
              <a:t>d’EMP</a:t>
            </a:r>
            <a:r>
              <a:rPr lang="en-US" dirty="0" smtClean="0"/>
              <a:t> par les </a:t>
            </a:r>
            <a:r>
              <a:rPr lang="en-US" dirty="0" err="1" smtClean="0"/>
              <a:t>états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membres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proposent</a:t>
            </a:r>
            <a:r>
              <a:rPr lang="en-US" baseline="0" dirty="0" smtClean="0"/>
              <a:t> des </a:t>
            </a:r>
            <a:r>
              <a:rPr lang="en-US" baseline="0" dirty="0" err="1" smtClean="0"/>
              <a:t>mesures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concrètes</a:t>
            </a:r>
            <a:r>
              <a:rPr lang="en-US" baseline="0" dirty="0" smtClean="0"/>
              <a:t> pour </a:t>
            </a:r>
            <a:r>
              <a:rPr lang="en-US" baseline="0" dirty="0" err="1" smtClean="0"/>
              <a:t>réduire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mortalité</a:t>
            </a:r>
            <a:r>
              <a:rPr lang="en-US" baseline="0" dirty="0" smtClean="0"/>
              <a:t> dans </a:t>
            </a:r>
            <a:r>
              <a:rPr lang="en-US" baseline="0" dirty="0" err="1" smtClean="0"/>
              <a:t>chaque</a:t>
            </a:r>
            <a:r>
              <a:rPr lang="en-US" baseline="0" dirty="0" smtClean="0"/>
              <a:t> EMU</a:t>
            </a:r>
            <a:r>
              <a:rPr lang="en-US" dirty="0" smtClean="0"/>
              <a:t> </a:t>
            </a:r>
            <a:r>
              <a:rPr lang="en-US" dirty="0" err="1" smtClean="0"/>
              <a:t>renouvelés</a:t>
            </a:r>
            <a:r>
              <a:rPr lang="en-US" dirty="0" smtClean="0"/>
              <a:t> </a:t>
            </a:r>
            <a:r>
              <a:rPr lang="en-US" dirty="0" err="1" smtClean="0"/>
              <a:t>régulièrement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tous</a:t>
            </a:r>
            <a:r>
              <a:rPr lang="en-US" baseline="0" dirty="0" smtClean="0"/>
              <a:t> les trois ans ?)</a:t>
            </a:r>
          </a:p>
          <a:p>
            <a:r>
              <a:rPr lang="en-US" baseline="0" dirty="0" smtClean="0"/>
              <a:t>-</a:t>
            </a:r>
            <a:r>
              <a:rPr lang="en-US" baseline="0" dirty="0" err="1" smtClean="0"/>
              <a:t>suivi</a:t>
            </a:r>
            <a:r>
              <a:rPr lang="en-US" baseline="0" dirty="0" smtClean="0"/>
              <a:t> des sous populations en </a:t>
            </a:r>
            <a:r>
              <a:rPr lang="en-US" baseline="0" dirty="0" err="1" smtClean="0"/>
              <a:t>estimant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différents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indicateurs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tous</a:t>
            </a:r>
            <a:r>
              <a:rPr lang="en-US" baseline="0" dirty="0" smtClean="0"/>
              <a:t> les ans: </a:t>
            </a:r>
            <a:r>
              <a:rPr lang="en-US" baseline="0" dirty="0" err="1" smtClean="0"/>
              <a:t>notamment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biomasse</a:t>
            </a:r>
            <a:r>
              <a:rPr lang="en-US" baseline="0" dirty="0" smtClean="0"/>
              <a:t> d’échappement pour la comparer avec </a:t>
            </a:r>
            <a:r>
              <a:rPr lang="en-US" baseline="0" dirty="0" err="1" smtClean="0"/>
              <a:t>l’obj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européen</a:t>
            </a:r>
            <a:r>
              <a:rPr lang="en-US" baseline="0" dirty="0" smtClean="0"/>
              <a:t> et la </a:t>
            </a:r>
            <a:r>
              <a:rPr lang="en-US" baseline="0" dirty="0" err="1" smtClean="0"/>
              <a:t>somme</a:t>
            </a:r>
            <a:r>
              <a:rPr lang="en-US" baseline="0" dirty="0" smtClean="0"/>
              <a:t> des mortalités </a:t>
            </a:r>
            <a:r>
              <a:rPr lang="en-US" baseline="0" dirty="0" err="1" smtClean="0"/>
              <a:t>subient</a:t>
            </a:r>
            <a:r>
              <a:rPr lang="en-US" baseline="0" dirty="0" smtClean="0"/>
              <a:t> par la sous-population en question</a:t>
            </a:r>
          </a:p>
          <a:p>
            <a:r>
              <a:rPr lang="en-US" baseline="0" dirty="0" smtClean="0"/>
              <a:t>-les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européens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sont</a:t>
            </a:r>
            <a:r>
              <a:rPr lang="en-US" baseline="0" dirty="0" smtClean="0"/>
              <a:t> idem pour </a:t>
            </a:r>
            <a:r>
              <a:rPr lang="en-US" baseline="0" dirty="0" err="1" smtClean="0"/>
              <a:t>toutes</a:t>
            </a:r>
            <a:r>
              <a:rPr lang="en-US" baseline="0" dirty="0" smtClean="0"/>
              <a:t> EMU</a:t>
            </a:r>
          </a:p>
          <a:p>
            <a:r>
              <a:rPr lang="en-US" baseline="0" dirty="0" smtClean="0"/>
              <a:t>-une </a:t>
            </a:r>
            <a:r>
              <a:rPr lang="en-US" baseline="0" dirty="0" err="1" smtClean="0"/>
              <a:t>gestion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principalement</a:t>
            </a:r>
            <a:r>
              <a:rPr lang="en-US" baseline="0" dirty="0" smtClean="0"/>
              <a:t> locale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573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On </a:t>
            </a:r>
            <a:r>
              <a:rPr lang="en-US" dirty="0" err="1" smtClean="0"/>
              <a:t>vient</a:t>
            </a:r>
            <a:r>
              <a:rPr lang="en-US" dirty="0" smtClean="0"/>
              <a:t> de </a:t>
            </a:r>
            <a:r>
              <a:rPr lang="en-US" dirty="0" err="1" smtClean="0"/>
              <a:t>voir</a:t>
            </a:r>
            <a:r>
              <a:rPr lang="en-US" dirty="0" smtClean="0"/>
              <a:t> </a:t>
            </a:r>
            <a:r>
              <a:rPr lang="en-US" dirty="0" err="1" smtClean="0"/>
              <a:t>qu’on</a:t>
            </a:r>
            <a:r>
              <a:rPr lang="en-US" dirty="0" smtClean="0"/>
              <a:t> applique</a:t>
            </a:r>
            <a:r>
              <a:rPr lang="en-US" baseline="0" dirty="0" smtClean="0"/>
              <a:t> une </a:t>
            </a:r>
            <a:r>
              <a:rPr lang="en-US" baseline="0" dirty="0" err="1" smtClean="0"/>
              <a:t>gestion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qu’on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évalue</a:t>
            </a:r>
            <a:r>
              <a:rPr lang="en-US" baseline="0" dirty="0" smtClean="0"/>
              <a:t> les sous- populations à une échelle locale (EMU)-Or on a une population qui </a:t>
            </a:r>
            <a:r>
              <a:rPr lang="en-US" baseline="0" dirty="0" err="1" smtClean="0"/>
              <a:t>est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panmictique</a:t>
            </a:r>
            <a:r>
              <a:rPr lang="en-US" baseline="0" dirty="0" smtClean="0"/>
              <a:t> : </a:t>
            </a:r>
            <a:r>
              <a:rPr lang="en-US" baseline="0" dirty="0" err="1" smtClean="0"/>
              <a:t>peu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importe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d’ou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s’échapent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anguilles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argentéses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elles</a:t>
            </a:r>
            <a:r>
              <a:rPr lang="en-US" baseline="0" dirty="0" smtClean="0"/>
              <a:t> se </a:t>
            </a:r>
            <a:r>
              <a:rPr lang="en-US" baseline="0" dirty="0" err="1" smtClean="0"/>
              <a:t>retrouvent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toutes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des </a:t>
            </a:r>
            <a:r>
              <a:rPr lang="en-US" baseline="0" dirty="0" err="1" smtClean="0"/>
              <a:t>sargasses</a:t>
            </a:r>
            <a:r>
              <a:rPr lang="en-US" baseline="0" dirty="0" smtClean="0"/>
              <a:t> pour se </a:t>
            </a:r>
            <a:r>
              <a:rPr lang="en-US" baseline="0" dirty="0" err="1" smtClean="0"/>
              <a:t>reproduire</a:t>
            </a:r>
            <a:r>
              <a:rPr lang="en-US" baseline="0" dirty="0" smtClean="0"/>
              <a:t> de </a:t>
            </a:r>
            <a:r>
              <a:rPr lang="en-US" baseline="0" dirty="0" err="1" smtClean="0"/>
              <a:t>facon</a:t>
            </a:r>
            <a:r>
              <a:rPr lang="en-US" baseline="0" dirty="0" smtClean="0"/>
              <a:t> aléatoire. </a:t>
            </a:r>
            <a:r>
              <a:rPr lang="en-US" baseline="0" dirty="0" err="1" smtClean="0"/>
              <a:t>Ensuite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larves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leptocéphales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dérivent</a:t>
            </a:r>
            <a:r>
              <a:rPr lang="en-US" baseline="0" dirty="0" smtClean="0"/>
              <a:t> de </a:t>
            </a:r>
            <a:r>
              <a:rPr lang="en-US" baseline="0" dirty="0" err="1" smtClean="0"/>
              <a:t>façon</a:t>
            </a:r>
            <a:r>
              <a:rPr lang="en-US" baseline="0" dirty="0" smtClean="0"/>
              <a:t> aléatoire </a:t>
            </a:r>
            <a:r>
              <a:rPr lang="en-US" baseline="0" dirty="0" err="1" smtClean="0"/>
              <a:t>vers</a:t>
            </a:r>
            <a:r>
              <a:rPr lang="en-US" baseline="0" dirty="0" smtClean="0"/>
              <a:t> le continent: </a:t>
            </a:r>
            <a:r>
              <a:rPr lang="en-US" baseline="0" dirty="0" err="1" smtClean="0"/>
              <a:t>ce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critère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consiste</a:t>
            </a:r>
            <a:r>
              <a:rPr lang="en-US" baseline="0" dirty="0" smtClean="0"/>
              <a:t> à dire </a:t>
            </a:r>
            <a:r>
              <a:rPr lang="en-US" baseline="0" dirty="0" err="1" smtClean="0"/>
              <a:t>qu’il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faut</a:t>
            </a:r>
            <a:r>
              <a:rPr lang="en-US" baseline="0" dirty="0" smtClean="0"/>
              <a:t> évaluer la population </a:t>
            </a:r>
            <a:r>
              <a:rPr lang="en-US" baseline="0" dirty="0" err="1" smtClean="0"/>
              <a:t>entière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parce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qu’on</a:t>
            </a:r>
            <a:r>
              <a:rPr lang="en-US" baseline="0" dirty="0" smtClean="0"/>
              <a:t> a affaire à une population </a:t>
            </a:r>
            <a:r>
              <a:rPr lang="en-US" baseline="0" dirty="0" err="1" smtClean="0"/>
              <a:t>panmictique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c’est</a:t>
            </a:r>
            <a:r>
              <a:rPr lang="en-US" baseline="0" dirty="0" smtClean="0"/>
              <a:t> que </a:t>
            </a:r>
            <a:r>
              <a:rPr lang="en-US" baseline="0" dirty="0" err="1" smtClean="0"/>
              <a:t>l’échappement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argentée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une </a:t>
            </a:r>
            <a:r>
              <a:rPr lang="en-US" baseline="0" dirty="0" err="1" smtClean="0"/>
              <a:t>année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donnée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n’est</a:t>
            </a:r>
            <a:r>
              <a:rPr lang="en-US" baseline="0" dirty="0" smtClean="0"/>
              <a:t> pas </a:t>
            </a:r>
            <a:r>
              <a:rPr lang="en-US" baseline="0" dirty="0" err="1" smtClean="0"/>
              <a:t>forcément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proportionnel</a:t>
            </a:r>
            <a:r>
              <a:rPr lang="en-US" baseline="0" dirty="0" smtClean="0"/>
              <a:t> au recrutement </a:t>
            </a:r>
            <a:r>
              <a:rPr lang="en-US" baseline="0" dirty="0" err="1" smtClean="0"/>
              <a:t>ultérieur</a:t>
            </a:r>
            <a:r>
              <a:rPr lang="en-US" baseline="0" dirty="0" smtClean="0"/>
              <a:t> dans le </a:t>
            </a:r>
            <a:r>
              <a:rPr lang="en-US" baseline="0" dirty="0" err="1" smtClean="0"/>
              <a:t>même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mais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dépend</a:t>
            </a:r>
            <a:r>
              <a:rPr lang="en-US" baseline="0" dirty="0" smtClean="0"/>
              <a:t> de l’état de la population </a:t>
            </a:r>
            <a:r>
              <a:rPr lang="en-US" baseline="0" dirty="0" err="1" smtClean="0"/>
              <a:t>entière</a:t>
            </a:r>
            <a:r>
              <a:rPr lang="en-US" baseline="0" dirty="0" smtClean="0"/>
              <a:t>. </a:t>
            </a:r>
          </a:p>
          <a:p>
            <a:r>
              <a:rPr lang="en-US" baseline="0" dirty="0" smtClean="0"/>
              <a:t>Dans </a:t>
            </a:r>
            <a:r>
              <a:rPr lang="en-US" baseline="0" dirty="0" err="1" smtClean="0"/>
              <a:t>l’idéal</a:t>
            </a:r>
            <a:r>
              <a:rPr lang="en-US" baseline="0" dirty="0" smtClean="0"/>
              <a:t> évaluer </a:t>
            </a:r>
            <a:r>
              <a:rPr lang="en-US" baseline="0" dirty="0" err="1" smtClean="0"/>
              <a:t>l’anguille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européenne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comme</a:t>
            </a:r>
            <a:r>
              <a:rPr lang="en-US" baseline="0" dirty="0" smtClean="0"/>
              <a:t> une </a:t>
            </a:r>
            <a:r>
              <a:rPr lang="en-US" baseline="0" dirty="0" err="1" smtClean="0"/>
              <a:t>seule</a:t>
            </a:r>
            <a:r>
              <a:rPr lang="en-US" baseline="0" dirty="0" smtClean="0"/>
              <a:t> pop à l’échelle de son aire de répartition et pas évaluer des sous-pop de </a:t>
            </a:r>
            <a:r>
              <a:rPr lang="en-US" baseline="0" dirty="0" err="1" smtClean="0"/>
              <a:t>façon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indépendantes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comme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cela</a:t>
            </a:r>
            <a:r>
              <a:rPr lang="en-US" baseline="0" dirty="0" smtClean="0"/>
              <a:t> se fait </a:t>
            </a:r>
            <a:r>
              <a:rPr lang="en-US" baseline="0" dirty="0" err="1" smtClean="0"/>
              <a:t>toujours</a:t>
            </a:r>
            <a:r>
              <a:rPr lang="en-US" baseline="0" dirty="0" smtClean="0"/>
              <a:t>. </a:t>
            </a:r>
          </a:p>
          <a:p>
            <a:r>
              <a:rPr lang="en-US" baseline="0" dirty="0" err="1" smtClean="0"/>
              <a:t>Mais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compliqué</a:t>
            </a:r>
            <a:r>
              <a:rPr lang="en-US" baseline="0" dirty="0" smtClean="0"/>
              <a:t> par la dimension fractale : une </a:t>
            </a:r>
            <a:r>
              <a:rPr lang="en-US" baseline="0" dirty="0" err="1" smtClean="0"/>
              <a:t>fois</a:t>
            </a:r>
            <a:r>
              <a:rPr lang="en-US" baseline="0" dirty="0" smtClean="0"/>
              <a:t> que les civelles </a:t>
            </a:r>
            <a:r>
              <a:rPr lang="en-US" baseline="0" dirty="0" err="1" smtClean="0"/>
              <a:t>colonisent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milieux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contientaux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subissent</a:t>
            </a:r>
            <a:r>
              <a:rPr lang="en-US" baseline="0" dirty="0" smtClean="0"/>
              <a:t> des conditions très différentes d’une </a:t>
            </a:r>
            <a:r>
              <a:rPr lang="en-US" baseline="0" dirty="0" err="1" smtClean="0"/>
              <a:t>région</a:t>
            </a:r>
            <a:r>
              <a:rPr lang="en-US" baseline="0" dirty="0" smtClean="0"/>
              <a:t> à </a:t>
            </a:r>
            <a:r>
              <a:rPr lang="en-US" baseline="0" dirty="0" err="1" smtClean="0"/>
              <a:t>l’autre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parfois</a:t>
            </a:r>
            <a:r>
              <a:rPr lang="en-US" baseline="0" dirty="0" smtClean="0"/>
              <a:t> d’un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à </a:t>
            </a:r>
            <a:r>
              <a:rPr lang="en-US" baseline="0" dirty="0" err="1" smtClean="0"/>
              <a:t>l’autre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termes</a:t>
            </a:r>
            <a:r>
              <a:rPr lang="en-US" baseline="0" dirty="0" smtClean="0"/>
              <a:t> de P </a:t>
            </a:r>
            <a:r>
              <a:rPr lang="en-US" baseline="0" dirty="0" err="1" smtClean="0"/>
              <a:t>anthropiques</a:t>
            </a:r>
            <a:r>
              <a:rPr lang="en-US" baseline="0" dirty="0" smtClean="0"/>
              <a:t> et de traits </a:t>
            </a:r>
            <a:r>
              <a:rPr lang="en-US" baseline="0" dirty="0" err="1" smtClean="0"/>
              <a:t>d’histoire</a:t>
            </a:r>
            <a:r>
              <a:rPr lang="en-US" baseline="0" dirty="0" smtClean="0"/>
              <a:t> de vie. Phase continentale qui </a:t>
            </a:r>
            <a:r>
              <a:rPr lang="en-US" baseline="0" dirty="0" err="1" smtClean="0"/>
              <a:t>est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mesurable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5026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Échappement</a:t>
            </a:r>
            <a:r>
              <a:rPr lang="en-US" dirty="0" smtClean="0"/>
              <a:t> et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anguille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argentée</a:t>
            </a:r>
            <a:r>
              <a:rPr lang="en-US" baseline="0" dirty="0" smtClean="0"/>
              <a:t>: que à </a:t>
            </a:r>
            <a:r>
              <a:rPr lang="en-US" baseline="0" dirty="0" err="1" smtClean="0"/>
              <a:t>l’echelle</a:t>
            </a:r>
            <a:r>
              <a:rPr lang="en-US" baseline="0" dirty="0" smtClean="0"/>
              <a:t> des EMU /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Recrutement: des </a:t>
            </a:r>
            <a:r>
              <a:rPr lang="en-US" baseline="0" dirty="0" err="1" smtClean="0"/>
              <a:t>modèles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existent à </a:t>
            </a:r>
            <a:r>
              <a:rPr lang="en-US" baseline="0" dirty="0" err="1" smtClean="0"/>
              <a:t>l’echelle</a:t>
            </a:r>
            <a:r>
              <a:rPr lang="en-US" baseline="0" dirty="0" smtClean="0"/>
              <a:t> des </a:t>
            </a:r>
            <a:r>
              <a:rPr lang="en-US" baseline="0" dirty="0" err="1" smtClean="0"/>
              <a:t>bv</a:t>
            </a:r>
            <a:endParaRPr lang="en-US" baseline="0" dirty="0" smtClean="0"/>
          </a:p>
          <a:p>
            <a:r>
              <a:rPr lang="en-US" baseline="0" dirty="0" err="1" smtClean="0"/>
              <a:t>Mais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quasiment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rien</a:t>
            </a:r>
            <a:r>
              <a:rPr lang="en-US" baseline="0" dirty="0" smtClean="0"/>
              <a:t> à l’échelle de </a:t>
            </a:r>
            <a:r>
              <a:rPr lang="en-US" baseline="0" dirty="0" err="1" smtClean="0"/>
              <a:t>l’aire</a:t>
            </a:r>
            <a:r>
              <a:rPr lang="en-US" baseline="0" dirty="0" smtClean="0"/>
              <a:t> de distribution de </a:t>
            </a:r>
            <a:r>
              <a:rPr lang="en-US" baseline="0" dirty="0" err="1" smtClean="0"/>
              <a:t>l’anguille</a:t>
            </a:r>
            <a:r>
              <a:rPr lang="en-US" baseline="0" dirty="0" smtClean="0"/>
              <a:t> Européenne: GLM </a:t>
            </a:r>
            <a:r>
              <a:rPr lang="en-US" baseline="0" dirty="0" err="1" smtClean="0"/>
              <a:t>mis</a:t>
            </a:r>
            <a:r>
              <a:rPr lang="en-US" baseline="0" dirty="0" smtClean="0"/>
              <a:t> en place par le CIEM ne </a:t>
            </a:r>
            <a:r>
              <a:rPr lang="en-US" baseline="0" dirty="0" err="1" smtClean="0"/>
              <a:t>prend</a:t>
            </a:r>
            <a:r>
              <a:rPr lang="en-US" baseline="0" dirty="0" smtClean="0"/>
              <a:t> pas en compte la dimension fractale du recrutement </a:t>
            </a:r>
            <a:r>
              <a:rPr lang="en-US" baseline="0" dirty="0" err="1" smtClean="0"/>
              <a:t>puisqu’on</a:t>
            </a:r>
            <a:r>
              <a:rPr lang="en-US" baseline="0" dirty="0" smtClean="0"/>
              <a:t> a deux indices avec deux tendances différentes (North Sea vs.  Elsewhere Europe). Modèle de Dekker repose sur des hypothèses </a:t>
            </a:r>
            <a:r>
              <a:rPr lang="en-US" baseline="0" dirty="0" err="1" smtClean="0"/>
              <a:t>incorrectes</a:t>
            </a:r>
            <a:r>
              <a:rPr lang="en-US" baseline="0" dirty="0" smtClean="0"/>
              <a:t> très fortes.</a:t>
            </a:r>
          </a:p>
          <a:p>
            <a:r>
              <a:rPr lang="en-US" baseline="0" dirty="0" err="1" smtClean="0"/>
              <a:t>L’objectif</a:t>
            </a:r>
            <a:r>
              <a:rPr lang="en-US" baseline="0" dirty="0" smtClean="0"/>
              <a:t> du stage = </a:t>
            </a:r>
            <a:r>
              <a:rPr lang="en-US" baseline="0" dirty="0" err="1" smtClean="0"/>
              <a:t>mise</a:t>
            </a:r>
            <a:r>
              <a:rPr lang="en-US" baseline="0" dirty="0" smtClean="0"/>
              <a:t> en place d’un modèle à large échelle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91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…..</a:t>
            </a:r>
          </a:p>
          <a:p>
            <a:r>
              <a:rPr lang="en-US" dirty="0" smtClean="0"/>
              <a:t>Nous </a:t>
            </a:r>
            <a:r>
              <a:rPr lang="en-US" dirty="0" err="1" smtClean="0"/>
              <a:t>semblait</a:t>
            </a:r>
            <a:r>
              <a:rPr lang="en-US" dirty="0" smtClean="0"/>
              <a:t> </a:t>
            </a:r>
            <a:r>
              <a:rPr lang="en-US" dirty="0" err="1" smtClean="0"/>
              <a:t>intéressatn</a:t>
            </a:r>
            <a:r>
              <a:rPr lang="en-US" dirty="0" smtClean="0"/>
              <a:t> </a:t>
            </a:r>
            <a:r>
              <a:rPr lang="en-US" dirty="0" err="1" smtClean="0"/>
              <a:t>d’utiliser</a:t>
            </a:r>
            <a:r>
              <a:rPr lang="en-US" dirty="0" smtClean="0"/>
              <a:t> les estimations</a:t>
            </a:r>
            <a:r>
              <a:rPr lang="en-US" baseline="0" dirty="0" smtClean="0"/>
              <a:t> de recrutement </a:t>
            </a:r>
            <a:r>
              <a:rPr lang="en-US" baseline="0" dirty="0" err="1" smtClean="0"/>
              <a:t>provenenant</a:t>
            </a:r>
            <a:r>
              <a:rPr lang="en-US" baseline="0" dirty="0" smtClean="0"/>
              <a:t> des sorties du modèle pour </a:t>
            </a:r>
            <a:r>
              <a:rPr lang="en-US" baseline="0" dirty="0" err="1" smtClean="0"/>
              <a:t>réaliser</a:t>
            </a:r>
            <a:r>
              <a:rPr lang="en-US" baseline="0" dirty="0" smtClean="0"/>
              <a:t> des analyses de corrélation entre le recrutement au niveau de </a:t>
            </a:r>
            <a:r>
              <a:rPr lang="en-US" baseline="0" dirty="0" err="1" smtClean="0"/>
              <a:t>grandes</a:t>
            </a:r>
            <a:r>
              <a:rPr lang="en-US" baseline="0" dirty="0" smtClean="0"/>
              <a:t> régions européennes et des indices environnementaux </a:t>
            </a:r>
            <a:r>
              <a:rPr lang="en-US" baseline="0" dirty="0" err="1" smtClean="0"/>
              <a:t>susceptibles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d’affetcer</a:t>
            </a:r>
            <a:r>
              <a:rPr lang="en-US" baseline="0" dirty="0" smtClean="0"/>
              <a:t> la phase </a:t>
            </a:r>
            <a:r>
              <a:rPr lang="en-US" baseline="0" dirty="0" err="1" smtClean="0"/>
              <a:t>océanqiue</a:t>
            </a:r>
            <a:r>
              <a:rPr lang="en-US" baseline="0" dirty="0" smtClean="0"/>
              <a:t> de </a:t>
            </a:r>
            <a:r>
              <a:rPr lang="en-US" baseline="0" dirty="0" err="1" smtClean="0"/>
              <a:t>l’anguille</a:t>
            </a:r>
            <a:r>
              <a:rPr lang="en-US" baseline="0" dirty="0" smtClean="0"/>
              <a:t>.</a:t>
            </a:r>
          </a:p>
          <a:p>
            <a:r>
              <a:rPr lang="en-US" baseline="0" dirty="0" smtClean="0"/>
              <a:t>But: </a:t>
            </a:r>
            <a:r>
              <a:rPr lang="en-US" baseline="0" dirty="0" err="1" smtClean="0"/>
              <a:t>inférer</a:t>
            </a:r>
            <a:r>
              <a:rPr lang="en-US" baseline="0" dirty="0" smtClean="0"/>
              <a:t> derrière des </a:t>
            </a:r>
            <a:r>
              <a:rPr lang="en-US" baseline="0" dirty="0" err="1" smtClean="0"/>
              <a:t>hypothèse</a:t>
            </a:r>
            <a:r>
              <a:rPr lang="en-US" baseline="0" dirty="0" smtClean="0"/>
              <a:t> sur le temps de migration, et puis sur des causes </a:t>
            </a:r>
            <a:r>
              <a:rPr lang="en-US" baseline="0" dirty="0" err="1" smtClean="0"/>
              <a:t>potentielles</a:t>
            </a:r>
            <a:r>
              <a:rPr lang="en-US" baseline="0" dirty="0" smtClean="0"/>
              <a:t> du </a:t>
            </a:r>
            <a:r>
              <a:rPr lang="en-US" baseline="0" dirty="0" err="1" smtClean="0"/>
              <a:t>déclin</a:t>
            </a:r>
            <a:r>
              <a:rPr lang="en-US" baseline="0" dirty="0" smtClean="0"/>
              <a:t> et des différentes tendances observables à </a:t>
            </a:r>
            <a:r>
              <a:rPr lang="en-US" baseline="0" dirty="0" err="1" smtClean="0"/>
              <a:t>l”’échelle</a:t>
            </a:r>
            <a:r>
              <a:rPr lang="en-US" baseline="0" dirty="0" smtClean="0"/>
              <a:t> de l’Europe.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9093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90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Dimension fractale surtout </a:t>
            </a:r>
            <a:r>
              <a:rPr lang="en-US" dirty="0" err="1" smtClean="0"/>
              <a:t>présente</a:t>
            </a:r>
            <a:r>
              <a:rPr lang="en-US" dirty="0" smtClean="0"/>
              <a:t> pendant la phase </a:t>
            </a:r>
            <a:r>
              <a:rPr lang="en-US" dirty="0" err="1" smtClean="0"/>
              <a:t>continentale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finalement</a:t>
            </a:r>
            <a:r>
              <a:rPr lang="en-US" dirty="0" smtClean="0"/>
              <a:t> déjà visible </a:t>
            </a:r>
            <a:r>
              <a:rPr lang="en-US" dirty="0" err="1" smtClean="0"/>
              <a:t>durant</a:t>
            </a:r>
            <a:r>
              <a:rPr lang="en-US" baseline="0" dirty="0" smtClean="0"/>
              <a:t> phase de recrutement (</a:t>
            </a:r>
            <a:r>
              <a:rPr lang="en-US" baseline="0" dirty="0" err="1" smtClean="0"/>
              <a:t>cf</a:t>
            </a:r>
            <a:r>
              <a:rPr lang="en-US" baseline="0" dirty="0" smtClean="0"/>
              <a:t> deux indices de recrutement </a:t>
            </a:r>
            <a:r>
              <a:rPr lang="en-US" baseline="0" dirty="0" err="1" smtClean="0"/>
              <a:t>différents</a:t>
            </a:r>
            <a:r>
              <a:rPr lang="en-US" baseline="0" dirty="0" smtClean="0"/>
              <a:t> entre 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du Nord ) </a:t>
            </a:r>
            <a:r>
              <a:rPr lang="en-US" baseline="0" dirty="0" err="1" smtClean="0"/>
              <a:t>qu’on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peut</a:t>
            </a:r>
            <a:r>
              <a:rPr lang="en-US" baseline="0" dirty="0" smtClean="0"/>
              <a:t> plus </a:t>
            </a:r>
            <a:r>
              <a:rPr lang="en-US" baseline="0" dirty="0" err="1" smtClean="0"/>
              <a:t>facilement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modéliser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Donc</a:t>
            </a:r>
            <a:r>
              <a:rPr lang="en-US" baseline="0" dirty="0" smtClean="0"/>
              <a:t> on part d’un recrutement global qui suit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marche</a:t>
            </a:r>
            <a:r>
              <a:rPr lang="en-US" baseline="0" dirty="0" smtClean="0"/>
              <a:t> aléatoire puis on </a:t>
            </a:r>
            <a:r>
              <a:rPr lang="en-US" baseline="0" dirty="0" err="1" smtClean="0"/>
              <a:t>dispatche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ce</a:t>
            </a:r>
            <a:r>
              <a:rPr lang="en-US" baseline="0" dirty="0" smtClean="0"/>
              <a:t> recrutement global entre différentes zones grâce à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multinomiale</a:t>
            </a:r>
            <a:r>
              <a:rPr lang="en-US" baseline="0" dirty="0" smtClean="0"/>
              <a:t>. Première échelle de </a:t>
            </a:r>
            <a:r>
              <a:rPr lang="en-US" baseline="0" dirty="0" err="1" smtClean="0"/>
              <a:t>ségrégation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763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Et </a:t>
            </a:r>
            <a:r>
              <a:rPr lang="en-US" dirty="0" err="1" smtClean="0"/>
              <a:t>enfin</a:t>
            </a:r>
            <a:r>
              <a:rPr lang="en-US" dirty="0" smtClean="0"/>
              <a:t> le dernier niveau: à</a:t>
            </a:r>
            <a:r>
              <a:rPr lang="en-US" baseline="0" dirty="0" smtClean="0"/>
              <a:t> l’échelle </a:t>
            </a:r>
            <a:r>
              <a:rPr lang="en-US" baseline="0" dirty="0" err="1" smtClean="0"/>
              <a:t>d’une</a:t>
            </a:r>
            <a:r>
              <a:rPr lang="en-US" baseline="0" dirty="0" smtClean="0"/>
              <a:t> zone répartition des </a:t>
            </a:r>
            <a:r>
              <a:rPr lang="en-US" baseline="0" dirty="0" err="1" smtClean="0"/>
              <a:t>larves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entres</a:t>
            </a:r>
            <a:r>
              <a:rPr lang="en-US" baseline="0" dirty="0" smtClean="0"/>
              <a:t> les </a:t>
            </a:r>
            <a:r>
              <a:rPr lang="en-US" baseline="0" dirty="0" err="1" smtClean="0"/>
              <a:t>différents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suivant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multinomiale</a:t>
            </a:r>
            <a:r>
              <a:rPr lang="en-US" baseline="0" dirty="0" smtClean="0"/>
              <a:t>. Proportion dans </a:t>
            </a:r>
            <a:r>
              <a:rPr lang="en-US" baseline="0" dirty="0" err="1" smtClean="0"/>
              <a:t>chaque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dépend</a:t>
            </a:r>
            <a:r>
              <a:rPr lang="en-US" baseline="0" dirty="0" smtClean="0"/>
              <a:t> d’un </a:t>
            </a:r>
            <a:r>
              <a:rPr lang="en-US" baseline="0" dirty="0" err="1" smtClean="0"/>
              <a:t>poids</a:t>
            </a:r>
            <a:r>
              <a:rPr lang="en-US" baseline="0" dirty="0" smtClean="0"/>
              <a:t> W qui </a:t>
            </a:r>
            <a:r>
              <a:rPr lang="en-US" baseline="0" dirty="0" err="1" smtClean="0"/>
              <a:t>dépend</a:t>
            </a:r>
            <a:r>
              <a:rPr lang="en-US" baseline="0" dirty="0" smtClean="0"/>
              <a:t> de la surface du </a:t>
            </a:r>
            <a:r>
              <a:rPr lang="en-US" baseline="0" dirty="0" err="1" smtClean="0"/>
              <a:t>bv</a:t>
            </a:r>
            <a:r>
              <a:rPr lang="en-US" baseline="0" dirty="0" smtClean="0"/>
              <a:t> </a:t>
            </a:r>
            <a:r>
              <a:rPr lang="en-US" baseline="0" dirty="0" err="1" smtClean="0"/>
              <a:t>élevé</a:t>
            </a:r>
            <a:r>
              <a:rPr lang="en-US" baseline="0" dirty="0" smtClean="0"/>
              <a:t> à un </a:t>
            </a:r>
            <a:r>
              <a:rPr lang="en-US" baseline="0" dirty="0" err="1" smtClean="0"/>
              <a:t>facteur</a:t>
            </a:r>
            <a:r>
              <a:rPr lang="en-US" baseline="0" dirty="0" smtClean="0"/>
              <a:t> beta.</a:t>
            </a:r>
          </a:p>
          <a:p>
            <a:r>
              <a:rPr lang="en-US" baseline="0" dirty="0" smtClean="0"/>
              <a:t>Si </a:t>
            </a:r>
            <a:r>
              <a:rPr lang="en-US" baseline="0" dirty="0" err="1" smtClean="0"/>
              <a:t>ce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facteur</a:t>
            </a:r>
            <a:r>
              <a:rPr lang="en-US" baseline="0" dirty="0" smtClean="0"/>
              <a:t> beta =1 : </a:t>
            </a:r>
            <a:r>
              <a:rPr lang="en-US" baseline="0" dirty="0" err="1" smtClean="0"/>
              <a:t>proportionnel</a:t>
            </a:r>
            <a:r>
              <a:rPr lang="en-US" baseline="0" dirty="0" smtClean="0"/>
              <a:t> à l’habitat disponible </a:t>
            </a:r>
            <a:r>
              <a:rPr lang="en-US" baseline="0" dirty="0" err="1" smtClean="0"/>
              <a:t>si</a:t>
            </a:r>
            <a:r>
              <a:rPr lang="en-US" baseline="0" dirty="0" smtClean="0"/>
              <a:t> &lt;1 influence du </a:t>
            </a:r>
            <a:r>
              <a:rPr lang="en-US" baseline="0" dirty="0" err="1" smtClean="0"/>
              <a:t>débit</a:t>
            </a:r>
            <a:r>
              <a:rPr lang="en-US" baseline="0" dirty="0" smtClean="0"/>
              <a:t> et &gt; 1 improbable</a:t>
            </a:r>
          </a:p>
          <a:p>
            <a:r>
              <a:rPr lang="en-US" baseline="0" dirty="0" smtClean="0"/>
              <a:t>Deux hypothèses + 1 condition</a:t>
            </a:r>
          </a:p>
          <a:p>
            <a:r>
              <a:rPr lang="en-US" baseline="0" dirty="0" err="1" smtClean="0"/>
              <a:t>Règle</a:t>
            </a:r>
            <a:r>
              <a:rPr lang="en-US" baseline="0" dirty="0" smtClean="0"/>
              <a:t> de trois pour </a:t>
            </a:r>
            <a:r>
              <a:rPr lang="en-US" baseline="0" dirty="0" err="1" smtClean="0"/>
              <a:t>extrapoler</a:t>
            </a:r>
            <a:r>
              <a:rPr lang="en-US" baseline="0" dirty="0" smtClean="0"/>
              <a:t> à </a:t>
            </a:r>
            <a:r>
              <a:rPr lang="en-US" baseline="0" dirty="0" err="1" smtClean="0"/>
              <a:t>l’échelle</a:t>
            </a:r>
            <a:r>
              <a:rPr lang="en-US" baseline="0" dirty="0" smtClean="0"/>
              <a:t> de la zone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70155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7267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0130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0130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909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Dimension fractale surtout </a:t>
            </a:r>
            <a:r>
              <a:rPr lang="en-US" dirty="0" err="1" smtClean="0"/>
              <a:t>présente</a:t>
            </a:r>
            <a:r>
              <a:rPr lang="en-US" dirty="0" smtClean="0"/>
              <a:t> pendant la phase </a:t>
            </a:r>
            <a:r>
              <a:rPr lang="en-US" dirty="0" err="1" smtClean="0"/>
              <a:t>continentale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finalement</a:t>
            </a:r>
            <a:r>
              <a:rPr lang="en-US" dirty="0" smtClean="0"/>
              <a:t> déjà visible </a:t>
            </a:r>
            <a:r>
              <a:rPr lang="en-US" dirty="0" err="1" smtClean="0"/>
              <a:t>durant</a:t>
            </a:r>
            <a:r>
              <a:rPr lang="en-US" baseline="0" dirty="0" smtClean="0"/>
              <a:t> phase de recrutement (</a:t>
            </a:r>
            <a:r>
              <a:rPr lang="en-US" baseline="0" dirty="0" err="1" smtClean="0"/>
              <a:t>cf</a:t>
            </a:r>
            <a:r>
              <a:rPr lang="en-US" baseline="0" dirty="0" smtClean="0"/>
              <a:t> deux indices de recrutement </a:t>
            </a:r>
            <a:r>
              <a:rPr lang="en-US" baseline="0" dirty="0" err="1" smtClean="0"/>
              <a:t>différents</a:t>
            </a:r>
            <a:r>
              <a:rPr lang="en-US" baseline="0" dirty="0" smtClean="0"/>
              <a:t> entre 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du Nord ) </a:t>
            </a:r>
            <a:r>
              <a:rPr lang="en-US" baseline="0" dirty="0" err="1" smtClean="0"/>
              <a:t>qu’on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peut</a:t>
            </a:r>
            <a:r>
              <a:rPr lang="en-US" baseline="0" dirty="0" smtClean="0"/>
              <a:t> plus </a:t>
            </a:r>
            <a:r>
              <a:rPr lang="en-US" baseline="0" dirty="0" err="1" smtClean="0"/>
              <a:t>facilement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modéliser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Donc</a:t>
            </a:r>
            <a:r>
              <a:rPr lang="en-US" baseline="0" dirty="0" smtClean="0"/>
              <a:t> on part d’un recrutement global qui suit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marche</a:t>
            </a:r>
            <a:r>
              <a:rPr lang="en-US" baseline="0" dirty="0" smtClean="0"/>
              <a:t> aléatoire puis on </a:t>
            </a:r>
            <a:r>
              <a:rPr lang="en-US" baseline="0" dirty="0" err="1" smtClean="0"/>
              <a:t>dispatche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ce</a:t>
            </a:r>
            <a:r>
              <a:rPr lang="en-US" baseline="0" dirty="0" smtClean="0"/>
              <a:t> recrutement global entre différentes zones grâce à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multinomiale</a:t>
            </a:r>
            <a:r>
              <a:rPr lang="en-US" baseline="0" dirty="0" smtClean="0"/>
              <a:t>. Première échelle de </a:t>
            </a:r>
            <a:r>
              <a:rPr lang="en-US" baseline="0" dirty="0" err="1" smtClean="0"/>
              <a:t>ségrégation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763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Dimension fractale surtout </a:t>
            </a:r>
            <a:r>
              <a:rPr lang="en-US" dirty="0" err="1" smtClean="0"/>
              <a:t>présente</a:t>
            </a:r>
            <a:r>
              <a:rPr lang="en-US" dirty="0" smtClean="0"/>
              <a:t> pendant la phase </a:t>
            </a:r>
            <a:r>
              <a:rPr lang="en-US" dirty="0" err="1" smtClean="0"/>
              <a:t>continentale</a:t>
            </a:r>
            <a:r>
              <a:rPr lang="en-US" dirty="0" smtClean="0"/>
              <a:t> </a:t>
            </a:r>
            <a:r>
              <a:rPr lang="en-US" dirty="0" err="1" smtClean="0"/>
              <a:t>mais</a:t>
            </a:r>
            <a:r>
              <a:rPr lang="en-US" dirty="0" smtClean="0"/>
              <a:t> </a:t>
            </a:r>
            <a:r>
              <a:rPr lang="en-US" dirty="0" err="1" smtClean="0"/>
              <a:t>finalement</a:t>
            </a:r>
            <a:r>
              <a:rPr lang="en-US" dirty="0" smtClean="0"/>
              <a:t> déjà visible </a:t>
            </a:r>
            <a:r>
              <a:rPr lang="en-US" dirty="0" err="1" smtClean="0"/>
              <a:t>durant</a:t>
            </a:r>
            <a:r>
              <a:rPr lang="en-US" baseline="0" dirty="0" smtClean="0"/>
              <a:t> phase de recrutement (</a:t>
            </a:r>
            <a:r>
              <a:rPr lang="en-US" baseline="0" dirty="0" err="1" smtClean="0"/>
              <a:t>cf</a:t>
            </a:r>
            <a:r>
              <a:rPr lang="en-US" baseline="0" dirty="0" smtClean="0"/>
              <a:t> deux indices de recrutement </a:t>
            </a:r>
            <a:r>
              <a:rPr lang="en-US" baseline="0" dirty="0" err="1" smtClean="0"/>
              <a:t>différents</a:t>
            </a:r>
            <a:r>
              <a:rPr lang="en-US" baseline="0" dirty="0" smtClean="0"/>
              <a:t> entre </a:t>
            </a:r>
            <a:r>
              <a:rPr lang="en-US" baseline="0" dirty="0" err="1" smtClean="0"/>
              <a:t>mer</a:t>
            </a:r>
            <a:r>
              <a:rPr lang="en-US" baseline="0" dirty="0" smtClean="0"/>
              <a:t> du Nord ) </a:t>
            </a:r>
            <a:r>
              <a:rPr lang="en-US" baseline="0" dirty="0" err="1" smtClean="0"/>
              <a:t>qu’on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peut</a:t>
            </a:r>
            <a:r>
              <a:rPr lang="en-US" baseline="0" dirty="0" smtClean="0"/>
              <a:t> plus </a:t>
            </a:r>
            <a:r>
              <a:rPr lang="en-US" baseline="0" dirty="0" err="1" smtClean="0"/>
              <a:t>facilement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modéliser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Donc</a:t>
            </a:r>
            <a:r>
              <a:rPr lang="en-US" baseline="0" dirty="0" smtClean="0"/>
              <a:t> on part d’un recrutement global qui suit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marche</a:t>
            </a:r>
            <a:r>
              <a:rPr lang="en-US" baseline="0" dirty="0" smtClean="0"/>
              <a:t> aléatoire puis on </a:t>
            </a:r>
            <a:r>
              <a:rPr lang="en-US" baseline="0" dirty="0" err="1" smtClean="0"/>
              <a:t>dispatche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ce</a:t>
            </a:r>
            <a:r>
              <a:rPr lang="en-US" baseline="0" dirty="0" smtClean="0"/>
              <a:t> recrutement global entre différentes zones grâce à </a:t>
            </a:r>
            <a:r>
              <a:rPr lang="en-US" baseline="0" dirty="0" err="1" smtClean="0"/>
              <a:t>une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loi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multinomiale</a:t>
            </a:r>
            <a:r>
              <a:rPr lang="en-US" baseline="0" dirty="0" smtClean="0"/>
              <a:t>. Première échelle de </a:t>
            </a:r>
            <a:r>
              <a:rPr lang="en-US" baseline="0" dirty="0" err="1" smtClean="0"/>
              <a:t>ségrégation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07639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487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Différence</a:t>
            </a:r>
            <a:r>
              <a:rPr lang="en-US" dirty="0" smtClean="0"/>
              <a:t> de </a:t>
            </a:r>
            <a:r>
              <a:rPr lang="en-US" dirty="0" err="1" smtClean="0"/>
              <a:t>pression</a:t>
            </a:r>
            <a:r>
              <a:rPr lang="en-US" dirty="0" smtClean="0"/>
              <a:t> atmosphériques entre </a:t>
            </a:r>
            <a:r>
              <a:rPr lang="en-US" dirty="0" err="1" smtClean="0"/>
              <a:t>islande</a:t>
            </a:r>
            <a:r>
              <a:rPr lang="en-US" dirty="0" smtClean="0"/>
              <a:t> et </a:t>
            </a:r>
            <a:r>
              <a:rPr lang="en-US" dirty="0" err="1" smtClean="0"/>
              <a:t>açores</a:t>
            </a:r>
            <a:r>
              <a:rPr lang="en-US" dirty="0" smtClean="0"/>
              <a:t>: </a:t>
            </a:r>
            <a:r>
              <a:rPr lang="en-US" dirty="0" err="1" smtClean="0"/>
              <a:t>induit</a:t>
            </a:r>
            <a:r>
              <a:rPr lang="en-US" dirty="0" smtClean="0"/>
              <a:t> des </a:t>
            </a:r>
            <a:r>
              <a:rPr lang="en-US" dirty="0" err="1" smtClean="0"/>
              <a:t>changements</a:t>
            </a:r>
            <a:r>
              <a:rPr lang="en-US" baseline="0" dirty="0" smtClean="0"/>
              <a:t> dans circulation </a:t>
            </a:r>
            <a:r>
              <a:rPr lang="en-US" baseline="0" dirty="0" err="1" smtClean="0"/>
              <a:t>océanqieu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température</a:t>
            </a:r>
            <a:r>
              <a:rPr lang="en-US" baseline="0" dirty="0" smtClean="0"/>
              <a:t> de surface et dans les masses </a:t>
            </a:r>
            <a:r>
              <a:rPr lang="en-US" baseline="0" dirty="0" err="1" smtClean="0"/>
              <a:t>d’eau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Effets</a:t>
            </a:r>
            <a:r>
              <a:rPr lang="en-US" baseline="0" dirty="0" smtClean="0"/>
              <a:t> à différentes échelles </a:t>
            </a:r>
            <a:r>
              <a:rPr lang="en-US" baseline="0" dirty="0" err="1" smtClean="0"/>
              <a:t>spatio-temporelles</a:t>
            </a:r>
            <a:r>
              <a:rPr lang="en-US" baseline="0" dirty="0" smtClean="0"/>
              <a:t>.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30927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0130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0130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Bonjour à </a:t>
            </a:r>
            <a:r>
              <a:rPr lang="en-US" dirty="0" err="1" smtClean="0"/>
              <a:t>tous</a:t>
            </a:r>
            <a:r>
              <a:rPr lang="en-US" dirty="0" smtClean="0"/>
              <a:t>. Je </a:t>
            </a:r>
            <a:r>
              <a:rPr lang="en-US" dirty="0" err="1" smtClean="0"/>
              <a:t>vais</a:t>
            </a:r>
            <a:r>
              <a:rPr lang="en-US" dirty="0" smtClean="0"/>
              <a:t> </a:t>
            </a:r>
            <a:r>
              <a:rPr lang="en-US" dirty="0" err="1" smtClean="0"/>
              <a:t>vous</a:t>
            </a:r>
            <a:r>
              <a:rPr lang="en-US" dirty="0" smtClean="0"/>
              <a:t> </a:t>
            </a:r>
            <a:r>
              <a:rPr lang="en-US" dirty="0" err="1" smtClean="0"/>
              <a:t>présenter</a:t>
            </a:r>
            <a:r>
              <a:rPr lang="en-US" dirty="0" smtClean="0"/>
              <a:t> le</a:t>
            </a:r>
            <a:r>
              <a:rPr lang="en-US" baseline="0" dirty="0" smtClean="0"/>
              <a:t> travail que </a:t>
            </a:r>
            <a:r>
              <a:rPr lang="en-US" baseline="0" dirty="0" err="1" smtClean="0"/>
              <a:t>j’ai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réalisé</a:t>
            </a:r>
            <a:r>
              <a:rPr lang="en-US" baseline="0" dirty="0" smtClean="0"/>
              <a:t> pendant 6 </a:t>
            </a:r>
            <a:r>
              <a:rPr lang="en-US" baseline="0" dirty="0" err="1" smtClean="0"/>
              <a:t>mois</a:t>
            </a:r>
            <a:r>
              <a:rPr lang="en-US" baseline="0" dirty="0" smtClean="0"/>
              <a:t> au sein de </a:t>
            </a:r>
            <a:r>
              <a:rPr lang="en-US" baseline="0" dirty="0" err="1" smtClean="0"/>
              <a:t>l’IRSTEA</a:t>
            </a:r>
            <a:r>
              <a:rPr lang="en-US" baseline="0" dirty="0" smtClean="0"/>
              <a:t> et de  </a:t>
            </a:r>
            <a:r>
              <a:rPr lang="en-US" baseline="0" dirty="0" err="1" smtClean="0"/>
              <a:t>l’équipe</a:t>
            </a:r>
            <a:r>
              <a:rPr lang="en-US" baseline="0" dirty="0" smtClean="0"/>
              <a:t> PMA et avec </a:t>
            </a:r>
            <a:r>
              <a:rPr lang="en-US" baseline="0" dirty="0" err="1" smtClean="0"/>
              <a:t>hilaire</a:t>
            </a:r>
            <a:r>
              <a:rPr lang="en-US" baseline="0" dirty="0" smtClean="0"/>
              <a:t> en </a:t>
            </a:r>
            <a:r>
              <a:rPr lang="en-US" baseline="0" dirty="0" err="1" smtClean="0"/>
              <a:t>tant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qu’encadrant</a:t>
            </a:r>
            <a:r>
              <a:rPr lang="en-US" baseline="0" dirty="0" smtClean="0"/>
              <a:t>. </a:t>
            </a:r>
            <a:r>
              <a:rPr lang="en-US" dirty="0" smtClean="0"/>
              <a:t> Un </a:t>
            </a:r>
            <a:r>
              <a:rPr lang="en-US" dirty="0" err="1" smtClean="0"/>
              <a:t>sujet</a:t>
            </a:r>
            <a:r>
              <a:rPr lang="en-US" dirty="0" smtClean="0"/>
              <a:t> qui </a:t>
            </a:r>
            <a:r>
              <a:rPr lang="en-US" dirty="0" err="1" smtClean="0"/>
              <a:t>visait</a:t>
            </a:r>
            <a:r>
              <a:rPr lang="en-US" dirty="0" smtClean="0"/>
              <a:t> à </a:t>
            </a:r>
            <a:r>
              <a:rPr lang="en-US" dirty="0" err="1" smtClean="0"/>
              <a:t>mettre</a:t>
            </a:r>
            <a:r>
              <a:rPr lang="en-US" dirty="0" smtClean="0"/>
              <a:t> en place un</a:t>
            </a:r>
            <a:r>
              <a:rPr lang="en-US" baseline="0" dirty="0" smtClean="0"/>
              <a:t> modèle </a:t>
            </a:r>
            <a:r>
              <a:rPr lang="en-US" baseline="0" dirty="0" err="1" smtClean="0"/>
              <a:t>pouvant</a:t>
            </a:r>
            <a:r>
              <a:rPr lang="en-US" baseline="0" dirty="0" smtClean="0"/>
              <a:t> </a:t>
            </a:r>
            <a:r>
              <a:rPr lang="en-US" baseline="0" dirty="0" err="1" smtClean="0"/>
              <a:t>permettre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la population </a:t>
            </a:r>
            <a:r>
              <a:rPr lang="en-US" baseline="0" dirty="0" err="1" smtClean="0"/>
              <a:t>d’anguille</a:t>
            </a:r>
            <a:r>
              <a:rPr lang="en-US" baseline="0" dirty="0" smtClean="0"/>
              <a:t> à l’échelle de son aire de répartition, </a:t>
            </a:r>
            <a:r>
              <a:rPr lang="en-US" baseline="0" dirty="0" err="1" smtClean="0"/>
              <a:t>rendu</a:t>
            </a:r>
            <a:r>
              <a:rPr lang="en-US" baseline="0" dirty="0" smtClean="0"/>
              <a:t> difficile par son cycle de vie </a:t>
            </a:r>
            <a:r>
              <a:rPr lang="en-US" baseline="0" dirty="0" err="1" smtClean="0"/>
              <a:t>assez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complexe</a:t>
            </a:r>
            <a:r>
              <a:rPr lang="en-US" baseline="0" dirty="0" smtClean="0"/>
              <a:t>. </a:t>
            </a:r>
            <a:r>
              <a:rPr lang="en-US" baseline="0" dirty="0" err="1" smtClean="0"/>
              <a:t>Projet</a:t>
            </a:r>
            <a:r>
              <a:rPr lang="en-US" baseline="0" dirty="0" smtClean="0"/>
              <a:t> qui </a:t>
            </a:r>
            <a:r>
              <a:rPr lang="en-US" baseline="0" dirty="0" err="1" smtClean="0"/>
              <a:t>s’inscrit</a:t>
            </a:r>
            <a:r>
              <a:rPr lang="en-US" baseline="0" dirty="0" smtClean="0"/>
              <a:t> dans les </a:t>
            </a:r>
            <a:r>
              <a:rPr lang="en-US" baseline="0" dirty="0" err="1" smtClean="0"/>
              <a:t>volontées</a:t>
            </a:r>
            <a:r>
              <a:rPr lang="en-US" baseline="0" dirty="0" smtClean="0"/>
              <a:t> &amp; </a:t>
            </a:r>
            <a:r>
              <a:rPr lang="en-US" baseline="0" dirty="0" err="1" smtClean="0"/>
              <a:t>objectifs</a:t>
            </a:r>
            <a:r>
              <a:rPr lang="en-US" baseline="0" dirty="0" smtClean="0"/>
              <a:t> du groupe WGEEL du CIEM chargé </a:t>
            </a:r>
            <a:r>
              <a:rPr lang="en-US" baseline="0" dirty="0" err="1" smtClean="0"/>
              <a:t>d’évaluer</a:t>
            </a:r>
            <a:r>
              <a:rPr lang="en-US" baseline="0" dirty="0" smtClean="0"/>
              <a:t> l’état du stock </a:t>
            </a:r>
            <a:r>
              <a:rPr lang="en-US" baseline="0" dirty="0" err="1" smtClean="0"/>
              <a:t>ts</a:t>
            </a:r>
            <a:r>
              <a:rPr lang="en-US" baseline="0" dirty="0" smtClean="0"/>
              <a:t> les ans, qui vise de plus en plus à </a:t>
            </a:r>
            <a:r>
              <a:rPr lang="en-US" baseline="0" dirty="0" err="1" smtClean="0"/>
              <a:t>mettre</a:t>
            </a:r>
            <a:r>
              <a:rPr lang="en-US" baseline="0" dirty="0" smtClean="0"/>
              <a:t> en place des </a:t>
            </a:r>
            <a:r>
              <a:rPr lang="en-US" baseline="0" dirty="0" err="1" smtClean="0"/>
              <a:t>stratégies</a:t>
            </a:r>
            <a:r>
              <a:rPr lang="en-US" baseline="0" dirty="0" smtClean="0"/>
              <a:t> et </a:t>
            </a:r>
            <a:r>
              <a:rPr lang="en-US" baseline="0" dirty="0" err="1" smtClean="0"/>
              <a:t>méthodes</a:t>
            </a:r>
            <a:r>
              <a:rPr lang="en-US" baseline="0" dirty="0" smtClean="0"/>
              <a:t> pour évaluer </a:t>
            </a:r>
            <a:r>
              <a:rPr lang="en-US" baseline="0" dirty="0" err="1" smtClean="0"/>
              <a:t>l’ensembel</a:t>
            </a:r>
            <a:r>
              <a:rPr lang="en-US" baseline="0" dirty="0" smtClean="0"/>
              <a:t> de la pop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7126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5138A9-E360-4807-95E3-28C6C4E141D8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9110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8085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70055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8725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849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4961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3225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35519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4170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848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2715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48115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3862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744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0745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41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5096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5326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7898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6557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5122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62042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41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4E7C7-EA58-4C76-85B5-E3C002D3EF9A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7411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15/09/2016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fr-FR" smtClean="0"/>
              <a:t>Soutenance Master II 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51D82-FCA2-4B93-B4EF-66A71C76525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9652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jpeg"/><Relationship Id="rId5" Type="http://schemas.openxmlformats.org/officeDocument/2006/relationships/image" Target="../media/image60.png"/><Relationship Id="rId4" Type="http://schemas.openxmlformats.org/officeDocument/2006/relationships/image" Target="../media/image1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gif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0" y="2588711"/>
            <a:ext cx="9144000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L’évaluation de stock dans le cas de l’Anguille Européenne: Vers une évaluation internationale d’une population fragmentée et distribuée à large échelle</a:t>
            </a:r>
            <a:endParaRPr lang="en-US" sz="24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725144"/>
            <a:ext cx="9144000" cy="17364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180528" y="4898789"/>
            <a:ext cx="9433048" cy="13831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e 8"/>
          <p:cNvGrpSpPr/>
          <p:nvPr/>
        </p:nvGrpSpPr>
        <p:grpSpPr>
          <a:xfrm>
            <a:off x="75214" y="4437112"/>
            <a:ext cx="3200642" cy="1774700"/>
            <a:chOff x="2339752" y="2518394"/>
            <a:chExt cx="6050630" cy="3981450"/>
          </a:xfr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grpSpPr>
        <p:pic>
          <p:nvPicPr>
            <p:cNvPr id="1033" name="Picture 9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0959" y="4509118"/>
              <a:ext cx="3019423" cy="1990725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34" name="Picture 1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39752" y="4509119"/>
              <a:ext cx="3019425" cy="1990725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37" name="Picture 1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5480" y="2518394"/>
              <a:ext cx="3031207" cy="1990726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  <p:pic>
          <p:nvPicPr>
            <p:cNvPr id="1040" name="Picture 16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503" t="10504" r="5851" b="9561"/>
            <a:stretch/>
          </p:blipFill>
          <p:spPr bwMode="auto">
            <a:xfrm>
              <a:off x="5378536" y="2518394"/>
              <a:ext cx="3011846" cy="1990725"/>
            </a:xfrm>
            <a:prstGeom prst="rect">
              <a:avLst/>
            </a:prstGeom>
            <a:noFill/>
            <a:ln w="28575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</p:pic>
      </p:grpSp>
      <p:pic>
        <p:nvPicPr>
          <p:cNvPr id="1042" name="Picture 18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72008"/>
            <a:ext cx="1255853" cy="8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72008"/>
            <a:ext cx="1900238" cy="8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732" y="72009"/>
            <a:ext cx="863508" cy="83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ZoneTexte 12"/>
          <p:cNvSpPr txBox="1"/>
          <p:nvPr/>
        </p:nvSpPr>
        <p:spPr>
          <a:xfrm>
            <a:off x="1187624" y="1412776"/>
            <a:ext cx="6912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 smtClean="0"/>
              <a:t>Projet</a:t>
            </a:r>
            <a:r>
              <a:rPr lang="en-US" b="1" dirty="0" smtClean="0"/>
              <a:t> de fin </a:t>
            </a:r>
            <a:r>
              <a:rPr lang="en-US" b="1" dirty="0" err="1" smtClean="0"/>
              <a:t>d’étude</a:t>
            </a:r>
            <a:r>
              <a:rPr lang="en-US" b="1" dirty="0" smtClean="0"/>
              <a:t> pour </a:t>
            </a:r>
            <a:r>
              <a:rPr lang="en-US" b="1" dirty="0" err="1" smtClean="0"/>
              <a:t>l’obtention</a:t>
            </a:r>
            <a:r>
              <a:rPr lang="en-US" b="1" dirty="0" smtClean="0"/>
              <a:t> du </a:t>
            </a:r>
            <a:r>
              <a:rPr lang="en-US" b="1" dirty="0" err="1" smtClean="0"/>
              <a:t>diplôme</a:t>
            </a:r>
            <a:endParaRPr lang="en-US" b="1" dirty="0" smtClean="0"/>
          </a:p>
          <a:p>
            <a:pPr algn="ctr"/>
            <a:r>
              <a:rPr lang="en-US" i="1" dirty="0" err="1"/>
              <a:t>d</a:t>
            </a:r>
            <a:r>
              <a:rPr lang="en-US" i="1" dirty="0" err="1" smtClean="0"/>
              <a:t>’Ingénieur</a:t>
            </a:r>
            <a:r>
              <a:rPr lang="en-US" i="1" dirty="0" smtClean="0"/>
              <a:t> de </a:t>
            </a:r>
            <a:r>
              <a:rPr lang="en-US" i="1" dirty="0" err="1" smtClean="0"/>
              <a:t>l’Institut</a:t>
            </a:r>
            <a:r>
              <a:rPr lang="en-US" i="1" dirty="0" smtClean="0"/>
              <a:t> </a:t>
            </a:r>
            <a:r>
              <a:rPr lang="en-US" i="1" dirty="0" err="1" smtClean="0"/>
              <a:t>Supérieur</a:t>
            </a:r>
            <a:r>
              <a:rPr lang="en-US" i="1" dirty="0" smtClean="0"/>
              <a:t> des Sciences </a:t>
            </a:r>
            <a:r>
              <a:rPr lang="en-US" i="1" dirty="0" err="1" smtClean="0"/>
              <a:t>agronomiques</a:t>
            </a:r>
            <a:r>
              <a:rPr lang="en-US" i="1" dirty="0" smtClean="0"/>
              <a:t>, </a:t>
            </a:r>
            <a:r>
              <a:rPr lang="en-US" i="1" dirty="0" err="1" smtClean="0"/>
              <a:t>agroalimentaires</a:t>
            </a:r>
            <a:r>
              <a:rPr lang="en-US" i="1" dirty="0" smtClean="0"/>
              <a:t>, </a:t>
            </a:r>
            <a:r>
              <a:rPr lang="en-US" i="1" dirty="0" err="1" smtClean="0"/>
              <a:t>horticoles</a:t>
            </a:r>
            <a:r>
              <a:rPr lang="en-US" i="1" dirty="0" smtClean="0"/>
              <a:t> et du </a:t>
            </a:r>
            <a:r>
              <a:rPr lang="en-US" i="1" dirty="0" err="1" smtClean="0"/>
              <a:t>paysage</a:t>
            </a:r>
            <a:r>
              <a:rPr lang="en-US" i="1" dirty="0" smtClean="0"/>
              <a:t> </a:t>
            </a:r>
          </a:p>
          <a:p>
            <a:pPr algn="ctr"/>
            <a:endParaRPr lang="en-US" dirty="0"/>
          </a:p>
        </p:txBody>
      </p:sp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988" y="72009"/>
            <a:ext cx="20955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ZoneTexte 13"/>
          <p:cNvSpPr txBox="1"/>
          <p:nvPr/>
        </p:nvSpPr>
        <p:spPr>
          <a:xfrm>
            <a:off x="3419872" y="536392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Réalisé par </a:t>
            </a:r>
            <a:r>
              <a:rPr lang="en-US" sz="1600" dirty="0" smtClean="0"/>
              <a:t>Virginie Bornarel</a:t>
            </a:r>
            <a:endParaRPr lang="en-US" dirty="0"/>
          </a:p>
        </p:txBody>
      </p:sp>
      <p:sp>
        <p:nvSpPr>
          <p:cNvPr id="35" name="ZoneTexte 34"/>
          <p:cNvSpPr txBox="1"/>
          <p:nvPr/>
        </p:nvSpPr>
        <p:spPr>
          <a:xfrm>
            <a:off x="6084168" y="5363924"/>
            <a:ext cx="3041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Encadrée par </a:t>
            </a:r>
            <a:r>
              <a:rPr lang="en-US" sz="1600" dirty="0" smtClean="0"/>
              <a:t>Hilaire Drouineau</a:t>
            </a:r>
            <a:endParaRPr lang="en-US" sz="1600" dirty="0"/>
          </a:p>
        </p:txBody>
      </p:sp>
      <p:sp>
        <p:nvSpPr>
          <p:cNvPr id="15" name="ZoneTexte 14"/>
          <p:cNvSpPr txBox="1"/>
          <p:nvPr/>
        </p:nvSpPr>
        <p:spPr>
          <a:xfrm>
            <a:off x="107504" y="6433591"/>
            <a:ext cx="305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Année universitaire 2015-2016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2915816" y="6306485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Ingénieur agronome - Spécialisation Halieutique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Option Ressources et Ecosystèmes Aquatiques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1</a:t>
            </a:fld>
            <a:endParaRPr lang="fr-FR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05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107504" y="6433591"/>
            <a:ext cx="305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Année universitaire 2015-2016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2915816" y="6306485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Ingénieur agronome - Spécialisation Halieutique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Option Ressources et Ecosystèmes Aquatiques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2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0" y="2636912"/>
            <a:ext cx="9144000" cy="13831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Introduction</a:t>
            </a:r>
            <a:endParaRPr lang="en-US" sz="4400" dirty="0"/>
          </a:p>
        </p:txBody>
      </p:sp>
      <p:sp>
        <p:nvSpPr>
          <p:cNvPr id="24" name="Rectangle 23"/>
          <p:cNvSpPr/>
          <p:nvPr/>
        </p:nvSpPr>
        <p:spPr>
          <a:xfrm>
            <a:off x="0" y="4077072"/>
            <a:ext cx="9144000" cy="17364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eur droit 7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218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/>
          <p:cNvSpPr txBox="1"/>
          <p:nvPr/>
        </p:nvSpPr>
        <p:spPr>
          <a:xfrm>
            <a:off x="-108520" y="666164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 de vie de l’Anguille Européenne (</a:t>
            </a:r>
            <a:r>
              <a:rPr lang="fr-FR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A. anguilla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): une espèce catadrome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8" name="Image 6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556792"/>
            <a:ext cx="9070976" cy="4680520"/>
          </a:xfrm>
          <a:prstGeom prst="rect">
            <a:avLst/>
          </a:prstGeom>
        </p:spPr>
      </p:pic>
      <p:pic>
        <p:nvPicPr>
          <p:cNvPr id="157" name="Image 15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556792"/>
            <a:ext cx="9072562" cy="4680520"/>
          </a:xfrm>
          <a:prstGeom prst="rect">
            <a:avLst/>
          </a:prstGeom>
        </p:spPr>
      </p:pic>
      <p:sp>
        <p:nvSpPr>
          <p:cNvPr id="158" name="Flèche droite 157"/>
          <p:cNvSpPr/>
          <p:nvPr/>
        </p:nvSpPr>
        <p:spPr>
          <a:xfrm>
            <a:off x="4282952" y="3614827"/>
            <a:ext cx="1296144" cy="66935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9" name="Flèche droite 158"/>
          <p:cNvSpPr/>
          <p:nvPr/>
        </p:nvSpPr>
        <p:spPr>
          <a:xfrm>
            <a:off x="5580112" y="3573016"/>
            <a:ext cx="1296144" cy="748217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0" name="Flèche droite 159"/>
          <p:cNvSpPr/>
          <p:nvPr/>
        </p:nvSpPr>
        <p:spPr>
          <a:xfrm rot="10800000">
            <a:off x="4139953" y="4597746"/>
            <a:ext cx="1602867" cy="756229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62" name="Image 16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222010"/>
            <a:ext cx="648072" cy="495022"/>
          </a:xfrm>
          <a:prstGeom prst="rect">
            <a:avLst/>
          </a:prstGeom>
        </p:spPr>
      </p:pic>
      <p:sp>
        <p:nvSpPr>
          <p:cNvPr id="163" name="Ellipse 162"/>
          <p:cNvSpPr/>
          <p:nvPr/>
        </p:nvSpPr>
        <p:spPr>
          <a:xfrm>
            <a:off x="4282952" y="2036168"/>
            <a:ext cx="4177480" cy="35228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4" name="ZoneTexte 163"/>
          <p:cNvSpPr txBox="1"/>
          <p:nvPr/>
        </p:nvSpPr>
        <p:spPr>
          <a:xfrm>
            <a:off x="4283968" y="3730975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Leptocéphale-civelle</a:t>
            </a:r>
            <a:endParaRPr lang="fr-FR" sz="1100" b="1" dirty="0"/>
          </a:p>
        </p:txBody>
      </p:sp>
      <p:sp>
        <p:nvSpPr>
          <p:cNvPr id="165" name="ZoneTexte 164"/>
          <p:cNvSpPr txBox="1"/>
          <p:nvPr/>
        </p:nvSpPr>
        <p:spPr>
          <a:xfrm>
            <a:off x="5580112" y="3717032"/>
            <a:ext cx="1552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Métamorphose en estuaire</a:t>
            </a:r>
            <a:endParaRPr lang="fr-FR" sz="1600" b="1" dirty="0"/>
          </a:p>
        </p:txBody>
      </p:sp>
      <p:pic>
        <p:nvPicPr>
          <p:cNvPr id="166" name="Image 16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4308" y="4016537"/>
            <a:ext cx="576064" cy="290650"/>
          </a:xfrm>
          <a:prstGeom prst="rect">
            <a:avLst/>
          </a:prstGeom>
        </p:spPr>
      </p:pic>
      <p:pic>
        <p:nvPicPr>
          <p:cNvPr id="167" name="Image 16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3354374"/>
            <a:ext cx="576064" cy="290650"/>
          </a:xfrm>
          <a:prstGeom prst="rect">
            <a:avLst/>
          </a:prstGeom>
        </p:spPr>
      </p:pic>
      <p:pic>
        <p:nvPicPr>
          <p:cNvPr id="168" name="Image 16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096" y="4478923"/>
            <a:ext cx="576064" cy="290650"/>
          </a:xfrm>
          <a:prstGeom prst="rect">
            <a:avLst/>
          </a:prstGeom>
        </p:spPr>
      </p:pic>
      <p:pic>
        <p:nvPicPr>
          <p:cNvPr id="169" name="Image 16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811" y="3140968"/>
            <a:ext cx="576064" cy="290650"/>
          </a:xfrm>
          <a:prstGeom prst="rect">
            <a:avLst/>
          </a:prstGeom>
        </p:spPr>
      </p:pic>
      <p:pic>
        <p:nvPicPr>
          <p:cNvPr id="170" name="Image 16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32" y="1812009"/>
            <a:ext cx="576064" cy="290650"/>
          </a:xfrm>
          <a:prstGeom prst="rect">
            <a:avLst/>
          </a:prstGeom>
        </p:spPr>
      </p:pic>
      <p:sp>
        <p:nvSpPr>
          <p:cNvPr id="171" name="ZoneTexte 170"/>
          <p:cNvSpPr txBox="1"/>
          <p:nvPr/>
        </p:nvSpPr>
        <p:spPr>
          <a:xfrm>
            <a:off x="6947248" y="3645024"/>
            <a:ext cx="15131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 smtClean="0">
                <a:solidFill>
                  <a:srgbClr val="FFFF00"/>
                </a:solidFill>
              </a:rPr>
              <a:t>Anguille Jaune</a:t>
            </a:r>
            <a:endParaRPr lang="fr-FR" sz="1600" b="1" dirty="0">
              <a:solidFill>
                <a:srgbClr val="FFFF00"/>
              </a:solidFill>
            </a:endParaRPr>
          </a:p>
        </p:txBody>
      </p:sp>
      <p:sp>
        <p:nvSpPr>
          <p:cNvPr id="172" name="ZoneTexte 171"/>
          <p:cNvSpPr txBox="1"/>
          <p:nvPr/>
        </p:nvSpPr>
        <p:spPr>
          <a:xfrm>
            <a:off x="4211960" y="4772473"/>
            <a:ext cx="19817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Domaine continental</a:t>
            </a:r>
          </a:p>
          <a:p>
            <a:r>
              <a:rPr lang="fr-FR" sz="1100" b="1" dirty="0" smtClean="0"/>
              <a:t>Métamorphose</a:t>
            </a:r>
            <a:endParaRPr lang="fr-FR" sz="1100" b="1" dirty="0"/>
          </a:p>
        </p:txBody>
      </p:sp>
      <p:sp>
        <p:nvSpPr>
          <p:cNvPr id="123" name="Flèche gauche 122"/>
          <p:cNvSpPr/>
          <p:nvPr/>
        </p:nvSpPr>
        <p:spPr>
          <a:xfrm>
            <a:off x="2843808" y="5157192"/>
            <a:ext cx="1368152" cy="673912"/>
          </a:xfrm>
          <a:prstGeom prst="lef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5" name="ZoneTexte 154"/>
          <p:cNvSpPr txBox="1"/>
          <p:nvPr/>
        </p:nvSpPr>
        <p:spPr>
          <a:xfrm>
            <a:off x="2987824" y="5373216"/>
            <a:ext cx="12961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Anguille argentée</a:t>
            </a:r>
            <a:endParaRPr lang="fr-FR" sz="1100" b="1" dirty="0"/>
          </a:p>
        </p:txBody>
      </p:sp>
      <p:pic>
        <p:nvPicPr>
          <p:cNvPr id="156" name="Image 15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4" y="5877272"/>
            <a:ext cx="1142183" cy="282490"/>
          </a:xfrm>
          <a:prstGeom prst="rect">
            <a:avLst/>
          </a:prstGeom>
        </p:spPr>
      </p:pic>
      <p:sp>
        <p:nvSpPr>
          <p:cNvPr id="132" name="Ellipse 131"/>
          <p:cNvSpPr/>
          <p:nvPr/>
        </p:nvSpPr>
        <p:spPr>
          <a:xfrm>
            <a:off x="727621" y="5515332"/>
            <a:ext cx="1877144" cy="619775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3" name="Flèche vers le haut 132"/>
          <p:cNvSpPr/>
          <p:nvPr/>
        </p:nvSpPr>
        <p:spPr>
          <a:xfrm rot="165849">
            <a:off x="1787392" y="5355834"/>
            <a:ext cx="84714" cy="318996"/>
          </a:xfrm>
          <a:prstGeom prst="up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4" name="ZoneTexte 133"/>
          <p:cNvSpPr txBox="1"/>
          <p:nvPr/>
        </p:nvSpPr>
        <p:spPr>
          <a:xfrm>
            <a:off x="1447701" y="5054987"/>
            <a:ext cx="1152128" cy="276999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FR" sz="1200" dirty="0" smtClean="0">
                <a:solidFill>
                  <a:schemeClr val="bg1"/>
                </a:solidFill>
              </a:rPr>
              <a:t>Reproduction</a:t>
            </a:r>
            <a:endParaRPr lang="fr-FR" sz="1200" dirty="0">
              <a:solidFill>
                <a:schemeClr val="bg1"/>
              </a:solidFill>
            </a:endParaRPr>
          </a:p>
        </p:txBody>
      </p:sp>
      <p:sp>
        <p:nvSpPr>
          <p:cNvPr id="135" name="Flèche vers le haut 134"/>
          <p:cNvSpPr/>
          <p:nvPr/>
        </p:nvSpPr>
        <p:spPr>
          <a:xfrm>
            <a:off x="1916807" y="4766955"/>
            <a:ext cx="106958" cy="216024"/>
          </a:xfrm>
          <a:prstGeom prst="upArrow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36" name="Groupe 135"/>
          <p:cNvGrpSpPr/>
          <p:nvPr/>
        </p:nvGrpSpPr>
        <p:grpSpPr>
          <a:xfrm>
            <a:off x="1735733" y="4478923"/>
            <a:ext cx="432048" cy="216024"/>
            <a:chOff x="899592" y="4869160"/>
            <a:chExt cx="432048" cy="216024"/>
          </a:xfrm>
        </p:grpSpPr>
        <p:sp>
          <p:nvSpPr>
            <p:cNvPr id="148" name="Ellipse 147"/>
            <p:cNvSpPr/>
            <p:nvPr/>
          </p:nvSpPr>
          <p:spPr>
            <a:xfrm>
              <a:off x="899592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9" name="Ellipse 148"/>
            <p:cNvSpPr/>
            <p:nvPr/>
          </p:nvSpPr>
          <p:spPr>
            <a:xfrm>
              <a:off x="1007604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0" name="Ellipse 149"/>
            <p:cNvSpPr/>
            <p:nvPr/>
          </p:nvSpPr>
          <p:spPr>
            <a:xfrm>
              <a:off x="1115616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1" name="Ellipse 150"/>
            <p:cNvSpPr/>
            <p:nvPr/>
          </p:nvSpPr>
          <p:spPr>
            <a:xfrm>
              <a:off x="1223628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2" name="Ellipse 151"/>
            <p:cNvSpPr/>
            <p:nvPr/>
          </p:nvSpPr>
          <p:spPr>
            <a:xfrm>
              <a:off x="953598" y="4869160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3" name="Ellipse 152"/>
            <p:cNvSpPr/>
            <p:nvPr/>
          </p:nvSpPr>
          <p:spPr>
            <a:xfrm>
              <a:off x="1169622" y="4869160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4" name="Ellipse 153"/>
            <p:cNvSpPr/>
            <p:nvPr/>
          </p:nvSpPr>
          <p:spPr>
            <a:xfrm>
              <a:off x="1061610" y="4869160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37" name="ZoneTexte 136"/>
          <p:cNvSpPr txBox="1"/>
          <p:nvPr/>
        </p:nvSpPr>
        <p:spPr>
          <a:xfrm>
            <a:off x="1680965" y="4262899"/>
            <a:ext cx="5588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Ponte</a:t>
            </a:r>
            <a:endParaRPr lang="fr-FR" sz="1100" b="1" dirty="0"/>
          </a:p>
        </p:txBody>
      </p:sp>
      <p:sp>
        <p:nvSpPr>
          <p:cNvPr id="138" name="Flèche vers le haut 137"/>
          <p:cNvSpPr/>
          <p:nvPr/>
        </p:nvSpPr>
        <p:spPr>
          <a:xfrm>
            <a:off x="1916807" y="4068162"/>
            <a:ext cx="106958" cy="216024"/>
          </a:xfrm>
          <a:prstGeom prst="upArrow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139" name="Groupe 138"/>
          <p:cNvGrpSpPr/>
          <p:nvPr/>
        </p:nvGrpSpPr>
        <p:grpSpPr>
          <a:xfrm>
            <a:off x="1735733" y="3753036"/>
            <a:ext cx="432048" cy="216024"/>
            <a:chOff x="899592" y="4869160"/>
            <a:chExt cx="432048" cy="216024"/>
          </a:xfrm>
        </p:grpSpPr>
        <p:sp>
          <p:nvSpPr>
            <p:cNvPr id="141" name="Ellipse 140"/>
            <p:cNvSpPr/>
            <p:nvPr/>
          </p:nvSpPr>
          <p:spPr>
            <a:xfrm>
              <a:off x="899592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2" name="Ellipse 141"/>
            <p:cNvSpPr/>
            <p:nvPr/>
          </p:nvSpPr>
          <p:spPr>
            <a:xfrm>
              <a:off x="1007604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3" name="Ellipse 142"/>
            <p:cNvSpPr/>
            <p:nvPr/>
          </p:nvSpPr>
          <p:spPr>
            <a:xfrm>
              <a:off x="1115616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4" name="Ellipse 143"/>
            <p:cNvSpPr/>
            <p:nvPr/>
          </p:nvSpPr>
          <p:spPr>
            <a:xfrm>
              <a:off x="1223628" y="4941168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5" name="Ellipse 144"/>
            <p:cNvSpPr/>
            <p:nvPr/>
          </p:nvSpPr>
          <p:spPr>
            <a:xfrm>
              <a:off x="953598" y="4869160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6" name="Ellipse 145"/>
            <p:cNvSpPr/>
            <p:nvPr/>
          </p:nvSpPr>
          <p:spPr>
            <a:xfrm>
              <a:off x="1169622" y="4869160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7" name="Ellipse 146"/>
            <p:cNvSpPr/>
            <p:nvPr/>
          </p:nvSpPr>
          <p:spPr>
            <a:xfrm>
              <a:off x="1061610" y="4869160"/>
              <a:ext cx="108012" cy="144016"/>
            </a:xfrm>
            <a:prstGeom prst="ellipse">
              <a:avLst/>
            </a:prstGeom>
            <a:solidFill>
              <a:srgbClr val="0070C0"/>
            </a:solidFill>
            <a:ln w="3175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140" name="ZoneTexte 139"/>
          <p:cNvSpPr txBox="1"/>
          <p:nvPr/>
        </p:nvSpPr>
        <p:spPr>
          <a:xfrm>
            <a:off x="1353792" y="3429000"/>
            <a:ext cx="1390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Eclosion des œufs</a:t>
            </a:r>
            <a:endParaRPr lang="fr-FR" sz="1100" b="1" dirty="0"/>
          </a:p>
        </p:txBody>
      </p:sp>
      <p:sp>
        <p:nvSpPr>
          <p:cNvPr id="131" name="ZoneTexte 130"/>
          <p:cNvSpPr txBox="1"/>
          <p:nvPr/>
        </p:nvSpPr>
        <p:spPr>
          <a:xfrm>
            <a:off x="907133" y="5703059"/>
            <a:ext cx="1764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schemeClr val="bg1"/>
                </a:solidFill>
              </a:rPr>
              <a:t>Mer des Sargasses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126" name="Flèche droite 125"/>
          <p:cNvSpPr/>
          <p:nvPr/>
        </p:nvSpPr>
        <p:spPr>
          <a:xfrm>
            <a:off x="2620698" y="3472120"/>
            <a:ext cx="1405971" cy="621502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ZoneTexte 126"/>
          <p:cNvSpPr txBox="1"/>
          <p:nvPr/>
        </p:nvSpPr>
        <p:spPr>
          <a:xfrm>
            <a:off x="2600845" y="3573016"/>
            <a:ext cx="16831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 smtClean="0"/>
              <a:t>Leptocephales- Gulf Stream</a:t>
            </a:r>
            <a:endParaRPr lang="fr-FR" sz="1100" b="1" dirty="0"/>
          </a:p>
        </p:txBody>
      </p:sp>
      <p:pic>
        <p:nvPicPr>
          <p:cNvPr id="128" name="Image 1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031876" y="3270928"/>
            <a:ext cx="821012" cy="188429"/>
          </a:xfrm>
          <a:prstGeom prst="rect">
            <a:avLst/>
          </a:prstGeom>
        </p:spPr>
      </p:pic>
      <p:pic>
        <p:nvPicPr>
          <p:cNvPr id="129" name="Image 1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362993" y="3013157"/>
            <a:ext cx="821012" cy="188429"/>
          </a:xfrm>
          <a:prstGeom prst="rect">
            <a:avLst/>
          </a:prstGeom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grpSp>
        <p:nvGrpSpPr>
          <p:cNvPr id="59" name="Groupe 58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60" name="Rectangle 5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à coins arrondis 63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5" name="Rectangle à coins arrondis 64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66" name="Rectangle à coins arrondis 65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9" name="Rectangle à coins arrondis 6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9353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 animBg="1"/>
      <p:bldP spid="159" grpId="0" animBg="1"/>
      <p:bldP spid="160" grpId="0" animBg="1"/>
      <p:bldP spid="163" grpId="0" animBg="1"/>
      <p:bldP spid="164" grpId="0"/>
      <p:bldP spid="165" grpId="0"/>
      <p:bldP spid="171" grpId="0"/>
      <p:bldP spid="172" grpId="0"/>
      <p:bldP spid="123" grpId="0" animBg="1"/>
      <p:bldP spid="155" grpId="0"/>
      <p:bldP spid="132" grpId="0" animBg="1"/>
      <p:bldP spid="133" grpId="0" animBg="1"/>
      <p:bldP spid="134" grpId="0" animBg="1"/>
      <p:bldP spid="135" grpId="0" animBg="1"/>
      <p:bldP spid="137" grpId="0"/>
      <p:bldP spid="138" grpId="0" animBg="1"/>
      <p:bldP spid="140" grpId="0"/>
      <p:bldP spid="131" grpId="0"/>
      <p:bldP spid="126" grpId="0" animBg="1"/>
      <p:bldP spid="1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ZoneTexte 130"/>
          <p:cNvSpPr txBox="1"/>
          <p:nvPr/>
        </p:nvSpPr>
        <p:spPr>
          <a:xfrm>
            <a:off x="907133" y="5703059"/>
            <a:ext cx="1764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>
                <a:solidFill>
                  <a:schemeClr val="bg1"/>
                </a:solidFill>
              </a:rPr>
              <a:t>Mer des Sargasses</a:t>
            </a:r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pic>
        <p:nvPicPr>
          <p:cNvPr id="58" name="Image 5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99592" y="1585029"/>
            <a:ext cx="2844316" cy="3068107"/>
          </a:xfrm>
          <a:prstGeom prst="rect">
            <a:avLst/>
          </a:prstGeom>
        </p:spPr>
      </p:pic>
      <p:sp>
        <p:nvSpPr>
          <p:cNvPr id="67" name="ZoneTexte 66"/>
          <p:cNvSpPr txBox="1"/>
          <p:nvPr/>
        </p:nvSpPr>
        <p:spPr>
          <a:xfrm>
            <a:off x="-108520" y="642174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sz="1800" dirty="0"/>
              <a:t>Un déclin généralisé à l’échelle de l’Europe : é</a:t>
            </a:r>
            <a:r>
              <a:rPr lang="fr-FR" sz="1800" dirty="0" smtClean="0"/>
              <a:t>volution </a:t>
            </a:r>
            <a:r>
              <a:rPr lang="fr-FR" sz="1800" dirty="0"/>
              <a:t>du recrutement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2915816" y="2492896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Flèche droite 17"/>
          <p:cNvSpPr/>
          <p:nvPr/>
        </p:nvSpPr>
        <p:spPr>
          <a:xfrm>
            <a:off x="395536" y="5805264"/>
            <a:ext cx="1249933" cy="307777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/>
          <p:cNvSpPr txBox="1"/>
          <p:nvPr/>
        </p:nvSpPr>
        <p:spPr>
          <a:xfrm>
            <a:off x="1763688" y="5661248"/>
            <a:ext cx="6724699" cy="646331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En danger critique d’extinction depuis 2008 (IUCN, 2014)</a:t>
            </a:r>
          </a:p>
          <a:p>
            <a:r>
              <a:rPr lang="en-US" dirty="0" smtClean="0"/>
              <a:t>Causes multiples ? Phase continentale ? Phase océanique ?</a:t>
            </a:r>
            <a:endParaRPr lang="en-US" dirty="0"/>
          </a:p>
        </p:txBody>
      </p:sp>
      <p:sp>
        <p:nvSpPr>
          <p:cNvPr id="11" name="ZoneTexte 10"/>
          <p:cNvSpPr txBox="1"/>
          <p:nvPr/>
        </p:nvSpPr>
        <p:spPr>
          <a:xfrm>
            <a:off x="107503" y="4653136"/>
            <a:ext cx="5256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Indice </a:t>
            </a:r>
            <a:r>
              <a:rPr lang="fr-FR" sz="1400" b="1" dirty="0" smtClean="0">
                <a:solidFill>
                  <a:srgbClr val="0070C0"/>
                </a:solidFill>
              </a:rPr>
              <a:t>« North Sea » </a:t>
            </a:r>
            <a:r>
              <a:rPr lang="fr-FR" sz="1400" dirty="0" smtClean="0"/>
              <a:t>= </a:t>
            </a:r>
            <a:r>
              <a:rPr lang="fr-FR" sz="1400" b="1" dirty="0">
                <a:solidFill>
                  <a:srgbClr val="0070C0"/>
                </a:solidFill>
              </a:rPr>
              <a:t>1.2%</a:t>
            </a:r>
            <a:r>
              <a:rPr lang="fr-FR" sz="1400" dirty="0" smtClean="0"/>
              <a:t> du niveau de référence (1960-1979) </a:t>
            </a:r>
            <a:r>
              <a:rPr lang="fr-FR" sz="1400" i="1" dirty="0" smtClean="0"/>
              <a:t>(CIEM, 2016)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Indice </a:t>
            </a:r>
            <a:r>
              <a:rPr lang="fr-FR" sz="1400" b="1" dirty="0" smtClean="0">
                <a:solidFill>
                  <a:srgbClr val="FF0000"/>
                </a:solidFill>
              </a:rPr>
              <a:t>« Elsewhere Europe » </a:t>
            </a:r>
            <a:r>
              <a:rPr lang="fr-FR" sz="1400" dirty="0" smtClean="0"/>
              <a:t>= </a:t>
            </a:r>
            <a:r>
              <a:rPr lang="fr-FR" sz="1400" b="1" dirty="0" smtClean="0">
                <a:solidFill>
                  <a:srgbClr val="FF0000"/>
                </a:solidFill>
              </a:rPr>
              <a:t>8.4%</a:t>
            </a:r>
            <a:r>
              <a:rPr lang="fr-FR" sz="1400" dirty="0" smtClean="0"/>
              <a:t> du niveau de référence (1960-1979) </a:t>
            </a:r>
            <a:r>
              <a:rPr lang="fr-FR" sz="1400" i="1" dirty="0" smtClean="0"/>
              <a:t>(CIEM, 2016)</a:t>
            </a:r>
            <a:endParaRPr lang="fr-FR" sz="1400" i="1" dirty="0"/>
          </a:p>
        </p:txBody>
      </p:sp>
      <p:sp>
        <p:nvSpPr>
          <p:cNvPr id="28" name="ZoneTexte 27"/>
          <p:cNvSpPr txBox="1"/>
          <p:nvPr/>
        </p:nvSpPr>
        <p:spPr>
          <a:xfrm>
            <a:off x="5292080" y="4653136"/>
            <a:ext cx="3563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Indice </a:t>
            </a:r>
            <a:r>
              <a:rPr lang="fr-FR" sz="1400" b="1" dirty="0" smtClean="0"/>
              <a:t>« anguille jaune » </a:t>
            </a:r>
            <a:r>
              <a:rPr lang="fr-FR" sz="1400" dirty="0" smtClean="0"/>
              <a:t>= </a:t>
            </a:r>
            <a:r>
              <a:rPr lang="fr-FR" sz="1400" b="1" dirty="0" smtClean="0"/>
              <a:t>11%</a:t>
            </a:r>
            <a:r>
              <a:rPr lang="fr-FR" sz="1400" dirty="0" smtClean="0"/>
              <a:t> du niveau de référence (1960-1979) </a:t>
            </a:r>
            <a:r>
              <a:rPr lang="fr-FR" sz="1400" i="1" dirty="0" smtClean="0"/>
              <a:t>(CIEM, 2016)</a:t>
            </a:r>
            <a:endParaRPr lang="fr-FR" sz="1400" i="1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5360572" y="1561762"/>
            <a:ext cx="2883836" cy="3068107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259632" y="1167135"/>
            <a:ext cx="242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 smtClean="0"/>
              <a:t>Indice recrutement </a:t>
            </a:r>
            <a:r>
              <a:rPr lang="fr-FR" sz="1200" i="1" dirty="0" smtClean="0"/>
              <a:t>(CIEM, 2016)</a:t>
            </a:r>
          </a:p>
          <a:p>
            <a:pPr algn="ctr"/>
            <a:r>
              <a:rPr lang="fr-FR" sz="1200" i="1" dirty="0" smtClean="0"/>
              <a:t>Civelle (+Anguille Jaune)</a:t>
            </a:r>
            <a:endParaRPr lang="fr-FR" sz="1200" i="1" dirty="0"/>
          </a:p>
        </p:txBody>
      </p:sp>
      <p:sp>
        <p:nvSpPr>
          <p:cNvPr id="21" name="ZoneTexte 20"/>
          <p:cNvSpPr txBox="1"/>
          <p:nvPr/>
        </p:nvSpPr>
        <p:spPr>
          <a:xfrm>
            <a:off x="5818670" y="1167135"/>
            <a:ext cx="2425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 smtClean="0"/>
              <a:t>Indice recrutement </a:t>
            </a:r>
            <a:r>
              <a:rPr lang="fr-FR" sz="1200" i="1" dirty="0"/>
              <a:t>(CIEM, 2016</a:t>
            </a:r>
            <a:r>
              <a:rPr lang="fr-FR" sz="1200" i="1" dirty="0" smtClean="0"/>
              <a:t>)</a:t>
            </a:r>
            <a:endParaRPr lang="fr-FR" sz="1200" dirty="0" smtClean="0"/>
          </a:p>
          <a:p>
            <a:pPr algn="ctr"/>
            <a:r>
              <a:rPr lang="fr-FR" sz="1200" i="1" dirty="0" smtClean="0"/>
              <a:t>Anguille Jaune</a:t>
            </a:r>
            <a:endParaRPr lang="fr-FR" sz="1200" i="1" dirty="0"/>
          </a:p>
        </p:txBody>
      </p:sp>
      <p:grpSp>
        <p:nvGrpSpPr>
          <p:cNvPr id="30" name="Groupe 29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1" name="Rectangle 30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à coins arrondis 31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3" name="Rectangle à coins arrondis 32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5" name="Rectangle à coins arrondis 34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41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11" grpId="0"/>
      <p:bldP spid="28" grpId="0"/>
      <p:bldP spid="12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/>
          <p:cNvSpPr txBox="1"/>
          <p:nvPr/>
        </p:nvSpPr>
        <p:spPr>
          <a:xfrm>
            <a:off x="-108520" y="642174"/>
            <a:ext cx="9433048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sz="1800" dirty="0"/>
              <a:t>Une gestion qui s’opère principalement à l’échelle des UGA (Unité Gestion Anguille)</a:t>
            </a:r>
          </a:p>
        </p:txBody>
      </p:sp>
      <p:grpSp>
        <p:nvGrpSpPr>
          <p:cNvPr id="32" name="Groupe 31"/>
          <p:cNvGrpSpPr/>
          <p:nvPr/>
        </p:nvGrpSpPr>
        <p:grpSpPr>
          <a:xfrm>
            <a:off x="395536" y="5446965"/>
            <a:ext cx="4914523" cy="646331"/>
            <a:chOff x="454074" y="4795411"/>
            <a:chExt cx="4914523" cy="646331"/>
          </a:xfrm>
        </p:grpSpPr>
        <p:sp>
          <p:nvSpPr>
            <p:cNvPr id="12" name="Flèche droite 11"/>
            <p:cNvSpPr/>
            <p:nvPr/>
          </p:nvSpPr>
          <p:spPr>
            <a:xfrm>
              <a:off x="454074" y="4869160"/>
              <a:ext cx="1368152" cy="504056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2030237" y="4795411"/>
              <a:ext cx="333836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Une gestion des sous-populations principalement locale</a:t>
              </a:r>
              <a:endParaRPr lang="fr-FR" dirty="0"/>
            </a:p>
          </p:txBody>
        </p:sp>
      </p:grp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5</a:t>
            </a:fld>
            <a:endParaRPr lang="fr-FR" dirty="0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36512" y="1334378"/>
                <a:ext cx="907256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b="1" u="sng" dirty="0" smtClean="0"/>
                  <a:t>Objectif fixé par le règlement Européen  </a:t>
                </a:r>
                <a:r>
                  <a:rPr lang="en-US" i="1" dirty="0" smtClean="0"/>
                  <a:t>(</a:t>
                </a:r>
                <a:r>
                  <a:rPr lang="en-US" i="1" dirty="0"/>
                  <a:t>Council Regulation (EC) No. 1100/2007</a:t>
                </a:r>
                <a:r>
                  <a:rPr lang="en-US" i="1" dirty="0" smtClean="0"/>
                  <a:t>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    </a:t>
                </a:r>
              </a:p>
              <a:p>
                <a:r>
                  <a:rPr lang="en-US" dirty="0" smtClean="0"/>
                  <a:t>  -Taux d’échappement de 40% = </a:t>
                </a:r>
                <a:r>
                  <a:rPr lang="en-US" dirty="0" err="1" smtClean="0"/>
                  <a:t>objectif</a:t>
                </a:r>
                <a:r>
                  <a:rPr lang="en-US" dirty="0" smtClean="0"/>
                  <a:t> à long-</a:t>
                </a:r>
                <a:r>
                  <a:rPr lang="en-US" dirty="0" err="1" smtClean="0"/>
                  <a:t>terme</a:t>
                </a:r>
                <a:endParaRPr lang="en-US" dirty="0" smtClean="0"/>
              </a:p>
              <a:p>
                <a:r>
                  <a:rPr lang="en-US" dirty="0" smtClean="0"/>
                  <a:t>  -Réduction des taux de mortalités (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r>
                          <a:rPr lang="fr-FR" b="0" i="1" smtClean="0">
                            <a:latin typeface="Cambria Math"/>
                          </a:rPr>
                          <m:t>𝐴</m:t>
                        </m:r>
                      </m:e>
                    </m:nary>
                  </m:oMath>
                </a14:m>
                <a:r>
                  <a:rPr lang="en-US" dirty="0" smtClean="0"/>
                  <a:t>= 0.92) à court-</a:t>
                </a:r>
                <a:r>
                  <a:rPr lang="en-US" dirty="0" err="1" smtClean="0"/>
                  <a:t>terme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12" y="1334378"/>
                <a:ext cx="9072562" cy="1446550"/>
              </a:xfrm>
              <a:prstGeom prst="rect">
                <a:avLst/>
              </a:prstGeom>
              <a:blipFill rotWithShape="1">
                <a:blip r:embed="rId3"/>
                <a:stretch>
                  <a:fillRect l="-470" t="-2110" b="-2995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e 36"/>
          <p:cNvGrpSpPr/>
          <p:nvPr/>
        </p:nvGrpSpPr>
        <p:grpSpPr>
          <a:xfrm>
            <a:off x="443160" y="2688669"/>
            <a:ext cx="8463522" cy="3836675"/>
            <a:chOff x="443160" y="2461612"/>
            <a:chExt cx="8463522" cy="3836675"/>
          </a:xfrm>
        </p:grpSpPr>
        <p:grpSp>
          <p:nvGrpSpPr>
            <p:cNvPr id="31" name="Groupe 30"/>
            <p:cNvGrpSpPr/>
            <p:nvPr/>
          </p:nvGrpSpPr>
          <p:grpSpPr>
            <a:xfrm>
              <a:off x="443160" y="2461612"/>
              <a:ext cx="8463522" cy="3494018"/>
              <a:chOff x="443160" y="2461612"/>
              <a:chExt cx="8463522" cy="3494018"/>
            </a:xfrm>
          </p:grpSpPr>
          <p:pic>
            <p:nvPicPr>
              <p:cNvPr id="2" name="Image 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8144" y="2474312"/>
                <a:ext cx="3038538" cy="3474968"/>
              </a:xfrm>
              <a:prstGeom prst="rect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</p:pic>
          <p:sp>
            <p:nvSpPr>
              <p:cNvPr id="9" name="ZoneTexte 8"/>
              <p:cNvSpPr txBox="1"/>
              <p:nvPr/>
            </p:nvSpPr>
            <p:spPr>
              <a:xfrm>
                <a:off x="443160" y="2892460"/>
                <a:ext cx="4895528" cy="1754326"/>
              </a:xfrm>
              <a:prstGeom prst="rect">
                <a:avLst/>
              </a:prstGeom>
              <a:noFill/>
              <a:ln w="38100">
                <a:solidFill>
                  <a:schemeClr val="accent6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b="1" dirty="0" smtClean="0"/>
                  <a:t>A l’échelle des UGA (Unité Gestion Anguille)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fr-FR" dirty="0" smtClean="0"/>
                  <a:t>Mesures de gestion appliqués à travers PGA (Plan de Gestion Anguille) 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fr-FR" dirty="0" smtClean="0"/>
                  <a:t>Un suivi des sous-populations par estimation des indicateurs (</a:t>
                </a:r>
                <a:r>
                  <a:rPr lang="fr-FR" dirty="0"/>
                  <a:t>3Bs &amp; </a:t>
                </a:r>
                <a:r>
                  <a:rPr lang="el-GR" dirty="0"/>
                  <a:t>Σ</a:t>
                </a:r>
                <a:r>
                  <a:rPr lang="fr-FR" dirty="0"/>
                  <a:t>A</a:t>
                </a:r>
                <a:r>
                  <a:rPr lang="fr-FR" dirty="0" smtClean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fr-FR" dirty="0" smtClean="0"/>
                  <a:t>Des objectifs identiques pour chaque UGA</a:t>
                </a:r>
              </a:p>
            </p:txBody>
          </p:sp>
          <p:cxnSp>
            <p:nvCxnSpPr>
              <p:cNvPr id="22" name="Connecteur droit 21"/>
              <p:cNvCxnSpPr/>
              <p:nvPr/>
            </p:nvCxnSpPr>
            <p:spPr>
              <a:xfrm flipV="1">
                <a:off x="5349547" y="2461612"/>
                <a:ext cx="495038" cy="424498"/>
              </a:xfrm>
              <a:prstGeom prst="lin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cteur droit 23"/>
              <p:cNvCxnSpPr/>
              <p:nvPr/>
            </p:nvCxnSpPr>
            <p:spPr>
              <a:xfrm>
                <a:off x="5338688" y="4659486"/>
                <a:ext cx="499547" cy="1296144"/>
              </a:xfrm>
              <a:prstGeom prst="line">
                <a:avLst/>
              </a:prstGeom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6" name="ZoneTexte 35"/>
            <p:cNvSpPr txBox="1"/>
            <p:nvPr/>
          </p:nvSpPr>
          <p:spPr>
            <a:xfrm>
              <a:off x="5868144" y="6021288"/>
              <a:ext cx="303853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 smtClean="0"/>
                <a:t>UGA </a:t>
              </a:r>
              <a:r>
                <a:rPr lang="en-US" sz="1200" i="1" dirty="0"/>
                <a:t>à travers l’Europe</a:t>
              </a:r>
            </a:p>
          </p:txBody>
        </p:sp>
      </p:grpSp>
      <p:grpSp>
        <p:nvGrpSpPr>
          <p:cNvPr id="23" name="Groupe 22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3" name="Rectangle 32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5" name="Rectangle à coins arrondis 34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8" name="Rectangle à coins arrondis 3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9" name="Rectangle à coins arrondis 3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1741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3074685"/>
            <a:ext cx="5688632" cy="330664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8" name="Flèche courbée vers le bas 7"/>
          <p:cNvSpPr/>
          <p:nvPr/>
        </p:nvSpPr>
        <p:spPr>
          <a:xfrm rot="9951198">
            <a:off x="1151247" y="5775935"/>
            <a:ext cx="3144881" cy="333403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5" name="Flèche courbée vers le haut 14"/>
          <p:cNvSpPr/>
          <p:nvPr/>
        </p:nvSpPr>
        <p:spPr>
          <a:xfrm rot="9389958">
            <a:off x="150346" y="4087618"/>
            <a:ext cx="4888892" cy="62479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49682" y="6079533"/>
            <a:ext cx="637942" cy="157779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77674" y="5719493"/>
            <a:ext cx="637942" cy="157779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131841" y="4101296"/>
            <a:ext cx="432047" cy="99158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347865" y="5117045"/>
            <a:ext cx="432047" cy="99158"/>
          </a:xfrm>
          <a:prstGeom prst="rect">
            <a:avLst/>
          </a:prstGeom>
        </p:spPr>
      </p:pic>
      <p:pic>
        <p:nvPicPr>
          <p:cNvPr id="48" name="Image 4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763689" y="4986026"/>
            <a:ext cx="432047" cy="99158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4355976" y="3861048"/>
            <a:ext cx="576064" cy="1872208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8" name="Image 7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613" y="1237731"/>
            <a:ext cx="2582883" cy="5215605"/>
          </a:xfrm>
          <a:prstGeom prst="rect">
            <a:avLst/>
          </a:prstGeom>
          <a:ln w="19050">
            <a:solidFill>
              <a:srgbClr val="FFC000"/>
            </a:solidFill>
          </a:ln>
        </p:spPr>
      </p:pic>
      <p:cxnSp>
        <p:nvCxnSpPr>
          <p:cNvPr id="80" name="Connecteur droit 79"/>
          <p:cNvCxnSpPr/>
          <p:nvPr/>
        </p:nvCxnSpPr>
        <p:spPr>
          <a:xfrm flipV="1">
            <a:off x="4932040" y="1268758"/>
            <a:ext cx="1521573" cy="2592290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4932040" y="5702227"/>
            <a:ext cx="1521573" cy="751109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/>
          <p:cNvSpPr/>
          <p:nvPr/>
        </p:nvSpPr>
        <p:spPr>
          <a:xfrm>
            <a:off x="251519" y="5509664"/>
            <a:ext cx="2160241" cy="871664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4" name="Éclair 83"/>
          <p:cNvSpPr/>
          <p:nvPr/>
        </p:nvSpPr>
        <p:spPr>
          <a:xfrm flipH="1">
            <a:off x="8316416" y="3068960"/>
            <a:ext cx="216024" cy="434234"/>
          </a:xfrm>
          <a:prstGeom prst="lightningBol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7" name="Éclair 56"/>
          <p:cNvSpPr/>
          <p:nvPr/>
        </p:nvSpPr>
        <p:spPr>
          <a:xfrm flipH="1">
            <a:off x="6876256" y="4547898"/>
            <a:ext cx="216024" cy="434234"/>
          </a:xfrm>
          <a:prstGeom prst="lightningBol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8" name="Éclair 57"/>
          <p:cNvSpPr/>
          <p:nvPr/>
        </p:nvSpPr>
        <p:spPr>
          <a:xfrm flipH="1">
            <a:off x="8118648" y="1196752"/>
            <a:ext cx="216024" cy="434234"/>
          </a:xfrm>
          <a:prstGeom prst="lightningBol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5" name="Ellipse 84"/>
          <p:cNvSpPr/>
          <p:nvPr/>
        </p:nvSpPr>
        <p:spPr>
          <a:xfrm>
            <a:off x="7884368" y="3573016"/>
            <a:ext cx="792088" cy="432048"/>
          </a:xfrm>
          <a:prstGeom prst="ellipse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Ellipse 59"/>
          <p:cNvSpPr/>
          <p:nvPr/>
        </p:nvSpPr>
        <p:spPr>
          <a:xfrm>
            <a:off x="6534472" y="5085184"/>
            <a:ext cx="792088" cy="432048"/>
          </a:xfrm>
          <a:prstGeom prst="ellipse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1" name="Ellipse 60"/>
          <p:cNvSpPr/>
          <p:nvPr/>
        </p:nvSpPr>
        <p:spPr>
          <a:xfrm>
            <a:off x="7644097" y="1700808"/>
            <a:ext cx="792088" cy="432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62" name="Image 6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813" y="1771507"/>
            <a:ext cx="576064" cy="290650"/>
          </a:xfrm>
          <a:prstGeom prst="rect">
            <a:avLst/>
          </a:prstGeom>
        </p:spPr>
      </p:pic>
      <p:pic>
        <p:nvPicPr>
          <p:cNvPr id="63" name="Image 6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2380" y="3643715"/>
            <a:ext cx="576064" cy="290650"/>
          </a:xfrm>
          <a:prstGeom prst="rect">
            <a:avLst/>
          </a:prstGeom>
        </p:spPr>
      </p:pic>
      <p:pic>
        <p:nvPicPr>
          <p:cNvPr id="86" name="Image 8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2484" y="5166624"/>
            <a:ext cx="576064" cy="290650"/>
          </a:xfrm>
          <a:prstGeom prst="rect">
            <a:avLst/>
          </a:prstGeom>
        </p:spPr>
      </p:pic>
      <p:sp>
        <p:nvSpPr>
          <p:cNvPr id="87" name="ZoneTexte 86"/>
          <p:cNvSpPr txBox="1"/>
          <p:nvPr/>
        </p:nvSpPr>
        <p:spPr>
          <a:xfrm>
            <a:off x="35496" y="2699628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Une population panmictique </a:t>
            </a:r>
            <a:r>
              <a:rPr lang="fr-FR" i="1" dirty="0"/>
              <a:t>(Als et al., 2011)</a:t>
            </a:r>
            <a:r>
              <a:rPr lang="fr-FR" b="1" dirty="0" smtClean="0"/>
              <a:t>…….</a:t>
            </a:r>
            <a:endParaRPr lang="fr-FR" b="1" dirty="0"/>
          </a:p>
        </p:txBody>
      </p:sp>
      <p:sp>
        <p:nvSpPr>
          <p:cNvPr id="88" name="ZoneTexte 87"/>
          <p:cNvSpPr txBox="1"/>
          <p:nvPr/>
        </p:nvSpPr>
        <p:spPr>
          <a:xfrm>
            <a:off x="1547664" y="1270501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…..Confrontée à une dimension fractale surtout durant la phase continentale </a:t>
            </a:r>
            <a:r>
              <a:rPr lang="fr-FR" i="1" dirty="0" smtClean="0"/>
              <a:t>(Dekker, 2000)</a:t>
            </a:r>
            <a:endParaRPr lang="fr-FR" i="1" dirty="0"/>
          </a:p>
        </p:txBody>
      </p:sp>
      <p:sp>
        <p:nvSpPr>
          <p:cNvPr id="67" name="ZoneTexte 66"/>
          <p:cNvSpPr txBox="1"/>
          <p:nvPr/>
        </p:nvSpPr>
        <p:spPr>
          <a:xfrm>
            <a:off x="-108520" y="642174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sz="1800" dirty="0"/>
              <a:t>Un cycle de vie complexe qui rend l’évaluation de la population entière difficile</a:t>
            </a:r>
          </a:p>
        </p:txBody>
      </p:sp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6</a:t>
            </a:fld>
            <a:endParaRPr lang="fr-FR" dirty="0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1187624" y="5661248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/>
              <a:t>Reproduction aléatoire</a:t>
            </a:r>
            <a:endParaRPr lang="fr-FR" sz="1400" b="1" dirty="0"/>
          </a:p>
        </p:txBody>
      </p:sp>
      <p:grpSp>
        <p:nvGrpSpPr>
          <p:cNvPr id="64" name="Groupe 63"/>
          <p:cNvGrpSpPr/>
          <p:nvPr/>
        </p:nvGrpSpPr>
        <p:grpSpPr>
          <a:xfrm>
            <a:off x="288534" y="3800462"/>
            <a:ext cx="3851418" cy="2181238"/>
            <a:chOff x="193259" y="3800462"/>
            <a:chExt cx="3851418" cy="2181238"/>
          </a:xfrm>
        </p:grpSpPr>
        <p:sp>
          <p:nvSpPr>
            <p:cNvPr id="43" name="Forme libre 42"/>
            <p:cNvSpPr/>
            <p:nvPr/>
          </p:nvSpPr>
          <p:spPr>
            <a:xfrm>
              <a:off x="193259" y="4486275"/>
              <a:ext cx="3073816" cy="1495425"/>
            </a:xfrm>
            <a:custGeom>
              <a:avLst/>
              <a:gdLst>
                <a:gd name="connsiteX0" fmla="*/ 54391 w 3073816"/>
                <a:gd name="connsiteY0" fmla="*/ 1495425 h 1495425"/>
                <a:gd name="connsiteX1" fmla="*/ 73441 w 3073816"/>
                <a:gd name="connsiteY1" fmla="*/ 1285875 h 1495425"/>
                <a:gd name="connsiteX2" fmla="*/ 768766 w 3073816"/>
                <a:gd name="connsiteY2" fmla="*/ 857250 h 1495425"/>
                <a:gd name="connsiteX3" fmla="*/ 1406941 w 3073816"/>
                <a:gd name="connsiteY3" fmla="*/ 466725 h 1495425"/>
                <a:gd name="connsiteX4" fmla="*/ 2226091 w 3073816"/>
                <a:gd name="connsiteY4" fmla="*/ 190500 h 1495425"/>
                <a:gd name="connsiteX5" fmla="*/ 2864266 w 3073816"/>
                <a:gd name="connsiteY5" fmla="*/ 47625 h 1495425"/>
                <a:gd name="connsiteX6" fmla="*/ 3073816 w 3073816"/>
                <a:gd name="connsiteY6" fmla="*/ 0 h 1495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73816" h="1495425">
                  <a:moveTo>
                    <a:pt x="54391" y="1495425"/>
                  </a:moveTo>
                  <a:cubicBezTo>
                    <a:pt x="4385" y="1443831"/>
                    <a:pt x="-45621" y="1392237"/>
                    <a:pt x="73441" y="1285875"/>
                  </a:cubicBezTo>
                  <a:cubicBezTo>
                    <a:pt x="192503" y="1179513"/>
                    <a:pt x="768766" y="857250"/>
                    <a:pt x="768766" y="857250"/>
                  </a:cubicBezTo>
                  <a:cubicBezTo>
                    <a:pt x="991016" y="720725"/>
                    <a:pt x="1164053" y="577850"/>
                    <a:pt x="1406941" y="466725"/>
                  </a:cubicBezTo>
                  <a:cubicBezTo>
                    <a:pt x="1649829" y="355600"/>
                    <a:pt x="1983203" y="260350"/>
                    <a:pt x="2226091" y="190500"/>
                  </a:cubicBezTo>
                  <a:cubicBezTo>
                    <a:pt x="2468979" y="120650"/>
                    <a:pt x="2864266" y="47625"/>
                    <a:pt x="2864266" y="47625"/>
                  </a:cubicBezTo>
                  <a:lnTo>
                    <a:pt x="3073816" y="0"/>
                  </a:lnTo>
                </a:path>
              </a:pathLst>
            </a:custGeom>
            <a:noFill/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Connecteur droit avec flèche 53"/>
            <p:cNvCxnSpPr/>
            <p:nvPr/>
          </p:nvCxnSpPr>
          <p:spPr>
            <a:xfrm flipV="1">
              <a:off x="3243808" y="3800462"/>
              <a:ext cx="800869" cy="697235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Connecteur droit avec flèche 72"/>
            <p:cNvCxnSpPr>
              <a:stCxn id="43" idx="6"/>
            </p:cNvCxnSpPr>
            <p:nvPr/>
          </p:nvCxnSpPr>
          <p:spPr>
            <a:xfrm>
              <a:off x="3267075" y="4486275"/>
              <a:ext cx="728861" cy="825674"/>
            </a:xfrm>
            <a:prstGeom prst="straightConnector1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e 40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2" name="Rectangle 41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5" name="Rectangle à coins arrondis 54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6" name="Rectangle à coins arrondis 55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59" name="Rectangle à coins arrondis 5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86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  <p:bldP spid="77" grpId="0" animBg="1"/>
      <p:bldP spid="83" grpId="0" animBg="1"/>
      <p:bldP spid="84" grpId="0" animBg="1"/>
      <p:bldP spid="57" grpId="0" animBg="1"/>
      <p:bldP spid="58" grpId="0" animBg="1"/>
      <p:bldP spid="85" grpId="0" animBg="1"/>
      <p:bldP spid="60" grpId="0" animBg="1"/>
      <p:bldP spid="61" grpId="0" animBg="1"/>
      <p:bldP spid="87" grpId="0"/>
      <p:bldP spid="88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179512" y="1480716"/>
            <a:ext cx="8784976" cy="2585323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smtClean="0"/>
              <a:t> Une population panmictique: Nécessité d’</a:t>
            </a:r>
            <a:r>
              <a:rPr lang="fr-FR" dirty="0"/>
              <a:t>é</a:t>
            </a:r>
            <a:r>
              <a:rPr lang="fr-FR" dirty="0" smtClean="0"/>
              <a:t>valuer la population entière…..</a:t>
            </a:r>
          </a:p>
          <a:p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smtClean="0"/>
              <a:t>…. Pourtant rendue difficile par la dimension fractale de la phase continentale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smtClean="0"/>
              <a:t>Stades « Anguille Jaune » et « Anguille Argentée » difficiles à évaluer à l’échelle du continent</a:t>
            </a:r>
          </a:p>
          <a:p>
            <a:endParaRPr lang="fr-FR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/>
              <a:t>I</a:t>
            </a:r>
            <a:r>
              <a:rPr lang="fr-FR" dirty="0" smtClean="0"/>
              <a:t>ndices d’abondance « Anguille Jaune » difficiles à interpréter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smtClean="0"/>
              <a:t>Indices </a:t>
            </a:r>
            <a:r>
              <a:rPr lang="fr-FR" dirty="0"/>
              <a:t>d’abondance </a:t>
            </a:r>
            <a:r>
              <a:rPr lang="fr-FR" dirty="0" smtClean="0"/>
              <a:t>«</a:t>
            </a:r>
            <a:r>
              <a:rPr lang="fr-FR" dirty="0"/>
              <a:t> Anguille </a:t>
            </a:r>
            <a:r>
              <a:rPr lang="fr-FR" dirty="0" smtClean="0"/>
              <a:t>Argentée</a:t>
            </a:r>
            <a:r>
              <a:rPr lang="fr-FR" dirty="0"/>
              <a:t> » </a:t>
            </a:r>
            <a:r>
              <a:rPr lang="fr-FR" dirty="0" smtClean="0"/>
              <a:t>peu nombreux à </a:t>
            </a:r>
            <a:r>
              <a:rPr lang="fr-FR" dirty="0"/>
              <a:t>l’échelle de l’Europe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dirty="0" smtClean="0"/>
          </a:p>
        </p:txBody>
      </p:sp>
      <p:grpSp>
        <p:nvGrpSpPr>
          <p:cNvPr id="13" name="Groupe 12"/>
          <p:cNvGrpSpPr/>
          <p:nvPr/>
        </p:nvGrpSpPr>
        <p:grpSpPr>
          <a:xfrm>
            <a:off x="1128366" y="4725144"/>
            <a:ext cx="6539978" cy="646331"/>
            <a:chOff x="755576" y="4654877"/>
            <a:chExt cx="6539978" cy="646331"/>
          </a:xfrm>
        </p:grpSpPr>
        <p:sp>
          <p:nvSpPr>
            <p:cNvPr id="10" name="Flèche droite 9"/>
            <p:cNvSpPr/>
            <p:nvPr/>
          </p:nvSpPr>
          <p:spPr>
            <a:xfrm>
              <a:off x="755576" y="4718213"/>
              <a:ext cx="1872208" cy="366971"/>
            </a:xfrm>
            <a:prstGeom prst="rightArrow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2843808" y="4654877"/>
              <a:ext cx="4451746" cy="646331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b="1" dirty="0" smtClean="0"/>
                <a:t>Recrutement des civelles plus facile à évaluer à l’échelle de l’Europe</a:t>
              </a:r>
              <a:endParaRPr lang="fr-FR" b="1" dirty="0"/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7</a:t>
            </a:fld>
            <a:endParaRPr lang="fr-FR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-108520" y="642174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sz="1800" dirty="0"/>
              <a:t>Une phase de recrutement moins impactée par la dimension fractale de l’Anguille</a:t>
            </a:r>
          </a:p>
        </p:txBody>
      </p:sp>
      <p:grpSp>
        <p:nvGrpSpPr>
          <p:cNvPr id="16" name="Groupe 15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7" name="Rectangle 16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à coins arrondis 17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19" name="Rectangle à coins arrondis 18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21" name="Rectangle à coins arrondis 20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28" name="Rectangle à coins arrondis 27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9488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eau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538260"/>
              </p:ext>
            </p:extLst>
          </p:nvPr>
        </p:nvGraphicFramePr>
        <p:xfrm>
          <a:off x="526894" y="3750281"/>
          <a:ext cx="8293578" cy="2415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6529"/>
                <a:gridCol w="2744988"/>
                <a:gridCol w="3032061"/>
              </a:tblGrid>
              <a:tr h="287637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Echelle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Intérêts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Méthodes</a:t>
                      </a:r>
                      <a:endParaRPr lang="fr-FR" dirty="0"/>
                    </a:p>
                  </a:txBody>
                  <a:tcPr/>
                </a:tc>
              </a:tr>
              <a:tr h="647183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Distribution</a:t>
                      </a:r>
                      <a:endParaRPr lang="fr-FR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Etat du stock</a:t>
                      </a:r>
                    </a:p>
                    <a:p>
                      <a:pPr algn="l"/>
                      <a:r>
                        <a:rPr lang="fr-FR" sz="16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 stock-recrutement</a:t>
                      </a:r>
                      <a:endParaRPr lang="fr-FR" sz="16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-Modèle Dekker </a:t>
                      </a:r>
                      <a:r>
                        <a:rPr lang="fr-FR" sz="1400" b="1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(Dekker 2000)</a:t>
                      </a:r>
                    </a:p>
                    <a:p>
                      <a:pPr marL="0" algn="l" defTabSz="914400" rtl="0" eaLnBrk="1" latinLnBrk="0" hangingPunct="1"/>
                      <a:r>
                        <a:rPr lang="fr-FR" sz="16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-GLM </a:t>
                      </a:r>
                      <a:r>
                        <a:rPr lang="fr-FR" sz="1400" b="1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(CIEM, 2016)</a:t>
                      </a:r>
                      <a:endParaRPr lang="fr-FR" sz="1400" b="1" i="1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266729">
                <a:tc>
                  <a:txBody>
                    <a:bodyPr/>
                    <a:lstStyle/>
                    <a:p>
                      <a:pPr algn="l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EMU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Echelle de gestion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fr-FR" sz="1600" dirty="0"/>
                    </a:p>
                  </a:txBody>
                  <a:tcPr/>
                </a:tc>
              </a:tr>
              <a:tr h="1030699">
                <a:tc>
                  <a:txBody>
                    <a:bodyPr/>
                    <a:lstStyle/>
                    <a:p>
                      <a:pPr algn="l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Bassin</a:t>
                      </a:r>
                      <a:r>
                        <a:rPr lang="fr-F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versant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Exploitation pêcheries</a:t>
                      </a:r>
                    </a:p>
                    <a:p>
                      <a:pPr algn="l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Taux d’exploitation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GEMAC </a:t>
                      </a:r>
                      <a:r>
                        <a:rPr lang="fr-FR" sz="14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(Beaulaton et</a:t>
                      </a:r>
                      <a:r>
                        <a:rPr lang="fr-FR" sz="1400" i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Briand, 2007)</a:t>
                      </a:r>
                      <a:r>
                        <a:rPr lang="fr-FR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</a:t>
                      </a:r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GERAM </a:t>
                      </a:r>
                      <a:r>
                        <a:rPr lang="fr-FR" sz="14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(Bru et al., 2009)</a:t>
                      </a:r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; taux d’exploitation ~</a:t>
                      </a:r>
                      <a:r>
                        <a:rPr lang="fr-FR" sz="16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100%; piégeage; CPUE, captures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ZoneTexte 21"/>
          <p:cNvSpPr txBox="1"/>
          <p:nvPr/>
        </p:nvSpPr>
        <p:spPr>
          <a:xfrm>
            <a:off x="611560" y="1321023"/>
            <a:ext cx="781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E</a:t>
            </a:r>
            <a:r>
              <a:rPr lang="fr-FR" sz="1400" b="1" dirty="0" smtClean="0"/>
              <a:t>valuation stade Anguille Argentée et échappement</a:t>
            </a:r>
            <a:endParaRPr lang="fr-FR" sz="1400" b="1" dirty="0"/>
          </a:p>
        </p:txBody>
      </p:sp>
      <p:graphicFrame>
        <p:nvGraphicFramePr>
          <p:cNvPr id="23" name="Tableau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849715"/>
              </p:ext>
            </p:extLst>
          </p:nvPr>
        </p:nvGraphicFramePr>
        <p:xfrm>
          <a:off x="526894" y="1644746"/>
          <a:ext cx="8293578" cy="156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3255"/>
                <a:gridCol w="2750719"/>
                <a:gridCol w="2969604"/>
              </a:tblGrid>
              <a:tr h="270089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Echelle</a:t>
                      </a:r>
                      <a:endParaRPr lang="fr-FR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Intérêts</a:t>
                      </a:r>
                      <a:endParaRPr lang="fr-FR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Méthodes</a:t>
                      </a:r>
                      <a:endParaRPr lang="fr-FR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285715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Bassin</a:t>
                      </a:r>
                      <a:r>
                        <a:rPr lang="fr-FR" sz="1600" baseline="0" dirty="0" smtClean="0"/>
                        <a:t> versant</a:t>
                      </a:r>
                      <a:endParaRPr lang="fr-FR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Indicateurs UGA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Capture et comptage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39550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Bassin versant</a:t>
                      </a:r>
                      <a:endParaRPr lang="fr-FR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Indicateurs UGA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Approximation sur anguille jaune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427640">
                <a:tc>
                  <a:txBody>
                    <a:bodyPr/>
                    <a:lstStyle/>
                    <a:p>
                      <a:r>
                        <a:rPr lang="fr-FR" sz="1600" dirty="0" smtClean="0"/>
                        <a:t>Bassin versant</a:t>
                      </a:r>
                      <a:endParaRPr lang="fr-FR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600" kern="120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Indicateurs UGA</a:t>
                      </a:r>
                      <a:endParaRPr lang="fr-FR" sz="16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Approches de modélisation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8" name="ZoneTexte 27"/>
          <p:cNvSpPr txBox="1"/>
          <p:nvPr/>
        </p:nvSpPr>
        <p:spPr>
          <a:xfrm>
            <a:off x="539552" y="3409255"/>
            <a:ext cx="78128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/>
              <a:t>E</a:t>
            </a:r>
            <a:r>
              <a:rPr lang="fr-FR" sz="1400" b="1" dirty="0" smtClean="0"/>
              <a:t>valuation recrutement</a:t>
            </a:r>
            <a:endParaRPr lang="fr-FR" sz="1400" b="1" dirty="0"/>
          </a:p>
        </p:txBody>
      </p:sp>
      <p:sp>
        <p:nvSpPr>
          <p:cNvPr id="24" name="Ellipse 23"/>
          <p:cNvSpPr/>
          <p:nvPr/>
        </p:nvSpPr>
        <p:spPr>
          <a:xfrm>
            <a:off x="251520" y="4077072"/>
            <a:ext cx="8854952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8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7" name="ZoneTexte 26"/>
          <p:cNvSpPr txBox="1"/>
          <p:nvPr/>
        </p:nvSpPr>
        <p:spPr>
          <a:xfrm>
            <a:off x="-108520" y="642174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sz="1800" dirty="0"/>
              <a:t>« Aucun » modèle mis en œuvre pour évaluer la population entière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1260029" y="5805264"/>
            <a:ext cx="388803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fr-FR" dirty="0"/>
              <a:t> </a:t>
            </a:r>
            <a:r>
              <a:rPr lang="fr-FR" dirty="0" smtClean="0"/>
              <a:t>           </a:t>
            </a:r>
            <a:r>
              <a:rPr lang="fr-FR" dirty="0" smtClean="0">
                <a:latin typeface="Berlin Sans FB" panose="020E0602020502020306" pitchFamily="34" charset="0"/>
              </a:rPr>
              <a:t>Et un modèle à large échelle ?</a:t>
            </a:r>
            <a:endParaRPr lang="fr-FR" dirty="0">
              <a:latin typeface="Berlin Sans FB" panose="020E0602020502020306" pitchFamily="34" charset="0"/>
            </a:endParaRPr>
          </a:p>
        </p:txBody>
      </p:sp>
      <p:pic>
        <p:nvPicPr>
          <p:cNvPr id="1026" name="Picture 2" descr="See original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517232"/>
            <a:ext cx="936104" cy="88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e 18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21" name="Rectangle 20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à coins arrondis 24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6" name="Rectangle à coins arrondis 25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29" name="Rectangle à coins arrondis 28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6" name="Rectangle à coins arrondis 35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6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4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683568" y="1412776"/>
            <a:ext cx="7920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 smtClean="0"/>
              <a:t> GEREM (Glass Eel Recruitment Estimation Model) </a:t>
            </a:r>
            <a:r>
              <a:rPr lang="fr-FR" dirty="0" smtClean="0">
                <a:sym typeface="Wingdings" panose="05000000000000000000" pitchFamily="2" charset="2"/>
              </a:rPr>
              <a:t> Estimation du recrutement annuel absolu </a:t>
            </a:r>
            <a:r>
              <a:rPr lang="fr-FR" u="sng" dirty="0" smtClean="0">
                <a:sym typeface="Wingdings" panose="05000000000000000000" pitchFamily="2" charset="2"/>
              </a:rPr>
              <a:t>à trois échelles spatiales emboîtées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u="sng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u="sng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fr-FR" u="sng" dirty="0" smtClean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dirty="0">
                <a:sym typeface="Wingdings" panose="05000000000000000000" pitchFamily="2" charset="2"/>
              </a:rPr>
              <a:t> </a:t>
            </a:r>
            <a:r>
              <a:rPr lang="fr-FR" dirty="0" smtClean="0">
                <a:sym typeface="Wingdings" panose="05000000000000000000" pitchFamily="2" charset="2"/>
              </a:rPr>
              <a:t>Application à l’échelle de la France (</a:t>
            </a:r>
            <a:r>
              <a:rPr lang="fr-FR" i="1" dirty="0" smtClean="0">
                <a:sym typeface="Wingdings" panose="05000000000000000000" pitchFamily="2" charset="2"/>
              </a:rPr>
              <a:t>Drouineau et al., 2016</a:t>
            </a:r>
            <a:r>
              <a:rPr lang="fr-FR" dirty="0" smtClean="0">
                <a:sym typeface="Wingdings" panose="05000000000000000000" pitchFamily="2" charset="2"/>
              </a:rPr>
              <a:t>)</a:t>
            </a:r>
          </a:p>
          <a:p>
            <a:endParaRPr lang="fr-FR" dirty="0"/>
          </a:p>
        </p:txBody>
      </p:sp>
      <p:sp>
        <p:nvSpPr>
          <p:cNvPr id="10" name="Flèche à angle droit 9"/>
          <p:cNvSpPr/>
          <p:nvPr/>
        </p:nvSpPr>
        <p:spPr>
          <a:xfrm rot="5400000">
            <a:off x="2198223" y="2040613"/>
            <a:ext cx="481334" cy="665820"/>
          </a:xfrm>
          <a:prstGeom prst="bentUp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2880320" y="2276872"/>
            <a:ext cx="5652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Prise en compte de la dimension fractale du recrutement</a:t>
            </a:r>
            <a:endParaRPr lang="fr-FR" b="1" dirty="0"/>
          </a:p>
        </p:txBody>
      </p:sp>
      <p:sp>
        <p:nvSpPr>
          <p:cNvPr id="14" name="ZoneTexte 13"/>
          <p:cNvSpPr txBox="1"/>
          <p:nvPr/>
        </p:nvSpPr>
        <p:spPr>
          <a:xfrm>
            <a:off x="683568" y="3801814"/>
            <a:ext cx="7848872" cy="923330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 smtClean="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Comment utiliser les séries de recrutement dispersées à l’échelle de l’Europe pour dériver un indice de recrutement absolu par ajustement du modèle GEREM ?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9</a:t>
            </a:fld>
            <a:endParaRPr lang="fr-FR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-108520" y="642174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 sz="1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fr-FR" sz="1800" dirty="0"/>
              <a:t>Problématique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683568" y="5230941"/>
            <a:ext cx="7848872" cy="646331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fr-FR"/>
            </a:defPPr>
            <a:lvl1pPr marL="285750" indent="-285750">
              <a:buFont typeface="Wingdings" panose="05000000000000000000" pitchFamily="2" charset="2"/>
              <a:buChar char="Ø"/>
              <a:defRPr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fr-FR" dirty="0"/>
              <a:t>Dans quelles mesures la population Européenne est-elle affectée par des facteurs océaniques et atmosphériques ?</a:t>
            </a:r>
          </a:p>
        </p:txBody>
      </p:sp>
      <p:grpSp>
        <p:nvGrpSpPr>
          <p:cNvPr id="17" name="Groupe 1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8" name="Rectangle 1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à coins arrondis 18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1" name="Rectangle à coins arrondis 20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28" name="Rectangle à coins arrondis 2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29" name="Rectangle à coins arrondis 2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5322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107504" y="6433591"/>
            <a:ext cx="305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Année universitaire 2015-2016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2915816" y="6306485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Ingénieur agronome - Spécialisation Halieutique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Option Ressources et Ecosystèmes Aquatiques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10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0" y="2636912"/>
            <a:ext cx="9144000" cy="13831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Modélisation du recrutement</a:t>
            </a:r>
            <a:endParaRPr lang="en-US" sz="4400" dirty="0"/>
          </a:p>
        </p:txBody>
      </p:sp>
      <p:sp>
        <p:nvSpPr>
          <p:cNvPr id="24" name="Rectangle 23"/>
          <p:cNvSpPr/>
          <p:nvPr/>
        </p:nvSpPr>
        <p:spPr>
          <a:xfrm>
            <a:off x="0" y="4077072"/>
            <a:ext cx="9144000" cy="17364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eur droit 7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665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11</a:t>
            </a:fld>
            <a:endParaRPr lang="fr-FR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-324544" y="930206"/>
            <a:ext cx="9793088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Matériels et Méthodes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3528" y="2488828"/>
            <a:ext cx="8496944" cy="147732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 Recrutement fractal de l’Anguille: modélisation par GEREM</a:t>
            </a:r>
          </a:p>
          <a:p>
            <a:pPr marL="400050" indent="-400050">
              <a:buFont typeface="+mj-lt"/>
              <a:buAutoNum type="romanUcPeriod"/>
            </a:pPr>
            <a:endParaRPr lang="en-US" dirty="0" smtClean="0"/>
          </a:p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Séries temporelles de recrutement disponibles à l’échelle de l’Europe</a:t>
            </a:r>
          </a:p>
          <a:p>
            <a:pPr marL="400050" indent="-400050">
              <a:buFont typeface="+mj-lt"/>
              <a:buAutoNum type="romanUcPeriod"/>
            </a:pPr>
            <a:endParaRPr lang="en-US" dirty="0" smtClean="0"/>
          </a:p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DFA et vérification des hypothèses du modèle GEREM</a:t>
            </a:r>
          </a:p>
        </p:txBody>
      </p:sp>
      <p:grpSp>
        <p:nvGrpSpPr>
          <p:cNvPr id="26" name="Groupe 25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28" name="Pentagone 27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29" name="Pentagone 28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Pentagone 29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e 1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8" name="Rectangle 1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à coins arrondis 18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7" name="Rectangle à coins arrondis 2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1" name="Rectangle à coins arrondis 30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2" name="Rectangle à coins arrondis 31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8175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12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5" name="ZoneTexte 54"/>
          <p:cNvSpPr txBox="1"/>
          <p:nvPr/>
        </p:nvSpPr>
        <p:spPr>
          <a:xfrm>
            <a:off x="-108520" y="910461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fractal de l’Anguille: modélisation par GEREM</a:t>
            </a: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global et par 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zone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3" name="Groupe 12"/>
          <p:cNvGrpSpPr/>
          <p:nvPr/>
        </p:nvGrpSpPr>
        <p:grpSpPr>
          <a:xfrm>
            <a:off x="251520" y="1628800"/>
            <a:ext cx="8640960" cy="5055479"/>
            <a:chOff x="252730" y="1383800"/>
            <a:chExt cx="8495734" cy="5343511"/>
          </a:xfrm>
        </p:grpSpPr>
        <p:grpSp>
          <p:nvGrpSpPr>
            <p:cNvPr id="11" name="Groupe 10"/>
            <p:cNvGrpSpPr/>
            <p:nvPr/>
          </p:nvGrpSpPr>
          <p:grpSpPr>
            <a:xfrm>
              <a:off x="252730" y="1383800"/>
              <a:ext cx="8495734" cy="5069536"/>
              <a:chOff x="252730" y="1268760"/>
              <a:chExt cx="8495734" cy="5069536"/>
            </a:xfrm>
          </p:grpSpPr>
          <p:grpSp>
            <p:nvGrpSpPr>
              <p:cNvPr id="45" name="Groupe 44"/>
              <p:cNvGrpSpPr/>
              <p:nvPr/>
            </p:nvGrpSpPr>
            <p:grpSpPr>
              <a:xfrm>
                <a:off x="1115616" y="1268760"/>
                <a:ext cx="7632848" cy="5069536"/>
                <a:chOff x="107504" y="1268759"/>
                <a:chExt cx="7992888" cy="5522361"/>
              </a:xfrm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107504" y="1268759"/>
                  <a:ext cx="7992888" cy="5522361"/>
                  <a:chOff x="107504" y="1268759"/>
                  <a:chExt cx="7992888" cy="5522361"/>
                </a:xfrm>
              </p:grpSpPr>
              <p:pic>
                <p:nvPicPr>
                  <p:cNvPr id="8" name="Image 7"/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81924" y="1268759"/>
                    <a:ext cx="7218468" cy="5522361"/>
                  </a:xfrm>
                  <a:prstGeom prst="rect">
                    <a:avLst/>
                  </a:prstGeom>
                </p:spPr>
              </p:pic>
              <p:grpSp>
                <p:nvGrpSpPr>
                  <p:cNvPr id="42" name="Groupe 41"/>
                  <p:cNvGrpSpPr/>
                  <p:nvPr/>
                </p:nvGrpSpPr>
                <p:grpSpPr>
                  <a:xfrm>
                    <a:off x="107504" y="2241265"/>
                    <a:ext cx="5688632" cy="4320083"/>
                    <a:chOff x="107504" y="2241265"/>
                    <a:chExt cx="5688632" cy="4320083"/>
                  </a:xfrm>
                </p:grpSpPr>
                <p:sp>
                  <p:nvSpPr>
                    <p:cNvPr id="12" name="Flèche droite 11"/>
                    <p:cNvSpPr/>
                    <p:nvPr/>
                  </p:nvSpPr>
                  <p:spPr>
                    <a:xfrm>
                      <a:off x="107504" y="3861048"/>
                      <a:ext cx="1739552" cy="319844"/>
                    </a:xfrm>
                    <a:prstGeom prst="rightArrow">
                      <a:avLst/>
                    </a:prstGeom>
                    <a:solidFill>
                      <a:schemeClr val="bg2"/>
                    </a:solidFill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94" name="Flèche droite 93"/>
                    <p:cNvSpPr/>
                    <p:nvPr/>
                  </p:nvSpPr>
                  <p:spPr>
                    <a:xfrm rot="20489175">
                      <a:off x="1870024" y="3556036"/>
                      <a:ext cx="2180013" cy="117971"/>
                    </a:xfrm>
                    <a:prstGeom prst="rightArrow">
                      <a:avLst>
                        <a:gd name="adj1" fmla="val 50000"/>
                        <a:gd name="adj2" fmla="val 52296"/>
                      </a:avLst>
                    </a:prstGeom>
                    <a:solidFill>
                      <a:srgbClr val="92D050"/>
                    </a:solidFill>
                    <a:ln>
                      <a:solidFill>
                        <a:srgbClr val="92D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95" name="Flèche droite 94"/>
                    <p:cNvSpPr/>
                    <p:nvPr/>
                  </p:nvSpPr>
                  <p:spPr>
                    <a:xfrm>
                      <a:off x="1925802" y="3959721"/>
                      <a:ext cx="2565356" cy="98674"/>
                    </a:xfrm>
                    <a:prstGeom prst="rightArrow">
                      <a:avLst/>
                    </a:prstGeom>
                    <a:solidFill>
                      <a:srgbClr val="5548B8"/>
                    </a:solidFill>
                    <a:ln>
                      <a:solidFill>
                        <a:srgbClr val="5548B8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96" name="Flèche droite 95"/>
                    <p:cNvSpPr/>
                    <p:nvPr/>
                  </p:nvSpPr>
                  <p:spPr>
                    <a:xfrm rot="870181">
                      <a:off x="1904722" y="4269224"/>
                      <a:ext cx="2476104" cy="116614"/>
                    </a:xfrm>
                    <a:prstGeom prst="rightArrow">
                      <a:avLst>
                        <a:gd name="adj1" fmla="val 50000"/>
                        <a:gd name="adj2" fmla="val 52296"/>
                      </a:avLst>
                    </a:prstGeom>
                    <a:solidFill>
                      <a:srgbClr val="FF5050"/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sp>
                  <p:nvSpPr>
                    <p:cNvPr id="97" name="Flèche droite 96"/>
                    <p:cNvSpPr/>
                    <p:nvPr/>
                  </p:nvSpPr>
                  <p:spPr>
                    <a:xfrm rot="2780113" flipV="1">
                      <a:off x="1646147" y="4727385"/>
                      <a:ext cx="2129154" cy="127541"/>
                    </a:xfrm>
                    <a:prstGeom prst="rightArrow">
                      <a:avLst>
                        <a:gd name="adj1" fmla="val 50000"/>
                        <a:gd name="adj2" fmla="val 52296"/>
                      </a:avLst>
                    </a:prstGeom>
                    <a:solidFill>
                      <a:srgbClr val="00B050"/>
                    </a:solidFill>
                    <a:ln>
                      <a:solidFill>
                        <a:srgbClr val="00B05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cxnSp>
                  <p:nvCxnSpPr>
                    <p:cNvPr id="33" name="Connecteur droit 32"/>
                    <p:cNvCxnSpPr>
                      <a:stCxn id="97" idx="1"/>
                    </p:cNvCxnSpPr>
                    <p:nvPr/>
                  </p:nvCxnSpPr>
                  <p:spPr>
                    <a:xfrm flipV="1">
                      <a:off x="1975700" y="2276872"/>
                      <a:ext cx="2164252" cy="1744177"/>
                    </a:xfrm>
                    <a:prstGeom prst="line">
                      <a:avLst/>
                    </a:prstGeom>
                    <a:ln w="76200">
                      <a:solidFill>
                        <a:srgbClr val="00B0F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6" name="Flèche droite 35"/>
                    <p:cNvSpPr/>
                    <p:nvPr/>
                  </p:nvSpPr>
                  <p:spPr>
                    <a:xfrm>
                      <a:off x="4126632" y="2241265"/>
                      <a:ext cx="1669504" cy="72008"/>
                    </a:xfrm>
                    <a:prstGeom prst="rightArrow">
                      <a:avLst/>
                    </a:prstGeom>
                    <a:solidFill>
                      <a:srgbClr val="00B0F0"/>
                    </a:solidFill>
                    <a:ln>
                      <a:solidFill>
                        <a:srgbClr val="00B0F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  <p:cxnSp>
                  <p:nvCxnSpPr>
                    <p:cNvPr id="98" name="Connecteur droit 97"/>
                    <p:cNvCxnSpPr>
                      <a:stCxn id="96" idx="1"/>
                    </p:cNvCxnSpPr>
                    <p:nvPr/>
                  </p:nvCxnSpPr>
                  <p:spPr>
                    <a:xfrm>
                      <a:off x="1944173" y="4017484"/>
                      <a:ext cx="1266053" cy="2507860"/>
                    </a:xfrm>
                    <a:prstGeom prst="line">
                      <a:avLst/>
                    </a:prstGeom>
                    <a:ln w="76200"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9" name="Flèche droite 98"/>
                    <p:cNvSpPr/>
                    <p:nvPr/>
                  </p:nvSpPr>
                  <p:spPr>
                    <a:xfrm>
                      <a:off x="3177604" y="6489340"/>
                      <a:ext cx="2186483" cy="72008"/>
                    </a:xfrm>
                    <a:prstGeom prst="rightArrow">
                      <a:avLst/>
                    </a:prstGeom>
                    <a:solidFill>
                      <a:srgbClr val="A9A86C"/>
                    </a:solidFill>
                    <a:ln>
                      <a:solidFill>
                        <a:schemeClr val="accent5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</p:grpSp>
            <p:sp>
              <p:nvSpPr>
                <p:cNvPr id="44" name="ZoneTexte 43"/>
                <p:cNvSpPr txBox="1"/>
                <p:nvPr/>
              </p:nvSpPr>
              <p:spPr>
                <a:xfrm>
                  <a:off x="5580112" y="2267580"/>
                  <a:ext cx="720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R</a:t>
                  </a:r>
                  <a:r>
                    <a:rPr lang="fr-FR" sz="1200" dirty="0" smtClean="0"/>
                    <a:t>1</a:t>
                  </a:r>
                  <a:r>
                    <a:rPr lang="fr-FR" sz="1600" dirty="0" smtClean="0"/>
                    <a:t>(y)</a:t>
                  </a:r>
                  <a:endParaRPr lang="fr-FR" sz="1600" dirty="0"/>
                </a:p>
              </p:txBody>
            </p:sp>
            <p:sp>
              <p:nvSpPr>
                <p:cNvPr id="100" name="ZoneTexte 99"/>
                <p:cNvSpPr txBox="1"/>
                <p:nvPr/>
              </p:nvSpPr>
              <p:spPr>
                <a:xfrm>
                  <a:off x="323528" y="3356992"/>
                  <a:ext cx="1152128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800" dirty="0" smtClean="0"/>
                    <a:t>R</a:t>
                  </a:r>
                  <a:r>
                    <a:rPr lang="fr-FR" dirty="0"/>
                    <a:t>g</a:t>
                  </a:r>
                  <a:r>
                    <a:rPr lang="fr-FR" sz="2400" dirty="0" smtClean="0"/>
                    <a:t>(y)</a:t>
                  </a:r>
                  <a:endParaRPr lang="fr-FR" sz="2400" dirty="0"/>
                </a:p>
              </p:txBody>
            </p:sp>
            <p:sp>
              <p:nvSpPr>
                <p:cNvPr id="101" name="ZoneTexte 100"/>
                <p:cNvSpPr txBox="1"/>
                <p:nvPr/>
              </p:nvSpPr>
              <p:spPr>
                <a:xfrm>
                  <a:off x="3766592" y="3347700"/>
                  <a:ext cx="720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R</a:t>
                  </a:r>
                  <a:r>
                    <a:rPr lang="fr-FR" sz="1200" dirty="0"/>
                    <a:t>2</a:t>
                  </a:r>
                  <a:r>
                    <a:rPr lang="fr-FR" sz="1600" dirty="0" smtClean="0"/>
                    <a:t>(y)</a:t>
                  </a:r>
                  <a:endParaRPr lang="fr-FR" sz="1600" dirty="0"/>
                </a:p>
              </p:txBody>
            </p:sp>
            <p:sp>
              <p:nvSpPr>
                <p:cNvPr id="102" name="ZoneTexte 101"/>
                <p:cNvSpPr txBox="1"/>
                <p:nvPr/>
              </p:nvSpPr>
              <p:spPr>
                <a:xfrm>
                  <a:off x="3995936" y="4005064"/>
                  <a:ext cx="720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R</a:t>
                  </a:r>
                  <a:r>
                    <a:rPr lang="fr-FR" sz="1200" dirty="0" smtClean="0"/>
                    <a:t>3</a:t>
                  </a:r>
                  <a:r>
                    <a:rPr lang="fr-FR" sz="1600" dirty="0" smtClean="0"/>
                    <a:t>(y)</a:t>
                  </a:r>
                  <a:endParaRPr lang="fr-FR" sz="1600" dirty="0"/>
                </a:p>
              </p:txBody>
            </p:sp>
            <p:sp>
              <p:nvSpPr>
                <p:cNvPr id="103" name="ZoneTexte 102"/>
                <p:cNvSpPr txBox="1"/>
                <p:nvPr/>
              </p:nvSpPr>
              <p:spPr>
                <a:xfrm>
                  <a:off x="4283968" y="4499828"/>
                  <a:ext cx="720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R</a:t>
                  </a:r>
                  <a:r>
                    <a:rPr lang="fr-FR" sz="1200" dirty="0"/>
                    <a:t>4</a:t>
                  </a:r>
                  <a:r>
                    <a:rPr lang="fr-FR" sz="1600" dirty="0" smtClean="0"/>
                    <a:t>(y)</a:t>
                  </a:r>
                  <a:endParaRPr lang="fr-FR" sz="1600" dirty="0"/>
                </a:p>
              </p:txBody>
            </p:sp>
            <p:sp>
              <p:nvSpPr>
                <p:cNvPr id="104" name="ZoneTexte 103"/>
                <p:cNvSpPr txBox="1"/>
                <p:nvPr/>
              </p:nvSpPr>
              <p:spPr>
                <a:xfrm>
                  <a:off x="2987824" y="5507940"/>
                  <a:ext cx="720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R</a:t>
                  </a:r>
                  <a:r>
                    <a:rPr lang="fr-FR" sz="1200" dirty="0" smtClean="0"/>
                    <a:t>5</a:t>
                  </a:r>
                  <a:r>
                    <a:rPr lang="fr-FR" sz="1600" dirty="0" smtClean="0"/>
                    <a:t>(y)</a:t>
                  </a:r>
                  <a:endParaRPr lang="fr-FR" sz="1600" dirty="0"/>
                </a:p>
              </p:txBody>
            </p:sp>
            <p:sp>
              <p:nvSpPr>
                <p:cNvPr id="105" name="ZoneTexte 104"/>
                <p:cNvSpPr txBox="1"/>
                <p:nvPr/>
              </p:nvSpPr>
              <p:spPr>
                <a:xfrm>
                  <a:off x="5364088" y="6372036"/>
                  <a:ext cx="7200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dirty="0" smtClean="0"/>
                    <a:t>R</a:t>
                  </a:r>
                  <a:r>
                    <a:rPr lang="fr-FR" sz="1200" dirty="0"/>
                    <a:t>6</a:t>
                  </a:r>
                  <a:r>
                    <a:rPr lang="fr-FR" sz="1600" dirty="0" smtClean="0"/>
                    <a:t>(y)</a:t>
                  </a:r>
                  <a:endParaRPr lang="fr-FR" sz="1600" dirty="0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ZoneTexte 49"/>
                  <p:cNvSpPr txBox="1"/>
                  <p:nvPr/>
                </p:nvSpPr>
                <p:spPr>
                  <a:xfrm>
                    <a:off x="252730" y="1456452"/>
                    <a:ext cx="2604353" cy="8642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u="sng" dirty="0" smtClean="0"/>
                      <a:t>Marche aléatoire</a:t>
                    </a:r>
                    <a:endParaRPr lang="fr-FR" dirty="0" smtClean="0"/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400" i="1">
                              <a:latin typeface="Cambria Math"/>
                            </a:rPr>
                            <m:t>𝑅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sz="1400" i="1">
                              <a:latin typeface="Cambria Math"/>
                            </a:rPr>
                            <m:t>=</m:t>
                          </m:r>
                          <m:r>
                            <a:rPr lang="en-US" sz="1400" i="1">
                              <a:latin typeface="Cambria Math"/>
                            </a:rPr>
                            <m:t>𝑅</m:t>
                          </m:r>
                          <m:d>
                            <m:dPr>
                              <m:ctrlPr>
                                <a:rPr lang="fr-FR" sz="14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1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  <m:r>
                            <a:rPr lang="en-US" sz="1400" i="1">
                              <a:latin typeface="Cambria Math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4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1">
                                  <a:latin typeface="Cambria Math"/>
                                </a:rPr>
                                <m:t>𝜖</m:t>
                              </m:r>
                              <m:d>
                                <m:dPr>
                                  <m:ctrlPr>
                                    <a:rPr lang="fr-FR" sz="1400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1400" i="1">
                              <a:latin typeface="Cambria Math"/>
                            </a:rPr>
                            <m:t> ∈(</m:t>
                          </m:r>
                          <m:r>
                            <a:rPr lang="en-US" sz="1400" i="1">
                              <a:latin typeface="Cambria Math"/>
                            </a:rPr>
                            <m:t>𝑦</m:t>
                          </m:r>
                          <m:r>
                            <a:rPr lang="en-US" sz="1400" i="1">
                              <a:latin typeface="Cambria Math"/>
                            </a:rPr>
                            <m:t>)~</m:t>
                          </m:r>
                          <m:r>
                            <a:rPr lang="en-US" sz="1400" i="1">
                              <a:latin typeface="Cambria Math"/>
                            </a:rPr>
                            <m:t>𝑁𝑜𝑟𝑚𝑎𝑙</m:t>
                          </m:r>
                          <m:r>
                            <a:rPr lang="en-US" sz="1400" i="1">
                              <a:latin typeface="Cambria Math"/>
                            </a:rPr>
                            <m:t>(0,</m:t>
                          </m:r>
                          <m:sSubSup>
                            <m:sSubSupPr>
                              <m:ctrlPr>
                                <a:rPr lang="fr-FR" sz="1400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sz="1400" i="1">
                              <a:latin typeface="Cambria Math"/>
                            </a:rPr>
                            <m:t>)</m:t>
                          </m:r>
                        </m:oMath>
                      </m:oMathPara>
                    </a14:m>
                    <a:endParaRPr lang="fr-FR" sz="2400" dirty="0"/>
                  </a:p>
                </p:txBody>
              </p:sp>
            </mc:Choice>
            <mc:Fallback xmlns="">
              <p:sp>
                <p:nvSpPr>
                  <p:cNvPr id="50" name="ZoneTexte 4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2730" y="1456452"/>
                    <a:ext cx="2604353" cy="864246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3731" b="-2239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ZoneTexte 112"/>
                  <p:cNvSpPr txBox="1"/>
                  <p:nvPr/>
                </p:nvSpPr>
                <p:spPr>
                  <a:xfrm>
                    <a:off x="2730653" y="1484784"/>
                    <a:ext cx="2898764" cy="6128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u="sng" dirty="0" smtClean="0"/>
                      <a:t>Loi multinomiale</a:t>
                    </a:r>
                  </a:p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fr-FR" sz="1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latin typeface="Cambria Math"/>
                              </a:rPr>
                              <m:t>𝑍</m:t>
                            </m:r>
                          </m:sub>
                        </m:sSub>
                        <m:d>
                          <m:dPr>
                            <m:ctrlPr>
                              <a:rPr lang="fr-FR" sz="1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r>
                          <a:rPr lang="en-US" sz="1400" i="1">
                            <a:latin typeface="Cambria Math"/>
                          </a:rPr>
                          <m:t> ~ </m:t>
                        </m:r>
                        <m:r>
                          <a:rPr lang="en-US" sz="1400" i="1">
                            <a:latin typeface="Cambria Math"/>
                          </a:rPr>
                          <m:t>𝑁𝑜𝑟𝑚𝑎𝑙</m:t>
                        </m:r>
                        <m:r>
                          <a:rPr lang="en-US" sz="1400" i="1">
                            <a:latin typeface="Cambria Math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lang="en-US" sz="1400" i="1">
                            <a:latin typeface="Cambria Math"/>
                          </a:rPr>
                          <m:t>R</m:t>
                        </m:r>
                        <m:d>
                          <m:dPr>
                            <m:ctrlPr>
                              <a:rPr lang="fr-FR" sz="1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r>
                          <a:rPr lang="en-US" sz="1400" i="1">
                            <a:latin typeface="Cambria Math"/>
                          </a:rPr>
                          <m:t>∗</m:t>
                        </m:r>
                        <m:sSub>
                          <m:sSubPr>
                            <m:ctrlPr>
                              <a:rPr lang="fr-FR" sz="14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400" i="1">
                                <a:latin typeface="Cambria Math"/>
                              </a:rPr>
                              <m:t>𝑧</m:t>
                            </m:r>
                          </m:sub>
                        </m:sSub>
                        <m:r>
                          <a:rPr lang="en-US" sz="1400" i="1">
                            <a:latin typeface="Cambria Math"/>
                          </a:rPr>
                          <m:t> </m:t>
                        </m:r>
                        <m:d>
                          <m:dPr>
                            <m:ctrlPr>
                              <a:rPr lang="fr-FR" sz="1400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latin typeface="Cambria Math"/>
                              </a:rPr>
                              <m:t>𝑦</m:t>
                            </m:r>
                          </m:e>
                        </m:d>
                      </m:oMath>
                    </a14:m>
                    <a:r>
                      <a:rPr lang="fr-FR" sz="1050" i="1" dirty="0" smtClean="0"/>
                      <a:t>)</a:t>
                    </a:r>
                    <a:endParaRPr lang="fr-FR" sz="1050" i="1" dirty="0"/>
                  </a:p>
                </p:txBody>
              </p:sp>
            </mc:Choice>
            <mc:Fallback xmlns="">
              <p:sp>
                <p:nvSpPr>
                  <p:cNvPr id="113" name="ZoneTexte 1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30653" y="1484784"/>
                    <a:ext cx="2898764" cy="61287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5263" b="-526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51" name="Image 50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3528" y="4593675"/>
                <a:ext cx="1800200" cy="1564947"/>
              </a:xfrm>
              <a:prstGeom prst="rect">
                <a:avLst/>
              </a:prstGeom>
            </p:spPr>
          </p:pic>
        </p:grpSp>
        <p:grpSp>
          <p:nvGrpSpPr>
            <p:cNvPr id="52" name="Groupe 51"/>
            <p:cNvGrpSpPr/>
            <p:nvPr/>
          </p:nvGrpSpPr>
          <p:grpSpPr>
            <a:xfrm>
              <a:off x="2886200" y="1383800"/>
              <a:ext cx="29616" cy="5343511"/>
              <a:chOff x="1835696" y="1383800"/>
              <a:chExt cx="29616" cy="5343511"/>
            </a:xfrm>
          </p:grpSpPr>
          <p:cxnSp>
            <p:nvCxnSpPr>
              <p:cNvPr id="47" name="Connecteur droit 46"/>
              <p:cNvCxnSpPr/>
              <p:nvPr/>
            </p:nvCxnSpPr>
            <p:spPr>
              <a:xfrm flipV="1">
                <a:off x="1847056" y="3212976"/>
                <a:ext cx="0" cy="51334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necteur droit 105"/>
              <p:cNvCxnSpPr/>
              <p:nvPr/>
            </p:nvCxnSpPr>
            <p:spPr>
              <a:xfrm flipV="1">
                <a:off x="1847056" y="2564904"/>
                <a:ext cx="0" cy="51334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Connecteur droit 106"/>
              <p:cNvCxnSpPr/>
              <p:nvPr/>
            </p:nvCxnSpPr>
            <p:spPr>
              <a:xfrm flipV="1">
                <a:off x="1836737" y="1916832"/>
                <a:ext cx="0" cy="51334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Connecteur droit 107"/>
              <p:cNvCxnSpPr/>
              <p:nvPr/>
            </p:nvCxnSpPr>
            <p:spPr>
              <a:xfrm flipV="1">
                <a:off x="1835696" y="1383800"/>
                <a:ext cx="0" cy="398308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Connecteur droit 108"/>
              <p:cNvCxnSpPr/>
              <p:nvPr/>
            </p:nvCxnSpPr>
            <p:spPr>
              <a:xfrm flipV="1">
                <a:off x="1865312" y="3933056"/>
                <a:ext cx="0" cy="51334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Connecteur droit 109"/>
              <p:cNvCxnSpPr/>
              <p:nvPr/>
            </p:nvCxnSpPr>
            <p:spPr>
              <a:xfrm flipV="1">
                <a:off x="1865312" y="4581128"/>
                <a:ext cx="0" cy="51334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Connecteur droit 110"/>
              <p:cNvCxnSpPr/>
              <p:nvPr/>
            </p:nvCxnSpPr>
            <p:spPr>
              <a:xfrm flipV="1">
                <a:off x="1865312" y="5301208"/>
                <a:ext cx="0" cy="513348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Connecteur droit 111"/>
              <p:cNvCxnSpPr/>
              <p:nvPr/>
            </p:nvCxnSpPr>
            <p:spPr>
              <a:xfrm flipV="1">
                <a:off x="1865312" y="5949280"/>
                <a:ext cx="0" cy="778031"/>
              </a:xfrm>
              <a:prstGeom prst="line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Ellipse 2"/>
          <p:cNvSpPr/>
          <p:nvPr/>
        </p:nvSpPr>
        <p:spPr>
          <a:xfrm>
            <a:off x="4788025" y="2060848"/>
            <a:ext cx="792088" cy="411464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3" name="Groupe 52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54" name="Rectangle 53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à coins arrondis 55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7" name="Rectangle à coins arrondis 6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68" name="Rectangle à coins arrondis 6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9" name="Rectangle à coins arrondis 6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70" name="Groupe 69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71" name="Pentagone 70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72" name="Pentagone 71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3" name="Pentagone 72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3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/>
          <p:cNvGrpSpPr/>
          <p:nvPr/>
        </p:nvGrpSpPr>
        <p:grpSpPr>
          <a:xfrm>
            <a:off x="3318649" y="1502201"/>
            <a:ext cx="5717847" cy="4951135"/>
            <a:chOff x="3318649" y="1286177"/>
            <a:chExt cx="5717847" cy="4951135"/>
          </a:xfrm>
        </p:grpSpPr>
        <p:grpSp>
          <p:nvGrpSpPr>
            <p:cNvPr id="19" name="Groupe 18"/>
            <p:cNvGrpSpPr/>
            <p:nvPr/>
          </p:nvGrpSpPr>
          <p:grpSpPr>
            <a:xfrm>
              <a:off x="3318649" y="1286177"/>
              <a:ext cx="5717847" cy="4951135"/>
              <a:chOff x="3318649" y="1286177"/>
              <a:chExt cx="5717847" cy="4951135"/>
            </a:xfrm>
          </p:grpSpPr>
          <p:grpSp>
            <p:nvGrpSpPr>
              <p:cNvPr id="11" name="Groupe 10"/>
              <p:cNvGrpSpPr/>
              <p:nvPr/>
            </p:nvGrpSpPr>
            <p:grpSpPr>
              <a:xfrm>
                <a:off x="3318649" y="1286177"/>
                <a:ext cx="4421704" cy="4951135"/>
                <a:chOff x="4079064" y="1286177"/>
                <a:chExt cx="4536504" cy="5455191"/>
              </a:xfrm>
            </p:grpSpPr>
            <p:pic>
              <p:nvPicPr>
                <p:cNvPr id="2" name="Image 1"/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32040" y="1286177"/>
                  <a:ext cx="3683528" cy="5455191"/>
                </a:xfrm>
                <a:prstGeom prst="rect">
                  <a:avLst/>
                </a:prstGeom>
                <a:ln w="19050">
                  <a:noFill/>
                </a:ln>
              </p:spPr>
            </p:pic>
            <p:sp>
              <p:nvSpPr>
                <p:cNvPr id="30" name="ZoneTexte 29"/>
                <p:cNvSpPr txBox="1"/>
                <p:nvPr/>
              </p:nvSpPr>
              <p:spPr>
                <a:xfrm>
                  <a:off x="4079064" y="3388930"/>
                  <a:ext cx="72008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 sz="2000" dirty="0" smtClean="0"/>
                    <a:t>R</a:t>
                  </a:r>
                  <a:r>
                    <a:rPr lang="fr-FR" sz="1200" dirty="0"/>
                    <a:t>4</a:t>
                  </a:r>
                  <a:r>
                    <a:rPr lang="fr-FR" sz="2000" dirty="0" smtClean="0"/>
                    <a:t>(y)</a:t>
                  </a:r>
                  <a:endParaRPr lang="fr-FR" sz="2000" dirty="0"/>
                </a:p>
              </p:txBody>
            </p:sp>
            <p:sp>
              <p:nvSpPr>
                <p:cNvPr id="10" name="Flèche droite 9"/>
                <p:cNvSpPr/>
                <p:nvPr/>
              </p:nvSpPr>
              <p:spPr>
                <a:xfrm rot="19713377">
                  <a:off x="5095574" y="3270991"/>
                  <a:ext cx="2193211" cy="135998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2" name="Flèche droite 31"/>
                <p:cNvSpPr/>
                <p:nvPr/>
              </p:nvSpPr>
              <p:spPr>
                <a:xfrm rot="20338138">
                  <a:off x="5171520" y="3474545"/>
                  <a:ext cx="2100313" cy="119277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4" name="Flèche droite 33"/>
                <p:cNvSpPr/>
                <p:nvPr/>
              </p:nvSpPr>
              <p:spPr>
                <a:xfrm rot="20999655">
                  <a:off x="5301886" y="3690125"/>
                  <a:ext cx="2185622" cy="99219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5" name="Flèche droite 34"/>
                <p:cNvSpPr/>
                <p:nvPr/>
              </p:nvSpPr>
              <p:spPr>
                <a:xfrm>
                  <a:off x="5309887" y="3892134"/>
                  <a:ext cx="2185622" cy="99219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Flèche droite 36"/>
                <p:cNvSpPr/>
                <p:nvPr/>
              </p:nvSpPr>
              <p:spPr>
                <a:xfrm rot="607020">
                  <a:off x="5346983" y="4124247"/>
                  <a:ext cx="2185622" cy="99219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Flèche droite 37"/>
                <p:cNvSpPr/>
                <p:nvPr/>
              </p:nvSpPr>
              <p:spPr>
                <a:xfrm rot="1622367">
                  <a:off x="5197150" y="4416242"/>
                  <a:ext cx="2278091" cy="130114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Flèche droite 38"/>
                <p:cNvSpPr/>
                <p:nvPr/>
              </p:nvSpPr>
              <p:spPr>
                <a:xfrm rot="2419206">
                  <a:off x="4954337" y="4762577"/>
                  <a:ext cx="2467878" cy="113754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Flèche droite 39"/>
                <p:cNvSpPr/>
                <p:nvPr/>
              </p:nvSpPr>
              <p:spPr>
                <a:xfrm rot="18339162">
                  <a:off x="4797457" y="2973189"/>
                  <a:ext cx="2222642" cy="122269"/>
                </a:xfrm>
                <a:prstGeom prst="rightArrow">
                  <a:avLst/>
                </a:pr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" name="Flèche droite 8"/>
                <p:cNvSpPr/>
                <p:nvPr/>
              </p:nvSpPr>
              <p:spPr>
                <a:xfrm>
                  <a:off x="4109038" y="3761723"/>
                  <a:ext cx="1296144" cy="360041"/>
                </a:xfrm>
                <a:prstGeom prst="rightArrow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14" name="ZoneTexte 13"/>
              <p:cNvSpPr txBox="1"/>
              <p:nvPr/>
            </p:nvSpPr>
            <p:spPr>
              <a:xfrm>
                <a:off x="7596336" y="1762938"/>
                <a:ext cx="1440160" cy="3970318"/>
              </a:xfrm>
              <a:prstGeom prst="rect">
                <a:avLst/>
              </a:prstGeom>
              <a:solidFill>
                <a:schemeClr val="accent6"/>
              </a:solidFill>
              <a:ln w="19050">
                <a:solidFill>
                  <a:schemeClr val="accent6">
                    <a:lumMod val="7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dirty="0" smtClean="0"/>
                  <a:t>Rc1(y)</a:t>
                </a:r>
              </a:p>
              <a:p>
                <a:endParaRPr lang="fr-FR" dirty="0"/>
              </a:p>
              <a:p>
                <a:r>
                  <a:rPr lang="fr-FR" dirty="0" smtClean="0"/>
                  <a:t>Rc2(y)</a:t>
                </a:r>
              </a:p>
              <a:p>
                <a:endParaRPr lang="fr-FR" dirty="0"/>
              </a:p>
              <a:p>
                <a:r>
                  <a:rPr lang="fr-FR" dirty="0" smtClean="0"/>
                  <a:t>Rc3(y)</a:t>
                </a:r>
              </a:p>
              <a:p>
                <a:r>
                  <a:rPr lang="fr-FR" dirty="0" smtClean="0"/>
                  <a:t>….</a:t>
                </a:r>
              </a:p>
              <a:p>
                <a:r>
                  <a:rPr lang="fr-FR" dirty="0" smtClean="0"/>
                  <a:t>….</a:t>
                </a:r>
              </a:p>
              <a:p>
                <a:endParaRPr lang="fr-FR" dirty="0" smtClean="0"/>
              </a:p>
              <a:p>
                <a:r>
                  <a:rPr lang="fr-FR" dirty="0" smtClean="0"/>
                  <a:t>….</a:t>
                </a:r>
              </a:p>
              <a:p>
                <a:endParaRPr lang="fr-FR" dirty="0"/>
              </a:p>
              <a:p>
                <a:r>
                  <a:rPr lang="fr-FR" dirty="0" smtClean="0"/>
                  <a:t>…..</a:t>
                </a:r>
              </a:p>
              <a:p>
                <a:endParaRPr lang="fr-FR" dirty="0"/>
              </a:p>
              <a:p>
                <a:endParaRPr lang="fr-FR" dirty="0" smtClean="0"/>
              </a:p>
              <a:p>
                <a:r>
                  <a:rPr lang="fr-FR" dirty="0" smtClean="0"/>
                  <a:t>Rc</a:t>
                </a:r>
                <a:r>
                  <a:rPr lang="fr-FR" sz="1400" dirty="0" smtClean="0"/>
                  <a:t>n</a:t>
                </a:r>
                <a:r>
                  <a:rPr lang="fr-FR" dirty="0" smtClean="0"/>
                  <a:t>(y)</a:t>
                </a:r>
              </a:p>
            </p:txBody>
          </p:sp>
        </p:grpSp>
        <p:sp>
          <p:nvSpPr>
            <p:cNvPr id="3" name="Étoile à 5 branches 2"/>
            <p:cNvSpPr/>
            <p:nvPr/>
          </p:nvSpPr>
          <p:spPr>
            <a:xfrm>
              <a:off x="6324886" y="2348880"/>
              <a:ext cx="307576" cy="290029"/>
            </a:xfrm>
            <a:prstGeom prst="star5">
              <a:avLst/>
            </a:prstGeom>
            <a:solidFill>
              <a:srgbClr val="A9A86C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Triangle isocèle 3"/>
            <p:cNvSpPr/>
            <p:nvPr/>
          </p:nvSpPr>
          <p:spPr>
            <a:xfrm>
              <a:off x="6444208" y="2780928"/>
              <a:ext cx="269876" cy="216024"/>
            </a:xfrm>
            <a:prstGeom prst="triangle">
              <a:avLst/>
            </a:prstGeom>
            <a:solidFill>
              <a:srgbClr val="A9A86C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Triangle isocèle 42"/>
            <p:cNvSpPr/>
            <p:nvPr/>
          </p:nvSpPr>
          <p:spPr>
            <a:xfrm>
              <a:off x="6660232" y="3149312"/>
              <a:ext cx="269876" cy="247473"/>
            </a:xfrm>
            <a:prstGeom prst="triangle">
              <a:avLst/>
            </a:prstGeom>
            <a:solidFill>
              <a:srgbClr val="A9A86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Triangle isocèle 43"/>
            <p:cNvSpPr/>
            <p:nvPr/>
          </p:nvSpPr>
          <p:spPr>
            <a:xfrm>
              <a:off x="6678388" y="3528305"/>
              <a:ext cx="269876" cy="260735"/>
            </a:xfrm>
            <a:prstGeom prst="triangle">
              <a:avLst/>
            </a:prstGeom>
            <a:solidFill>
              <a:srgbClr val="A9A86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Triangle isocèle 44"/>
            <p:cNvSpPr/>
            <p:nvPr/>
          </p:nvSpPr>
          <p:spPr>
            <a:xfrm>
              <a:off x="6660232" y="3989657"/>
              <a:ext cx="269876" cy="231431"/>
            </a:xfrm>
            <a:prstGeom prst="triangle">
              <a:avLst/>
            </a:prstGeom>
            <a:solidFill>
              <a:srgbClr val="A9A86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Triangle isocèle 45"/>
            <p:cNvSpPr/>
            <p:nvPr/>
          </p:nvSpPr>
          <p:spPr>
            <a:xfrm>
              <a:off x="6516216" y="4509120"/>
              <a:ext cx="269876" cy="247785"/>
            </a:xfrm>
            <a:prstGeom prst="triangle">
              <a:avLst/>
            </a:prstGeom>
            <a:solidFill>
              <a:srgbClr val="A9A86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Triangle isocèle 46"/>
            <p:cNvSpPr/>
            <p:nvPr/>
          </p:nvSpPr>
          <p:spPr>
            <a:xfrm>
              <a:off x="6300192" y="5157192"/>
              <a:ext cx="269876" cy="222337"/>
            </a:xfrm>
            <a:prstGeom prst="triangle">
              <a:avLst/>
            </a:prstGeom>
            <a:solidFill>
              <a:srgbClr val="A9A86C"/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Triangle isocèle 48"/>
            <p:cNvSpPr/>
            <p:nvPr/>
          </p:nvSpPr>
          <p:spPr>
            <a:xfrm>
              <a:off x="5742284" y="1805305"/>
              <a:ext cx="269876" cy="255543"/>
            </a:xfrm>
            <a:prstGeom prst="triangle">
              <a:avLst/>
            </a:prstGeom>
            <a:solidFill>
              <a:srgbClr val="A9A86C"/>
            </a:solidFill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259632" y="1634001"/>
                <a:ext cx="3811447" cy="498855"/>
              </a:xfrm>
              <a:prstGeom prst="rect">
                <a:avLst/>
              </a:prstGeom>
              <a:solidFill>
                <a:srgbClr val="F2EB5A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400" b="1" i="1" dirty="0" smtClean="0"/>
                  <a:t>Loi multinomiale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100" b="1" i="1">
                              <a:latin typeface="Cambria Math"/>
                            </a:rPr>
                            <m:t>𝒄</m:t>
                          </m:r>
                          <m:r>
                            <a:rPr lang="en-US" sz="1100" b="1" i="1">
                              <a:latin typeface="Cambria Math"/>
                            </a:rPr>
                            <m:t>,</m:t>
                          </m:r>
                          <m:r>
                            <a:rPr lang="en-US" sz="1100" b="1" i="1">
                              <a:latin typeface="Cambria Math"/>
                            </a:rPr>
                            <m:t>𝒛</m:t>
                          </m:r>
                          <m:r>
                            <a:rPr lang="en-US" sz="1100" b="1" i="1">
                              <a:latin typeface="Cambria Math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1" i="1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1100" b="1" i="1">
                          <a:latin typeface="Cambria Math"/>
                        </a:rPr>
                        <m:t>~</m:t>
                      </m:r>
                      <m:r>
                        <a:rPr lang="en-US" sz="1100" b="1" i="1">
                          <a:latin typeface="Cambria Math"/>
                        </a:rPr>
                        <m:t>𝑵𝒐𝒓𝒎𝒂𝒍</m:t>
                      </m:r>
                      <m:r>
                        <a:rPr lang="en-US" sz="1100" b="1" i="1">
                          <a:latin typeface="Cambria Math"/>
                        </a:rPr>
                        <m:t> </m:t>
                      </m:r>
                      <m:r>
                        <a:rPr lang="en-US" sz="1100" b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100" b="1" i="1">
                              <a:latin typeface="Cambria Math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1" i="1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1100" b="1" i="1">
                          <a:latin typeface="Cambria Math"/>
                        </a:rPr>
                        <m:t>∗</m:t>
                      </m:r>
                      <m:sSub>
                        <m:sSub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latin typeface="Cambria Math"/>
                            </a:rPr>
                            <m:t>𝒘</m:t>
                          </m:r>
                        </m:e>
                        <m:sub>
                          <m:r>
                            <a:rPr lang="en-US" sz="1100" b="1" i="1">
                              <a:latin typeface="Cambria Math"/>
                            </a:rPr>
                            <m:t>𝒄</m:t>
                          </m:r>
                          <m:r>
                            <a:rPr lang="en-US" sz="1100" b="1" i="1">
                              <a:latin typeface="Cambria Math"/>
                            </a:rPr>
                            <m:t>,</m:t>
                          </m:r>
                          <m:r>
                            <a:rPr lang="en-US" sz="1100" b="1" i="1">
                              <a:latin typeface="Cambria Math"/>
                            </a:rPr>
                            <m:t>𝒛</m:t>
                          </m:r>
                        </m:sub>
                      </m:sSub>
                      <m:r>
                        <a:rPr lang="en-US" sz="1100" b="1" i="1">
                          <a:latin typeface="Cambria Math"/>
                        </a:rPr>
                        <m:t> , </m:t>
                      </m:r>
                      <m:sSub>
                        <m:sSub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latin typeface="Cambria Math"/>
                            </a:rPr>
                            <m:t>𝑹</m:t>
                          </m:r>
                        </m:e>
                        <m:sub>
                          <m:r>
                            <a:rPr lang="en-US" sz="1100" b="1" i="1">
                              <a:latin typeface="Cambria Math"/>
                            </a:rPr>
                            <m:t>𝒛</m:t>
                          </m:r>
                        </m:sub>
                      </m:sSub>
                      <m:d>
                        <m:d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1" i="1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sz="1100" b="1" i="1">
                          <a:latin typeface="Cambria Math"/>
                        </a:rPr>
                        <m:t>∗</m:t>
                      </m:r>
                      <m:sSub>
                        <m:sSub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100" b="1" i="1">
                              <a:latin typeface="Cambria Math"/>
                            </a:rPr>
                            <m:t>𝒘</m:t>
                          </m:r>
                        </m:e>
                        <m:sub>
                          <m:r>
                            <a:rPr lang="en-US" sz="1100" b="1" i="1">
                              <a:latin typeface="Cambria Math"/>
                            </a:rPr>
                            <m:t>𝒄</m:t>
                          </m:r>
                          <m:r>
                            <a:rPr lang="en-US" sz="1100" b="1" i="1">
                              <a:latin typeface="Cambria Math"/>
                            </a:rPr>
                            <m:t>,</m:t>
                          </m:r>
                          <m:r>
                            <a:rPr lang="en-US" sz="1100" b="1" i="1">
                              <a:latin typeface="Cambria Math"/>
                            </a:rPr>
                            <m:t>𝒛</m:t>
                          </m:r>
                        </m:sub>
                      </m:sSub>
                      <m:r>
                        <a:rPr lang="en-US" sz="1100" b="1" i="1">
                          <a:latin typeface="Cambria Math"/>
                        </a:rPr>
                        <m:t>∗</m:t>
                      </m:r>
                      <m:d>
                        <m:dPr>
                          <m:ctrlPr>
                            <a:rPr lang="fr-FR" sz="1100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100" b="1" i="1">
                              <a:latin typeface="Cambria Math"/>
                            </a:rPr>
                            <m:t>𝟏</m:t>
                          </m:r>
                          <m:r>
                            <a:rPr lang="en-US" sz="1100" b="1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100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1100" b="1" i="1"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1100" b="1" i="1">
                                  <a:latin typeface="Cambria Math"/>
                                </a:rPr>
                                <m:t>𝒄</m:t>
                              </m:r>
                              <m:r>
                                <a:rPr lang="en-US" sz="1100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100" b="1" i="1">
                                  <a:latin typeface="Cambria Math"/>
                                </a:rPr>
                                <m:t>𝒛</m:t>
                              </m:r>
                            </m:sub>
                          </m:sSub>
                          <m:r>
                            <a:rPr lang="en-US" sz="1100" b="1" i="1">
                              <a:latin typeface="Cambria Math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600" b="1" dirty="0" smtClean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632" y="1634001"/>
                <a:ext cx="3811447" cy="498855"/>
              </a:xfrm>
              <a:prstGeom prst="rect">
                <a:avLst/>
              </a:prstGeom>
              <a:blipFill rotWithShape="1">
                <a:blip r:embed="rId4"/>
                <a:stretch>
                  <a:fillRect t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ZoneTexte 16"/>
          <p:cNvSpPr txBox="1"/>
          <p:nvPr/>
        </p:nvSpPr>
        <p:spPr>
          <a:xfrm>
            <a:off x="36511" y="3176058"/>
            <a:ext cx="3282138" cy="206210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600" b="1" u="sng" dirty="0" smtClean="0"/>
              <a:t>Hypothèses de modélisation</a:t>
            </a:r>
            <a:endParaRPr lang="fr-FR" sz="1400" dirty="0"/>
          </a:p>
          <a:p>
            <a:endParaRPr lang="fr-FR" sz="14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1400" dirty="0" smtClean="0"/>
              <a:t>Densités similaires/zone</a:t>
            </a:r>
          </a:p>
          <a:p>
            <a:endParaRPr lang="fr-FR" sz="14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1400" dirty="0"/>
              <a:t>Même tendance/zone</a:t>
            </a:r>
          </a:p>
          <a:p>
            <a:endParaRPr lang="fr-FR" sz="1400" dirty="0" smtClean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sz="1400" dirty="0" smtClean="0"/>
              <a:t>Au moins une estimation de recrutement absolu: fournit « le poids » de la zone </a:t>
            </a:r>
            <a:endParaRPr lang="fr-FR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347864" y="2281757"/>
                <a:ext cx="1656184" cy="787203"/>
              </a:xfrm>
              <a:prstGeom prst="rect">
                <a:avLst/>
              </a:prstGeom>
              <a:solidFill>
                <a:srgbClr val="F2EB5A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>
                              <a:latin typeface="Cambria Math"/>
                            </a:rPr>
                            <m:t>𝒄</m:t>
                          </m:r>
                          <m:r>
                            <a:rPr lang="en-US" sz="1600" b="1" i="1">
                              <a:latin typeface="Cambria Math"/>
                            </a:rPr>
                            <m:t>,</m:t>
                          </m:r>
                          <m:r>
                            <a:rPr lang="en-US" sz="1600" b="1" i="1">
                              <a:latin typeface="Cambria Math"/>
                            </a:rPr>
                            <m:t>𝒛</m:t>
                          </m:r>
                        </m:sub>
                      </m:sSub>
                      <m:r>
                        <a:rPr lang="en-US" sz="16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16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1600" b="1" i="1">
                                  <a:latin typeface="Cambria Math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/>
                                </a:rPr>
                                <m:t>𝒄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𝒛</m:t>
                              </m:r>
                            </m:sub>
                            <m:sup>
                              <m:r>
                                <a:rPr lang="en-US" sz="1600" b="1" i="1">
                                  <a:latin typeface="Cambria Math"/>
                                </a:rPr>
                                <m:t>𝜷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fr-FR" sz="1600" b="1" i="1">
                                  <a:latin typeface="Cambria Math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fr-FR" sz="16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16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fr-FR" sz="16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𝒛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fr-FR" sz="1600" b="1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𝑺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600" b="1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𝜷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fr-FR" sz="1100" b="1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864" y="2281757"/>
                <a:ext cx="1656184" cy="7872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Ellipse 17"/>
          <p:cNvSpPr/>
          <p:nvPr/>
        </p:nvSpPr>
        <p:spPr>
          <a:xfrm>
            <a:off x="3275856" y="2204863"/>
            <a:ext cx="1903585" cy="1008113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Flèche courbée vers le haut 20"/>
          <p:cNvSpPr/>
          <p:nvPr/>
        </p:nvSpPr>
        <p:spPr>
          <a:xfrm rot="9204553">
            <a:off x="1700727" y="2356417"/>
            <a:ext cx="1574758" cy="564985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13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2" name="ZoneTexte 41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fractal de l’Anguille: modélisation par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à l’échelle des bassins versants et hypothèses de modélisation (1)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8" name="Groupe 47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60" name="Rectangle 5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à coins arrondis 6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2" name="Rectangle à coins arrondis 61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63" name="Rectangle à coins arrondis 62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4" name="Rectangle à coins arrondis 63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65" name="Groupe 64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66" name="Pentagone 65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67" name="Pentagone 66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8" name="Pentagone 67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852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16" grpId="0" animBg="1"/>
      <p:bldP spid="18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14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-108520" y="910461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fractal de l’Anguille: modélisation par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GEREM</a:t>
            </a:r>
            <a:endParaRPr lang="fr-FR" i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à l’échelle des 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bassins </a:t>
            </a:r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versants et hypothèses de modélisation 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395536" y="1637488"/>
            <a:ext cx="835292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i="1" dirty="0" smtClean="0"/>
              <a:t>Recrutement à l’échelle du bassin versant: hypothèses écologiques</a:t>
            </a:r>
            <a:endParaRPr lang="fr-FR" b="1" i="1" dirty="0"/>
          </a:p>
        </p:txBody>
      </p:sp>
      <p:sp>
        <p:nvSpPr>
          <p:cNvPr id="11" name="ZoneTexte 10"/>
          <p:cNvSpPr txBox="1"/>
          <p:nvPr/>
        </p:nvSpPr>
        <p:spPr>
          <a:xfrm>
            <a:off x="395536" y="3142709"/>
            <a:ext cx="835292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fr-FR" b="1" i="1" dirty="0"/>
              <a:t>U</a:t>
            </a:r>
            <a:r>
              <a:rPr lang="fr-FR" b="1" i="1" dirty="0" smtClean="0"/>
              <a:t>ne méta-analyse démontre la relation entre débit moyen et surface du bassin versant </a:t>
            </a:r>
            <a:r>
              <a:rPr lang="fr-FR" sz="1600" i="1" dirty="0"/>
              <a:t>(</a:t>
            </a:r>
            <a:r>
              <a:rPr lang="fr-FR" sz="1600" i="1" dirty="0" smtClean="0"/>
              <a:t>Burgers et al., 2014</a:t>
            </a:r>
            <a:r>
              <a:rPr lang="fr-FR" sz="1600" i="1" dirty="0"/>
              <a:t>)</a:t>
            </a:r>
          </a:p>
        </p:txBody>
      </p:sp>
      <p:grpSp>
        <p:nvGrpSpPr>
          <p:cNvPr id="22" name="Groupe 21"/>
          <p:cNvGrpSpPr/>
          <p:nvPr/>
        </p:nvGrpSpPr>
        <p:grpSpPr>
          <a:xfrm>
            <a:off x="2462696" y="3769295"/>
            <a:ext cx="3332180" cy="955849"/>
            <a:chOff x="4858584" y="4581128"/>
            <a:chExt cx="3332180" cy="955849"/>
          </a:xfrm>
        </p:grpSpPr>
        <p:sp>
          <p:nvSpPr>
            <p:cNvPr id="28" name="Rectangle 27"/>
            <p:cNvSpPr/>
            <p:nvPr/>
          </p:nvSpPr>
          <p:spPr>
            <a:xfrm>
              <a:off x="5004048" y="4653136"/>
              <a:ext cx="318228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600" b="1" kern="1200" dirty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Q</a:t>
              </a:r>
              <a:r>
                <a:rPr lang="fr-FR" sz="1600" kern="1200" dirty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= [2.80 </a:t>
              </a:r>
              <a:r>
                <a:rPr lang="fr-FR" sz="1600" dirty="0" smtClean="0">
                  <a:solidFill>
                    <a:srgbClr val="000000"/>
                  </a:solidFill>
                  <a:ea typeface="Times New Roman"/>
                  <a:cs typeface="Times New Roman"/>
                </a:rPr>
                <a:t>·</a:t>
              </a:r>
              <a:r>
                <a:rPr lang="fr-FR" sz="1600" dirty="0" smtClean="0"/>
                <a:t>10</a:t>
              </a:r>
              <a:r>
                <a:rPr lang="fr-FR" sz="1600" baseline="30000" dirty="0" smtClean="0"/>
                <a:t>-6</a:t>
              </a:r>
              <a:r>
                <a:rPr lang="fr-FR" sz="1600" kern="1200" dirty="0" smtClean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–1.42 </a:t>
              </a:r>
              <a:r>
                <a:rPr lang="fr-FR" sz="1600" kern="1200" dirty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· </a:t>
              </a:r>
              <a:r>
                <a:rPr lang="fr-FR" sz="1600" dirty="0" smtClean="0"/>
                <a:t>10</a:t>
              </a:r>
              <a:r>
                <a:rPr lang="fr-FR" sz="1600" baseline="30000" dirty="0" smtClean="0"/>
                <a:t>-5</a:t>
              </a:r>
              <a:r>
                <a:rPr lang="fr-FR" sz="1600" kern="1200" dirty="0" smtClean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]*</a:t>
              </a:r>
              <a:r>
                <a:rPr lang="fr-FR" sz="1600" b="1" kern="1200" dirty="0">
                  <a:solidFill>
                    <a:srgbClr val="FF0000"/>
                  </a:solidFill>
                  <a:effectLst/>
                  <a:latin typeface="Calibri"/>
                  <a:ea typeface="Times New Roman"/>
                  <a:cs typeface="Times New Roman"/>
                </a:rPr>
                <a:t>A</a:t>
              </a:r>
              <a:r>
                <a:rPr lang="fr-FR" sz="1600" b="1" kern="1200" baseline="30000" dirty="0">
                  <a:solidFill>
                    <a:srgbClr val="FF0000"/>
                  </a:solidFill>
                  <a:effectLst/>
                  <a:latin typeface="Calibri"/>
                  <a:ea typeface="Times New Roman"/>
                  <a:cs typeface="Times New Roman"/>
                </a:rPr>
                <a:t>[0.71–0.85]</a:t>
              </a:r>
              <a:endParaRPr lang="fr-FR" sz="1200" b="1" dirty="0">
                <a:solidFill>
                  <a:srgbClr val="FF0000"/>
                </a:solidFill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8" name="Ellipse 37"/>
            <p:cNvSpPr/>
            <p:nvPr/>
          </p:nvSpPr>
          <p:spPr>
            <a:xfrm>
              <a:off x="7164288" y="4581128"/>
              <a:ext cx="1026476" cy="433789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" name="Connecteur droit avec flèche 3"/>
            <p:cNvCxnSpPr/>
            <p:nvPr/>
          </p:nvCxnSpPr>
          <p:spPr>
            <a:xfrm flipV="1">
              <a:off x="5161216" y="4941168"/>
              <a:ext cx="0" cy="2880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avec flèche 34"/>
            <p:cNvCxnSpPr/>
            <p:nvPr/>
          </p:nvCxnSpPr>
          <p:spPr>
            <a:xfrm flipV="1">
              <a:off x="7352766" y="4869160"/>
              <a:ext cx="0" cy="3600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/>
            <p:cNvSpPr txBox="1"/>
            <p:nvPr/>
          </p:nvSpPr>
          <p:spPr>
            <a:xfrm>
              <a:off x="4858584" y="5229200"/>
              <a:ext cx="6127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Débit</a:t>
              </a:r>
              <a:endParaRPr lang="fr-FR" sz="1400" dirty="0"/>
            </a:p>
          </p:txBody>
        </p:sp>
        <p:sp>
          <p:nvSpPr>
            <p:cNvPr id="44" name="ZoneTexte 43"/>
            <p:cNvSpPr txBox="1"/>
            <p:nvPr/>
          </p:nvSpPr>
          <p:spPr>
            <a:xfrm>
              <a:off x="6839528" y="5229200"/>
              <a:ext cx="102647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Surface BV</a:t>
              </a:r>
              <a:endParaRPr lang="fr-FR" sz="1400" dirty="0"/>
            </a:p>
          </p:txBody>
        </p:sp>
      </p:grpSp>
      <p:sp>
        <p:nvSpPr>
          <p:cNvPr id="2" name="ZoneTexte 1"/>
          <p:cNvSpPr txBox="1"/>
          <p:nvPr/>
        </p:nvSpPr>
        <p:spPr>
          <a:xfrm>
            <a:off x="395536" y="1988840"/>
            <a:ext cx="83529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 smtClean="0"/>
              <a:t>Orientation passive et aléatoire des civelles: densité proportionnelle à l’habitat disponible (c.f. surface du bassin versant)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 smtClean="0"/>
              <a:t>Nage active </a:t>
            </a:r>
            <a:r>
              <a:rPr lang="en-US" sz="1600" i="1" dirty="0" smtClean="0"/>
              <a:t>(Wuenschel and Able, 2008)</a:t>
            </a:r>
            <a:r>
              <a:rPr lang="en-US" sz="1600" dirty="0" smtClean="0"/>
              <a:t> et orientation grâce au panache estuarien et gradient de salinité (c.f. </a:t>
            </a:r>
            <a:r>
              <a:rPr lang="en-US" sz="1600" dirty="0" err="1" smtClean="0"/>
              <a:t>débit</a:t>
            </a:r>
            <a:r>
              <a:rPr lang="en-US" sz="1600" dirty="0" smtClean="0"/>
              <a:t> </a:t>
            </a:r>
            <a:r>
              <a:rPr lang="en-US" sz="1600" dirty="0" err="1" smtClean="0"/>
              <a:t>moyen</a:t>
            </a:r>
            <a:r>
              <a:rPr lang="en-US" sz="1600" dirty="0" smtClean="0"/>
              <a:t>) </a:t>
            </a:r>
            <a:r>
              <a:rPr lang="en-US" sz="1600" i="1" dirty="0" smtClean="0"/>
              <a:t>(Sorensen, 1986; </a:t>
            </a:r>
            <a:r>
              <a:rPr lang="en-US" sz="1600" i="1" dirty="0" err="1" smtClean="0"/>
              <a:t>Tesch</a:t>
            </a:r>
            <a:r>
              <a:rPr lang="en-US" sz="1600" i="1" dirty="0" smtClean="0"/>
              <a:t>, 2003)</a:t>
            </a:r>
            <a:endParaRPr lang="en-US" sz="1600" i="1" dirty="0"/>
          </a:p>
        </p:txBody>
      </p:sp>
      <p:sp>
        <p:nvSpPr>
          <p:cNvPr id="34" name="ZoneTexte 33"/>
          <p:cNvSpPr txBox="1"/>
          <p:nvPr/>
        </p:nvSpPr>
        <p:spPr>
          <a:xfrm>
            <a:off x="395536" y="4890646"/>
            <a:ext cx="835292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i="1" dirty="0"/>
              <a:t>Prise en compte des processus écologiques dans le modèle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39552" y="5594125"/>
                <a:ext cx="1612173" cy="787203"/>
              </a:xfrm>
              <a:prstGeom prst="rect">
                <a:avLst/>
              </a:prstGeom>
              <a:solidFill>
                <a:srgbClr val="F2EB5A"/>
              </a:solidFill>
              <a:ln>
                <a:solidFill>
                  <a:srgbClr val="FFC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/>
                            </a:rPr>
                            <m:t>𝒘</m:t>
                          </m:r>
                        </m:e>
                        <m:sub>
                          <m:r>
                            <a:rPr lang="en-US" sz="1600" b="1" i="1">
                              <a:latin typeface="Cambria Math"/>
                            </a:rPr>
                            <m:t>𝒄</m:t>
                          </m:r>
                          <m:r>
                            <a:rPr lang="en-US" sz="1600" b="1" i="1">
                              <a:latin typeface="Cambria Math"/>
                            </a:rPr>
                            <m:t>,</m:t>
                          </m:r>
                          <m:r>
                            <a:rPr lang="en-US" sz="1600" b="1" i="1">
                              <a:latin typeface="Cambria Math"/>
                            </a:rPr>
                            <m:t>𝒛</m:t>
                          </m:r>
                        </m:sub>
                      </m:sSub>
                      <m:r>
                        <a:rPr lang="en-US" sz="1600" b="1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fr-FR" sz="1600" b="1" i="1">
                              <a:latin typeface="Cambria Math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fr-FR" sz="1600" b="1" i="1">
                                  <a:latin typeface="Cambria Math"/>
                                </a:rPr>
                              </m:ctrlPr>
                            </m:sSubSupPr>
                            <m:e>
                              <m:r>
                                <a:rPr lang="en-US" sz="1600" b="1" i="1">
                                  <a:latin typeface="Cambria Math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1600" b="1" i="1">
                                  <a:latin typeface="Cambria Math"/>
                                </a:rPr>
                                <m:t>𝒄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𝒛</m:t>
                              </m:r>
                            </m:sub>
                            <m:sup>
                              <m:r>
                                <a:rPr lang="en-US" sz="1600" b="1" i="1">
                                  <a:latin typeface="Cambria Math"/>
                                </a:rPr>
                                <m:t>𝜷</m:t>
                              </m:r>
                            </m:sup>
                          </m:sSub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fr-FR" sz="1600" b="1" i="1">
                                  <a:latin typeface="Cambria Math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fr-FR" sz="16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𝒄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1600" b="1" i="1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1600" b="1" i="1">
                                  <a:latin typeface="Cambria Math"/>
                                </a:rPr>
                                <m:t>𝟏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fr-FR" sz="1600" b="1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𝒏</m:t>
                                  </m:r>
                                </m:e>
                                <m:sub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𝒛</m:t>
                                  </m:r>
                                </m:sub>
                              </m:sSub>
                            </m:sup>
                            <m:e>
                              <m:sSubSup>
                                <m:sSubSupPr>
                                  <m:ctrlPr>
                                    <a:rPr lang="fr-FR" sz="1600" b="1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𝑺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fr-FR" sz="1600" b="1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sz="1600" b="1" i="1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sz="1600" b="1" i="1">
                                      <a:latin typeface="Cambria Math"/>
                                    </a:rPr>
                                    <m:t>𝜷</m:t>
                                  </m:r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fr-FR" sz="1200" b="1" dirty="0"/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5594125"/>
                <a:ext cx="1612173" cy="78720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Ellipse 50"/>
          <p:cNvSpPr/>
          <p:nvPr/>
        </p:nvSpPr>
        <p:spPr>
          <a:xfrm>
            <a:off x="179512" y="5445224"/>
            <a:ext cx="2395452" cy="100811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Flèche courbée vers le bas 51"/>
          <p:cNvSpPr/>
          <p:nvPr/>
        </p:nvSpPr>
        <p:spPr>
          <a:xfrm>
            <a:off x="2247361" y="5265204"/>
            <a:ext cx="1860767" cy="360039"/>
          </a:xfrm>
          <a:prstGeom prst="curvedDown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3059832" y="5661248"/>
                <a:ext cx="2050058" cy="592903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600" dirty="0">
                    <a:solidFill>
                      <a:schemeClr val="tx1"/>
                    </a:solidFill>
                  </a:rPr>
                  <a:t>Le recrutement absolu du BV dépend de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1600" i="1">
                            <a:solidFill>
                              <a:schemeClr val="tx1"/>
                            </a:solidFill>
                            <a:latin typeface="Cambria Math"/>
                          </a:rPr>
                        </m:ctrlPr>
                      </m:sSubSupPr>
                      <m:e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/>
                          </a:rPr>
                          <m:t>𝑺</m:t>
                        </m:r>
                      </m:e>
                      <m:sub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/>
                          </a:rPr>
                          <m:t>𝒄</m:t>
                        </m:r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/>
                          </a:rPr>
                          <m:t>𝒛</m:t>
                        </m:r>
                      </m:sub>
                      <m:sup>
                        <m:r>
                          <a:rPr lang="en-US" sz="1600">
                            <a:solidFill>
                              <a:schemeClr val="tx1"/>
                            </a:solidFill>
                            <a:latin typeface="Cambria Math"/>
                          </a:rPr>
                          <m:t>𝜷</m:t>
                        </m:r>
                      </m:sup>
                    </m:sSubSup>
                  </m:oMath>
                </a14:m>
                <a:endParaRPr lang="fr-FR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832" y="5661248"/>
                <a:ext cx="2050058" cy="592903"/>
              </a:xfrm>
              <a:prstGeom prst="rect">
                <a:avLst/>
              </a:prstGeom>
              <a:blipFill rotWithShape="1">
                <a:blip r:embed="rId3"/>
                <a:stretch>
                  <a:fillRect l="-882" t="-5941" r="-3235" b="-11881"/>
                </a:stretch>
              </a:blipFill>
              <a:ln>
                <a:solidFill>
                  <a:srgbClr val="FFC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/>
          <p:cNvSpPr/>
          <p:nvPr/>
        </p:nvSpPr>
        <p:spPr>
          <a:xfrm>
            <a:off x="6533132" y="5517232"/>
            <a:ext cx="2215332" cy="792088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smtClean="0"/>
          </a:p>
          <a:p>
            <a:r>
              <a:rPr lang="el-GR" sz="1600" dirty="0" smtClean="0">
                <a:solidFill>
                  <a:schemeClr val="tx1"/>
                </a:solidFill>
              </a:rPr>
              <a:t>β</a:t>
            </a:r>
            <a:r>
              <a:rPr lang="fr-FR" sz="1600" dirty="0" smtClean="0">
                <a:solidFill>
                  <a:schemeClr val="tx1"/>
                </a:solidFill>
              </a:rPr>
              <a:t>&lt;1: effet débit</a:t>
            </a:r>
          </a:p>
          <a:p>
            <a:r>
              <a:rPr lang="el-GR" sz="1600" dirty="0">
                <a:solidFill>
                  <a:schemeClr val="tx1"/>
                </a:solidFill>
              </a:rPr>
              <a:t>β</a:t>
            </a:r>
            <a:r>
              <a:rPr lang="fr-FR" sz="1600" dirty="0" smtClean="0">
                <a:solidFill>
                  <a:schemeClr val="tx1"/>
                </a:solidFill>
              </a:rPr>
              <a:t>=1: habitat disponible</a:t>
            </a:r>
          </a:p>
          <a:p>
            <a:r>
              <a:rPr lang="el-GR" sz="1600" dirty="0">
                <a:solidFill>
                  <a:schemeClr val="tx1"/>
                </a:solidFill>
              </a:rPr>
              <a:t>β</a:t>
            </a:r>
            <a:r>
              <a:rPr lang="fr-FR" sz="1600" dirty="0" smtClean="0">
                <a:solidFill>
                  <a:schemeClr val="tx1"/>
                </a:solidFill>
              </a:rPr>
              <a:t>&gt;1: autre hypothèse ?</a:t>
            </a:r>
          </a:p>
          <a:p>
            <a:pPr algn="ctr"/>
            <a:endParaRPr lang="fr-FR" dirty="0"/>
          </a:p>
        </p:txBody>
      </p:sp>
      <p:sp>
        <p:nvSpPr>
          <p:cNvPr id="55" name="Flèche droite 54"/>
          <p:cNvSpPr/>
          <p:nvPr/>
        </p:nvSpPr>
        <p:spPr>
          <a:xfrm>
            <a:off x="5223508" y="5841268"/>
            <a:ext cx="860660" cy="21602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Accolade ouvrante 55"/>
          <p:cNvSpPr/>
          <p:nvPr/>
        </p:nvSpPr>
        <p:spPr>
          <a:xfrm>
            <a:off x="6156176" y="5589240"/>
            <a:ext cx="288032" cy="648072"/>
          </a:xfrm>
          <a:prstGeom prst="leftBrac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7" name="Groupe 5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58" name="Rectangle 5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à coins arrondis 58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0" name="Rectangle à coins arrondis 59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61" name="Rectangle à coins arrondis 60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2" name="Rectangle à coins arrondis 61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63" name="Groupe 62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64" name="Pentagone 63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65" name="Pentagone 64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6" name="Pentagone 6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8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11" grpId="0" animBg="1"/>
      <p:bldP spid="2" grpId="0"/>
      <p:bldP spid="34" grpId="0" animBg="1"/>
      <p:bldP spid="37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5800985" y="2852936"/>
            <a:ext cx="3523543" cy="585946"/>
            <a:chOff x="5796136" y="1463868"/>
            <a:chExt cx="3523543" cy="585946"/>
          </a:xfrm>
        </p:grpSpPr>
        <p:sp>
          <p:nvSpPr>
            <p:cNvPr id="30" name="Émoticône 29"/>
            <p:cNvSpPr/>
            <p:nvPr/>
          </p:nvSpPr>
          <p:spPr>
            <a:xfrm>
              <a:off x="5796136" y="1463868"/>
              <a:ext cx="360040" cy="308948"/>
            </a:xfrm>
            <a:prstGeom prst="smileyFac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6295343" y="1465039"/>
              <a:ext cx="302433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600" dirty="0" smtClean="0"/>
                <a:t>Donne la tendance de recrutement </a:t>
              </a:r>
              <a:endParaRPr lang="fr-FR" sz="1600" dirty="0"/>
            </a:p>
          </p:txBody>
        </p:sp>
      </p:grpSp>
      <p:grpSp>
        <p:nvGrpSpPr>
          <p:cNvPr id="37" name="Groupe 36"/>
          <p:cNvGrpSpPr/>
          <p:nvPr/>
        </p:nvGrpSpPr>
        <p:grpSpPr>
          <a:xfrm>
            <a:off x="35496" y="1556792"/>
            <a:ext cx="8218664" cy="5040560"/>
            <a:chOff x="35496" y="1268760"/>
            <a:chExt cx="8218664" cy="5544616"/>
          </a:xfrm>
        </p:grpSpPr>
        <p:pic>
          <p:nvPicPr>
            <p:cNvPr id="32" name="Image 3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6" y="1268760"/>
              <a:ext cx="5565972" cy="5544616"/>
            </a:xfrm>
            <a:prstGeom prst="rect">
              <a:avLst/>
            </a:prstGeom>
          </p:spPr>
        </p:pic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4143" y="1347969"/>
              <a:ext cx="2570017" cy="1136103"/>
            </a:xfrm>
            <a:prstGeom prst="rect">
              <a:avLst/>
            </a:prstGeom>
          </p:spPr>
        </p:pic>
        <p:sp>
          <p:nvSpPr>
            <p:cNvPr id="35" name="ZoneTexte 34"/>
            <p:cNvSpPr txBox="1"/>
            <p:nvPr/>
          </p:nvSpPr>
          <p:spPr>
            <a:xfrm>
              <a:off x="1259632" y="2982144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Severn</a:t>
              </a:r>
              <a:endParaRPr lang="fr-FR" sz="900" b="1" dirty="0"/>
            </a:p>
          </p:txBody>
        </p:sp>
        <p:sp>
          <p:nvSpPr>
            <p:cNvPr id="39" name="ZoneTexte 38"/>
            <p:cNvSpPr txBox="1"/>
            <p:nvPr/>
          </p:nvSpPr>
          <p:spPr>
            <a:xfrm>
              <a:off x="1475656" y="4062264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Loire</a:t>
              </a:r>
              <a:endParaRPr lang="fr-FR" sz="900" b="1" dirty="0"/>
            </a:p>
          </p:txBody>
        </p:sp>
        <p:sp>
          <p:nvSpPr>
            <p:cNvPr id="40" name="ZoneTexte 39"/>
            <p:cNvSpPr txBox="1"/>
            <p:nvPr/>
          </p:nvSpPr>
          <p:spPr>
            <a:xfrm>
              <a:off x="1115616" y="4293096"/>
              <a:ext cx="10885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Sèvres Niortaise</a:t>
              </a:r>
              <a:endParaRPr lang="fr-FR" sz="900" b="1" dirty="0"/>
            </a:p>
          </p:txBody>
        </p:sp>
        <p:sp>
          <p:nvSpPr>
            <p:cNvPr id="41" name="ZoneTexte 40"/>
            <p:cNvSpPr txBox="1"/>
            <p:nvPr/>
          </p:nvSpPr>
          <p:spPr>
            <a:xfrm>
              <a:off x="1475656" y="4509120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Gironde</a:t>
              </a:r>
              <a:endParaRPr lang="fr-FR" sz="900" b="1" dirty="0"/>
            </a:p>
          </p:txBody>
        </p:sp>
        <p:sp>
          <p:nvSpPr>
            <p:cNvPr id="42" name="ZoneTexte 41"/>
            <p:cNvSpPr txBox="1"/>
            <p:nvPr/>
          </p:nvSpPr>
          <p:spPr>
            <a:xfrm>
              <a:off x="1475656" y="4782344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Adour</a:t>
              </a:r>
              <a:endParaRPr lang="fr-FR" sz="900" b="1" dirty="0"/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827584" y="4638328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Nalon</a:t>
              </a:r>
              <a:endParaRPr lang="fr-FR" sz="900" b="1" dirty="0"/>
            </a:p>
          </p:txBody>
        </p:sp>
        <p:sp>
          <p:nvSpPr>
            <p:cNvPr id="44" name="ZoneTexte 43"/>
            <p:cNvSpPr txBox="1"/>
            <p:nvPr/>
          </p:nvSpPr>
          <p:spPr>
            <a:xfrm>
              <a:off x="36512" y="4926360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Minho</a:t>
              </a:r>
              <a:endParaRPr lang="fr-FR" sz="900" b="1" dirty="0"/>
            </a:p>
          </p:txBody>
        </p:sp>
        <p:sp>
          <p:nvSpPr>
            <p:cNvPr id="45" name="ZoneTexte 44"/>
            <p:cNvSpPr txBox="1"/>
            <p:nvPr/>
          </p:nvSpPr>
          <p:spPr>
            <a:xfrm>
              <a:off x="2195736" y="5661248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Ebro</a:t>
              </a:r>
              <a:endParaRPr lang="fr-FR" sz="900" b="1" dirty="0"/>
            </a:p>
          </p:txBody>
        </p:sp>
        <p:sp>
          <p:nvSpPr>
            <p:cNvPr id="46" name="ZoneTexte 45"/>
            <p:cNvSpPr txBox="1"/>
            <p:nvPr/>
          </p:nvSpPr>
          <p:spPr>
            <a:xfrm>
              <a:off x="1979712" y="5949280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Albufera</a:t>
              </a:r>
              <a:endParaRPr lang="fr-FR" sz="900" b="1" dirty="0"/>
            </a:p>
          </p:txBody>
        </p:sp>
        <p:sp>
          <p:nvSpPr>
            <p:cNvPr id="47" name="ZoneTexte 46"/>
            <p:cNvSpPr txBox="1"/>
            <p:nvPr/>
          </p:nvSpPr>
          <p:spPr>
            <a:xfrm>
              <a:off x="4139952" y="5661248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Tiber</a:t>
              </a:r>
              <a:endParaRPr lang="fr-FR" sz="900" b="1" dirty="0"/>
            </a:p>
          </p:txBody>
        </p:sp>
        <p:sp>
          <p:nvSpPr>
            <p:cNvPr id="48" name="ZoneTexte 47"/>
            <p:cNvSpPr txBox="1"/>
            <p:nvPr/>
          </p:nvSpPr>
          <p:spPr>
            <a:xfrm>
              <a:off x="2699792" y="3356992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Ijzer</a:t>
              </a:r>
              <a:endParaRPr lang="fr-FR" sz="900" b="1" dirty="0"/>
            </a:p>
          </p:txBody>
        </p:sp>
        <p:sp>
          <p:nvSpPr>
            <p:cNvPr id="49" name="ZoneTexte 48"/>
            <p:cNvSpPr txBox="1"/>
            <p:nvPr/>
          </p:nvSpPr>
          <p:spPr>
            <a:xfrm>
              <a:off x="2915816" y="3270176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Stell</a:t>
              </a:r>
              <a:endParaRPr lang="fr-FR" sz="900" b="1" dirty="0"/>
            </a:p>
          </p:txBody>
        </p:sp>
        <p:sp>
          <p:nvSpPr>
            <p:cNvPr id="50" name="ZoneTexte 49"/>
            <p:cNvSpPr txBox="1"/>
            <p:nvPr/>
          </p:nvSpPr>
          <p:spPr>
            <a:xfrm>
              <a:off x="2627784" y="2903712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Katwijk</a:t>
              </a:r>
              <a:endParaRPr lang="fr-FR" sz="900" b="1" dirty="0"/>
            </a:p>
          </p:txBody>
        </p:sp>
        <p:sp>
          <p:nvSpPr>
            <p:cNvPr id="51" name="ZoneTexte 50"/>
            <p:cNvSpPr txBox="1"/>
            <p:nvPr/>
          </p:nvSpPr>
          <p:spPr>
            <a:xfrm>
              <a:off x="2843808" y="2694112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Rhine</a:t>
              </a:r>
              <a:endParaRPr lang="fr-FR" sz="900" b="1" dirty="0"/>
            </a:p>
          </p:txBody>
        </p:sp>
        <p:sp>
          <p:nvSpPr>
            <p:cNvPr id="52" name="ZoneTexte 51"/>
            <p:cNvSpPr txBox="1"/>
            <p:nvPr/>
          </p:nvSpPr>
          <p:spPr>
            <a:xfrm>
              <a:off x="3059832" y="2550096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Lauw</a:t>
              </a:r>
              <a:endParaRPr lang="fr-FR" sz="900" b="1" dirty="0"/>
            </a:p>
          </p:txBody>
        </p:sp>
        <p:sp>
          <p:nvSpPr>
            <p:cNvPr id="53" name="ZoneTexte 52"/>
            <p:cNvSpPr txBox="1"/>
            <p:nvPr/>
          </p:nvSpPr>
          <p:spPr>
            <a:xfrm>
              <a:off x="3563888" y="2924944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Ems</a:t>
              </a:r>
              <a:endParaRPr lang="fr-FR" sz="900" b="1" dirty="0"/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3347864" y="2190056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Vida</a:t>
              </a:r>
              <a:endParaRPr lang="fr-FR" sz="900" b="1" dirty="0"/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4211960" y="1484784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>
                  <a:solidFill>
                    <a:srgbClr val="0070C0"/>
                  </a:solidFill>
                </a:rPr>
                <a:t>Rhingals</a:t>
              </a:r>
              <a:endParaRPr lang="fr-FR" sz="900" b="1" dirty="0">
                <a:solidFill>
                  <a:srgbClr val="0070C0"/>
                </a:solidFill>
              </a:endParaRPr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3779912" y="1613992"/>
              <a:ext cx="7200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>
                  <a:solidFill>
                    <a:srgbClr val="0070C0"/>
                  </a:solidFill>
                </a:rPr>
                <a:t>IYFS</a:t>
              </a:r>
              <a:endParaRPr lang="fr-FR" sz="900" b="1" dirty="0">
                <a:solidFill>
                  <a:srgbClr val="0070C0"/>
                </a:solidFill>
              </a:endParaRP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15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62" name="ZoneTexte 61"/>
          <p:cNvSpPr txBox="1"/>
          <p:nvPr/>
        </p:nvSpPr>
        <p:spPr>
          <a:xfrm>
            <a:off x="-108520" y="910461"/>
            <a:ext cx="9433048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Séries temporelles de recrutement disponibles à l’échelle de l’Europe</a:t>
            </a: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onnées relatives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7" name="Groupe 5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58" name="Rectangle 5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à coins arrondis 58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0" name="Rectangle à coins arrondis 59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61" name="Rectangle à coins arrondis 60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3" name="Rectangle à coins arrondis 62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73" name="Groupe 72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74" name="Pentagone 73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75" name="Pentagone 74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76" name="Pentagone 7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23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36512" y="1412776"/>
            <a:ext cx="4823520" cy="5123664"/>
            <a:chOff x="36512" y="1339028"/>
            <a:chExt cx="4823520" cy="5123664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512" y="1339028"/>
              <a:ext cx="4823520" cy="5123664"/>
            </a:xfrm>
            <a:prstGeom prst="rect">
              <a:avLst/>
            </a:prstGeom>
          </p:spPr>
        </p:pic>
        <p:sp>
          <p:nvSpPr>
            <p:cNvPr id="10" name="ZoneTexte 9"/>
            <p:cNvSpPr txBox="1"/>
            <p:nvPr/>
          </p:nvSpPr>
          <p:spPr>
            <a:xfrm>
              <a:off x="1008388" y="2391920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Bann</a:t>
              </a:r>
              <a:endParaRPr lang="fr-FR" sz="900" b="1" dirty="0"/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683568" y="2492896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Erne</a:t>
              </a:r>
              <a:endParaRPr lang="fr-FR" sz="900" b="1" dirty="0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251520" y="2930594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Maigue</a:t>
              </a:r>
              <a:endParaRPr lang="fr-FR" sz="900" b="1" dirty="0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411943" y="2780928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Inagh</a:t>
              </a:r>
              <a:endParaRPr lang="fr-FR" sz="900" b="1" dirty="0"/>
            </a:p>
          </p:txBody>
        </p:sp>
        <p:sp>
          <p:nvSpPr>
            <p:cNvPr id="14" name="ZoneTexte 13"/>
            <p:cNvSpPr txBox="1"/>
            <p:nvPr/>
          </p:nvSpPr>
          <p:spPr>
            <a:xfrm>
              <a:off x="251520" y="3074610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Feale</a:t>
              </a:r>
              <a:endParaRPr lang="fr-FR" sz="900" b="1" dirty="0"/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771983" y="3212976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Shannon</a:t>
              </a:r>
              <a:endParaRPr lang="fr-FR" sz="900" b="1" dirty="0"/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1187624" y="3722682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Frémur</a:t>
              </a:r>
              <a:endParaRPr lang="fr-FR" sz="900" b="1" dirty="0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1979712" y="3861048"/>
              <a:ext cx="56147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Bresle</a:t>
              </a:r>
              <a:endParaRPr lang="fr-FR" sz="900" b="1" dirty="0"/>
            </a:p>
          </p:txBody>
        </p:sp>
        <p:sp>
          <p:nvSpPr>
            <p:cNvPr id="19" name="ZoneTexte 18"/>
            <p:cNvSpPr txBox="1"/>
            <p:nvPr/>
          </p:nvSpPr>
          <p:spPr>
            <a:xfrm>
              <a:off x="2267744" y="3630216"/>
              <a:ext cx="64807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Somme</a:t>
              </a:r>
              <a:endParaRPr lang="fr-FR" sz="900" b="1" dirty="0"/>
            </a:p>
          </p:txBody>
        </p:sp>
        <p:sp>
          <p:nvSpPr>
            <p:cNvPr id="20" name="ZoneTexte 19"/>
            <p:cNvSpPr txBox="1"/>
            <p:nvPr/>
          </p:nvSpPr>
          <p:spPr>
            <a:xfrm>
              <a:off x="988007" y="4082722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Vilaine</a:t>
              </a:r>
              <a:endParaRPr lang="fr-FR" sz="900" b="1" dirty="0"/>
            </a:p>
          </p:txBody>
        </p:sp>
        <p:sp>
          <p:nvSpPr>
            <p:cNvPr id="21" name="ZoneTexte 20"/>
            <p:cNvSpPr txBox="1"/>
            <p:nvPr/>
          </p:nvSpPr>
          <p:spPr>
            <a:xfrm>
              <a:off x="1204031" y="4221088"/>
              <a:ext cx="631665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Loire</a:t>
              </a:r>
              <a:endParaRPr lang="fr-FR" sz="900" b="1" dirty="0"/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1120235" y="4631248"/>
              <a:ext cx="60386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Gironde</a:t>
              </a:r>
              <a:endParaRPr lang="fr-FR" sz="900" b="1" dirty="0"/>
            </a:p>
          </p:txBody>
        </p:sp>
        <p:sp>
          <p:nvSpPr>
            <p:cNvPr id="23" name="ZoneTexte 22"/>
            <p:cNvSpPr txBox="1"/>
            <p:nvPr/>
          </p:nvSpPr>
          <p:spPr>
            <a:xfrm>
              <a:off x="1072776" y="4383779"/>
              <a:ext cx="1122960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Charente</a:t>
              </a:r>
              <a:endParaRPr lang="fr-FR" sz="900" b="1" dirty="0"/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1087153" y="4483710"/>
              <a:ext cx="62027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Seudre</a:t>
              </a:r>
              <a:endParaRPr lang="fr-FR" sz="900" b="1" dirty="0"/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1607770" y="4941168"/>
              <a:ext cx="5879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Adour</a:t>
              </a:r>
              <a:endParaRPr lang="fr-FR" sz="900" b="1" dirty="0"/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915999" y="4725144"/>
              <a:ext cx="487649" cy="236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Oria</a:t>
              </a:r>
              <a:endParaRPr lang="fr-FR" sz="900" b="1" dirty="0"/>
            </a:p>
          </p:txBody>
        </p:sp>
        <p:sp>
          <p:nvSpPr>
            <p:cNvPr id="27" name="ZoneTexte 26"/>
            <p:cNvSpPr txBox="1"/>
            <p:nvPr/>
          </p:nvSpPr>
          <p:spPr>
            <a:xfrm>
              <a:off x="2339752" y="5162842"/>
              <a:ext cx="1122960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Vaccares</a:t>
              </a:r>
              <a:endParaRPr lang="fr-FR" sz="900" b="1" dirty="0"/>
            </a:p>
          </p:txBody>
        </p:sp>
        <p:sp>
          <p:nvSpPr>
            <p:cNvPr id="28" name="ZoneTexte 27"/>
            <p:cNvSpPr txBox="1"/>
            <p:nvPr/>
          </p:nvSpPr>
          <p:spPr>
            <a:xfrm>
              <a:off x="3563888" y="5517232"/>
              <a:ext cx="1122960" cy="210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Tiber</a:t>
              </a:r>
              <a:endParaRPr lang="fr-FR" sz="900" b="1" dirty="0"/>
            </a:p>
          </p:txBody>
        </p:sp>
        <p:sp>
          <p:nvSpPr>
            <p:cNvPr id="29" name="ZoneTexte 28"/>
            <p:cNvSpPr txBox="1"/>
            <p:nvPr/>
          </p:nvSpPr>
          <p:spPr>
            <a:xfrm>
              <a:off x="2457693" y="1988840"/>
              <a:ext cx="45812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/>
                <a:t>Imsa</a:t>
              </a:r>
              <a:endParaRPr lang="fr-FR" sz="900" b="1" dirty="0"/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578472" y="2132856"/>
              <a:ext cx="5614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b="1" dirty="0" smtClean="0">
                  <a:solidFill>
                    <a:srgbClr val="FF0000"/>
                  </a:solidFill>
                </a:rPr>
                <a:t>Viskan</a:t>
              </a:r>
              <a:endParaRPr lang="fr-FR" sz="9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1" name="ZoneTexte 30"/>
          <p:cNvSpPr txBox="1"/>
          <p:nvPr/>
        </p:nvSpPr>
        <p:spPr>
          <a:xfrm>
            <a:off x="4932040" y="3573016"/>
            <a:ext cx="4177033" cy="2616101"/>
          </a:xfrm>
          <a:prstGeom prst="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 smtClean="0">
                <a:solidFill>
                  <a:srgbClr val="FF0000"/>
                </a:solidFill>
              </a:rPr>
              <a:t>Détermination des zones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fr-FR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b="1" dirty="0"/>
              <a:t>Ecorégions CIEM: entités </a:t>
            </a:r>
            <a:r>
              <a:rPr lang="fr-FR" sz="1600" b="1" dirty="0" smtClean="0"/>
              <a:t>écologiques</a:t>
            </a:r>
          </a:p>
          <a:p>
            <a:endParaRPr lang="fr-FR" sz="16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b="1" dirty="0" smtClean="0"/>
              <a:t>Contrainte par données absolues</a:t>
            </a:r>
          </a:p>
          <a:p>
            <a:endParaRPr lang="fr-FR" sz="1600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b="1" dirty="0" smtClean="0"/>
              <a:t>Densités similaires </a:t>
            </a:r>
            <a:r>
              <a:rPr lang="fr-FR" sz="1600" i="1" dirty="0" smtClean="0"/>
              <a:t>(Dekker, 2000; Bonhommeau et al., 2009)</a:t>
            </a:r>
          </a:p>
          <a:p>
            <a:endParaRPr lang="fr-FR" sz="16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600" b="1" dirty="0"/>
              <a:t>…..  Et même tendance ???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34" name="Espace réservé du numéro de diapositive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16</a:t>
            </a:fld>
            <a:endParaRPr lang="fr-FR" dirty="0"/>
          </a:p>
        </p:txBody>
      </p:sp>
      <p:sp>
        <p:nvSpPr>
          <p:cNvPr id="35" name="Espace réservé de la date 3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2" name="ZoneTexte 41"/>
          <p:cNvSpPr txBox="1"/>
          <p:nvPr/>
        </p:nvSpPr>
        <p:spPr>
          <a:xfrm>
            <a:off x="-108520" y="900009"/>
            <a:ext cx="9289032" cy="64633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Séries temporelles de recrutement disponibles à l’échelle de l’Europe</a:t>
            </a: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onnées absolues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5065" y="2495138"/>
            <a:ext cx="2467320" cy="28579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647" y="2792696"/>
            <a:ext cx="2857899" cy="276264"/>
          </a:xfrm>
          <a:prstGeom prst="rect">
            <a:avLst/>
          </a:prstGeom>
        </p:spPr>
      </p:pic>
      <p:pic>
        <p:nvPicPr>
          <p:cNvPr id="36" name="Image 3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155" y="1712615"/>
            <a:ext cx="1381125" cy="276225"/>
          </a:xfrm>
          <a:prstGeom prst="rect">
            <a:avLst/>
          </a:prstGeom>
        </p:spPr>
      </p:pic>
      <p:sp>
        <p:nvSpPr>
          <p:cNvPr id="43" name="ZoneTexte 42"/>
          <p:cNvSpPr txBox="1"/>
          <p:nvPr/>
        </p:nvSpPr>
        <p:spPr>
          <a:xfrm>
            <a:off x="5292080" y="2031231"/>
            <a:ext cx="39581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GEMAC </a:t>
            </a:r>
            <a:r>
              <a:rPr lang="fr-FR" sz="1200" i="1" dirty="0">
                <a:solidFill>
                  <a:schemeClr val="dk1"/>
                </a:solidFill>
              </a:rPr>
              <a:t>(Beaulaton et Briand, 2007)</a:t>
            </a:r>
            <a:r>
              <a:rPr lang="fr-FR" sz="1200" dirty="0" smtClean="0"/>
              <a:t>, GERMA </a:t>
            </a:r>
            <a:r>
              <a:rPr lang="fr-FR" sz="1200" i="1" dirty="0">
                <a:solidFill>
                  <a:schemeClr val="dk1"/>
                </a:solidFill>
              </a:rPr>
              <a:t>(Bru et al., </a:t>
            </a:r>
            <a:r>
              <a:rPr lang="fr-FR" sz="1200" i="1" dirty="0" smtClean="0">
                <a:solidFill>
                  <a:schemeClr val="dk1"/>
                </a:solidFill>
              </a:rPr>
              <a:t> 2009</a:t>
            </a:r>
            <a:r>
              <a:rPr lang="fr-FR" sz="1200" i="1" dirty="0">
                <a:solidFill>
                  <a:schemeClr val="dk1"/>
                </a:solidFill>
              </a:rPr>
              <a:t>)</a:t>
            </a:r>
            <a:endParaRPr lang="fr-FR" sz="1200" dirty="0"/>
          </a:p>
        </p:txBody>
      </p:sp>
      <p:sp>
        <p:nvSpPr>
          <p:cNvPr id="45" name="ZoneTexte 44"/>
          <p:cNvSpPr txBox="1"/>
          <p:nvPr/>
        </p:nvSpPr>
        <p:spPr>
          <a:xfrm>
            <a:off x="5364088" y="3079993"/>
            <a:ext cx="3958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Information sur efficacité </a:t>
            </a:r>
            <a:r>
              <a:rPr lang="fr-FR" sz="1200" dirty="0"/>
              <a:t>de </a:t>
            </a:r>
            <a:r>
              <a:rPr lang="fr-FR" sz="1200" dirty="0" smtClean="0"/>
              <a:t>passage </a:t>
            </a:r>
            <a:r>
              <a:rPr lang="fr-FR" sz="1200" dirty="0"/>
              <a:t>[0.1-0.5</a:t>
            </a:r>
            <a:r>
              <a:rPr lang="fr-FR" sz="1200" dirty="0" smtClean="0"/>
              <a:t>]</a:t>
            </a:r>
            <a:endParaRPr lang="fr-FR" sz="1200" dirty="0"/>
          </a:p>
        </p:txBody>
      </p:sp>
      <p:grpSp>
        <p:nvGrpSpPr>
          <p:cNvPr id="44" name="Groupe 43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6" name="Rectangle 45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à coins arrondis 56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8" name="Rectangle à coins arrondis 57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9" name="Rectangle à coins arrondis 58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0" name="Rectangle à coins arrondis 59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61" name="Groupe 60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62" name="Pentagone 61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63" name="Pentagone 62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64" name="Pentagone 63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143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43" grpId="0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17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1" name="ZoneTexte 30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3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DFA et vérification des hypothèses du modèle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la DFA: concept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8" name="Groupe 17"/>
          <p:cNvGrpSpPr/>
          <p:nvPr/>
        </p:nvGrpSpPr>
        <p:grpSpPr>
          <a:xfrm>
            <a:off x="25118" y="1907759"/>
            <a:ext cx="3610778" cy="2961401"/>
            <a:chOff x="96215" y="3267308"/>
            <a:chExt cx="4475785" cy="3051361"/>
          </a:xfrm>
        </p:grpSpPr>
        <p:grpSp>
          <p:nvGrpSpPr>
            <p:cNvPr id="16" name="Groupe 15"/>
            <p:cNvGrpSpPr/>
            <p:nvPr/>
          </p:nvGrpSpPr>
          <p:grpSpPr>
            <a:xfrm>
              <a:off x="488285" y="3267308"/>
              <a:ext cx="4083715" cy="2609964"/>
              <a:chOff x="560293" y="3212976"/>
              <a:chExt cx="4083715" cy="2609964"/>
            </a:xfrm>
          </p:grpSpPr>
          <p:pic>
            <p:nvPicPr>
              <p:cNvPr id="37" name="Image 36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202"/>
              <a:stretch/>
            </p:blipFill>
            <p:spPr>
              <a:xfrm>
                <a:off x="560293" y="3890472"/>
                <a:ext cx="3821207" cy="1914792"/>
              </a:xfrm>
              <a:prstGeom prst="rect">
                <a:avLst/>
              </a:prstGeom>
              <a:ln w="12700">
                <a:noFill/>
              </a:ln>
            </p:spPr>
          </p:pic>
          <p:grpSp>
            <p:nvGrpSpPr>
              <p:cNvPr id="15" name="Groupe 14"/>
              <p:cNvGrpSpPr/>
              <p:nvPr/>
            </p:nvGrpSpPr>
            <p:grpSpPr>
              <a:xfrm>
                <a:off x="631507" y="3212976"/>
                <a:ext cx="4012501" cy="2609964"/>
                <a:chOff x="539551" y="3195300"/>
                <a:chExt cx="4012501" cy="2609964"/>
              </a:xfrm>
            </p:grpSpPr>
            <p:cxnSp>
              <p:nvCxnSpPr>
                <p:cNvPr id="5" name="Connecteur droit avec flèche 4"/>
                <p:cNvCxnSpPr/>
                <p:nvPr/>
              </p:nvCxnSpPr>
              <p:spPr>
                <a:xfrm>
                  <a:off x="539552" y="5805264"/>
                  <a:ext cx="40125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necteur droit avec flèche 32"/>
                <p:cNvCxnSpPr/>
                <p:nvPr/>
              </p:nvCxnSpPr>
              <p:spPr>
                <a:xfrm flipV="1">
                  <a:off x="539551" y="3195300"/>
                  <a:ext cx="1" cy="260996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7" name="ZoneTexte 16"/>
            <p:cNvSpPr txBox="1"/>
            <p:nvPr/>
          </p:nvSpPr>
          <p:spPr>
            <a:xfrm rot="16200000">
              <a:off x="-1025569" y="4389092"/>
              <a:ext cx="2578343" cy="33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>
                  <a:solidFill>
                    <a:schemeClr val="accent1"/>
                  </a:solidFill>
                </a:rPr>
                <a:t>Série chronologique</a:t>
              </a:r>
              <a:endParaRPr lang="fr-FR" sz="14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ZoneTexte 45"/>
            <p:cNvSpPr txBox="1"/>
            <p:nvPr/>
          </p:nvSpPr>
          <p:spPr>
            <a:xfrm>
              <a:off x="1907704" y="6001542"/>
              <a:ext cx="1057644" cy="317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>
                  <a:solidFill>
                    <a:schemeClr val="accent1"/>
                  </a:solidFill>
                </a:rPr>
                <a:t>Année</a:t>
              </a:r>
              <a:endParaRPr lang="fr-FR" sz="1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4" name="Groupe 53"/>
          <p:cNvGrpSpPr/>
          <p:nvPr/>
        </p:nvGrpSpPr>
        <p:grpSpPr>
          <a:xfrm>
            <a:off x="5023996" y="1861735"/>
            <a:ext cx="4012500" cy="1639273"/>
            <a:chOff x="4931024" y="1988840"/>
            <a:chExt cx="4012500" cy="1996717"/>
          </a:xfrm>
        </p:grpSpPr>
        <p:grpSp>
          <p:nvGrpSpPr>
            <p:cNvPr id="38" name="Groupe 37"/>
            <p:cNvGrpSpPr/>
            <p:nvPr/>
          </p:nvGrpSpPr>
          <p:grpSpPr>
            <a:xfrm>
              <a:off x="4931024" y="1988840"/>
              <a:ext cx="4012500" cy="1584176"/>
              <a:chOff x="4931024" y="1844824"/>
              <a:chExt cx="4012500" cy="1584176"/>
            </a:xfrm>
          </p:grpSpPr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57539" y="2155701"/>
                <a:ext cx="3590925" cy="1057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3" name="Groupe 22"/>
              <p:cNvGrpSpPr/>
              <p:nvPr/>
            </p:nvGrpSpPr>
            <p:grpSpPr>
              <a:xfrm>
                <a:off x="4931024" y="1844824"/>
                <a:ext cx="4012500" cy="1584176"/>
                <a:chOff x="4931024" y="1844824"/>
                <a:chExt cx="4012500" cy="1584176"/>
              </a:xfrm>
            </p:grpSpPr>
            <p:cxnSp>
              <p:nvCxnSpPr>
                <p:cNvPr id="47" name="Connecteur droit avec flèche 46"/>
                <p:cNvCxnSpPr/>
                <p:nvPr/>
              </p:nvCxnSpPr>
              <p:spPr>
                <a:xfrm>
                  <a:off x="4931024" y="3429000"/>
                  <a:ext cx="40125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necteur droit avec flèche 47"/>
                <p:cNvCxnSpPr/>
                <p:nvPr/>
              </p:nvCxnSpPr>
              <p:spPr>
                <a:xfrm flipV="1">
                  <a:off x="4932740" y="1844824"/>
                  <a:ext cx="1" cy="158417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3" name="ZoneTexte 52"/>
            <p:cNvSpPr txBox="1"/>
            <p:nvPr/>
          </p:nvSpPr>
          <p:spPr>
            <a:xfrm>
              <a:off x="5100386" y="1999873"/>
              <a:ext cx="3843138" cy="637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/>
                <a:t>Une tendance qui décrit les variations interannuelles</a:t>
              </a:r>
              <a:endParaRPr lang="fr-FR" sz="1400" dirty="0"/>
            </a:p>
          </p:txBody>
        </p:sp>
        <p:sp>
          <p:nvSpPr>
            <p:cNvPr id="57" name="ZoneTexte 56"/>
            <p:cNvSpPr txBox="1"/>
            <p:nvPr/>
          </p:nvSpPr>
          <p:spPr>
            <a:xfrm>
              <a:off x="6511996" y="3610669"/>
              <a:ext cx="720080" cy="374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>
                  <a:solidFill>
                    <a:schemeClr val="accent1"/>
                  </a:solidFill>
                </a:rPr>
                <a:t>Année</a:t>
              </a:r>
              <a:endParaRPr lang="fr-FR" sz="14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5" name="Groupe 54"/>
          <p:cNvGrpSpPr/>
          <p:nvPr/>
        </p:nvGrpSpPr>
        <p:grpSpPr>
          <a:xfrm>
            <a:off x="5076056" y="3648737"/>
            <a:ext cx="4012500" cy="1724479"/>
            <a:chOff x="4932040" y="4344569"/>
            <a:chExt cx="4012500" cy="2216286"/>
          </a:xfrm>
        </p:grpSpPr>
        <p:grpSp>
          <p:nvGrpSpPr>
            <p:cNvPr id="52" name="Groupe 51"/>
            <p:cNvGrpSpPr/>
            <p:nvPr/>
          </p:nvGrpSpPr>
          <p:grpSpPr>
            <a:xfrm>
              <a:off x="4932040" y="4437112"/>
              <a:ext cx="4012500" cy="1584176"/>
              <a:chOff x="5036818" y="3429000"/>
              <a:chExt cx="4012500" cy="1584176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5164" y="3816077"/>
                <a:ext cx="3543300" cy="9810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9" name="Groupe 48"/>
              <p:cNvGrpSpPr/>
              <p:nvPr/>
            </p:nvGrpSpPr>
            <p:grpSpPr>
              <a:xfrm>
                <a:off x="5036818" y="3429000"/>
                <a:ext cx="4012500" cy="1584176"/>
                <a:chOff x="4931024" y="1844824"/>
                <a:chExt cx="4012500" cy="1584176"/>
              </a:xfrm>
            </p:grpSpPr>
            <p:cxnSp>
              <p:nvCxnSpPr>
                <p:cNvPr id="50" name="Connecteur droit avec flèche 49"/>
                <p:cNvCxnSpPr/>
                <p:nvPr/>
              </p:nvCxnSpPr>
              <p:spPr>
                <a:xfrm>
                  <a:off x="4931024" y="3429000"/>
                  <a:ext cx="4012500" cy="0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eur droit avec flèche 50"/>
                <p:cNvCxnSpPr/>
                <p:nvPr/>
              </p:nvCxnSpPr>
              <p:spPr>
                <a:xfrm flipH="1" flipV="1">
                  <a:off x="4931024" y="1844824"/>
                  <a:ext cx="1716" cy="1584176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6" name="ZoneTexte 55"/>
            <p:cNvSpPr txBox="1"/>
            <p:nvPr/>
          </p:nvSpPr>
          <p:spPr>
            <a:xfrm>
              <a:off x="5724128" y="4344569"/>
              <a:ext cx="2304256" cy="6724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/>
                <a:t>Une tendance qui décrit la pente</a:t>
              </a:r>
              <a:endParaRPr lang="fr-FR" sz="1400" dirty="0"/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6588224" y="6165303"/>
              <a:ext cx="720080" cy="395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>
                  <a:solidFill>
                    <a:schemeClr val="accent1"/>
                  </a:solidFill>
                </a:rPr>
                <a:t>Année</a:t>
              </a:r>
              <a:endParaRPr lang="fr-FR" sz="1400" dirty="0">
                <a:solidFill>
                  <a:schemeClr val="accent1"/>
                </a:solidFill>
              </a:endParaRPr>
            </a:p>
          </p:txBody>
        </p:sp>
      </p:grpSp>
      <p:cxnSp>
        <p:nvCxnSpPr>
          <p:cNvPr id="60" name="Connecteur droit avec flèche 59"/>
          <p:cNvCxnSpPr/>
          <p:nvPr/>
        </p:nvCxnSpPr>
        <p:spPr>
          <a:xfrm>
            <a:off x="3851920" y="2708920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eur droit avec flèche 63"/>
          <p:cNvCxnSpPr/>
          <p:nvPr/>
        </p:nvCxnSpPr>
        <p:spPr>
          <a:xfrm>
            <a:off x="3851920" y="3933056"/>
            <a:ext cx="72008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Ellipse 62"/>
          <p:cNvSpPr/>
          <p:nvPr/>
        </p:nvSpPr>
        <p:spPr>
          <a:xfrm>
            <a:off x="4644008" y="1735083"/>
            <a:ext cx="282787" cy="2537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67" name="Ellipse 66"/>
          <p:cNvSpPr/>
          <p:nvPr/>
        </p:nvSpPr>
        <p:spPr>
          <a:xfrm>
            <a:off x="4745208" y="3380397"/>
            <a:ext cx="258840" cy="264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71" name="ZoneTexte 70"/>
          <p:cNvSpPr txBox="1"/>
          <p:nvPr/>
        </p:nvSpPr>
        <p:spPr>
          <a:xfrm>
            <a:off x="470874" y="1628800"/>
            <a:ext cx="3237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Jeu de séries chronologiques</a:t>
            </a:r>
            <a:endParaRPr lang="fr-FR" dirty="0"/>
          </a:p>
        </p:txBody>
      </p:sp>
      <p:sp>
        <p:nvSpPr>
          <p:cNvPr id="2" name="ZoneTexte 1"/>
          <p:cNvSpPr txBox="1"/>
          <p:nvPr/>
        </p:nvSpPr>
        <p:spPr>
          <a:xfrm>
            <a:off x="398867" y="5373216"/>
            <a:ext cx="8637629" cy="923330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Extraction des tendances communes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</a:t>
            </a:r>
            <a:r>
              <a:rPr lang="en-US" dirty="0" err="1" smtClean="0"/>
              <a:t>séries</a:t>
            </a:r>
            <a:r>
              <a:rPr lang="en-US" dirty="0" smtClean="0"/>
              <a:t> </a:t>
            </a:r>
            <a:r>
              <a:rPr lang="en-US" dirty="0" err="1" smtClean="0"/>
              <a:t>chronologiques</a:t>
            </a:r>
            <a:r>
              <a:rPr lang="en-US" dirty="0" smtClean="0"/>
              <a:t> = </a:t>
            </a:r>
            <a:r>
              <a:rPr lang="el-GR" dirty="0" smtClean="0"/>
              <a:t>α</a:t>
            </a:r>
            <a:r>
              <a:rPr lang="fr-FR" dirty="0" smtClean="0"/>
              <a:t>*tendance        + </a:t>
            </a:r>
            <a:r>
              <a:rPr lang="el-GR" dirty="0" smtClean="0"/>
              <a:t>β</a:t>
            </a:r>
            <a:r>
              <a:rPr lang="fr-FR" dirty="0" smtClean="0"/>
              <a:t>*tendance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/>
              <a:t>Possibilité de comparer les séries en terme de tendance</a:t>
            </a:r>
            <a:endParaRPr lang="en-US" dirty="0"/>
          </a:p>
        </p:txBody>
      </p:sp>
      <p:sp>
        <p:nvSpPr>
          <p:cNvPr id="43" name="Ellipse 42"/>
          <p:cNvSpPr/>
          <p:nvPr/>
        </p:nvSpPr>
        <p:spPr>
          <a:xfrm>
            <a:off x="4202849" y="5695523"/>
            <a:ext cx="282787" cy="2537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1</a:t>
            </a:r>
          </a:p>
        </p:txBody>
      </p:sp>
      <p:sp>
        <p:nvSpPr>
          <p:cNvPr id="44" name="Ellipse 43"/>
          <p:cNvSpPr/>
          <p:nvPr/>
        </p:nvSpPr>
        <p:spPr>
          <a:xfrm>
            <a:off x="5868144" y="5684653"/>
            <a:ext cx="258840" cy="2646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cxnSp>
        <p:nvCxnSpPr>
          <p:cNvPr id="4" name="Connecteur droit 3"/>
          <p:cNvCxnSpPr/>
          <p:nvPr/>
        </p:nvCxnSpPr>
        <p:spPr>
          <a:xfrm>
            <a:off x="3059832" y="5949280"/>
            <a:ext cx="21602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4738947" y="5949280"/>
            <a:ext cx="216024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e 60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76" name="Rectangle 75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à coins arrondis 76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78" name="Rectangle à coins arrondis 77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79" name="Rectangle à coins arrondis 78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80" name="Rectangle à coins arrondis 79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81" name="Groupe 80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82" name="Pentagone 81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83" name="Pentagone 82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dirty="0"/>
                <a:t> </a:t>
              </a:r>
              <a:r>
                <a:rPr lang="fr-FR" sz="1600" b="1" dirty="0" smtClean="0">
                  <a:solidFill>
                    <a:schemeClr val="tx1"/>
                  </a:solidFill>
                </a:rPr>
                <a:t>Résultats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Pentagone 83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 smtClean="0">
                  <a:solidFill>
                    <a:schemeClr val="tx1"/>
                  </a:solidFill>
                </a:rPr>
                <a:t>Matériels et méthodes</a:t>
              </a:r>
              <a:endParaRPr lang="fr-FR" sz="16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339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7" grpId="0" animBg="1"/>
      <p:bldP spid="71" grpId="0"/>
      <p:bldP spid="2" grpId="0" animBg="1"/>
      <p:bldP spid="43" grpId="0" animBg="1"/>
      <p:bldP spid="4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18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19" name="ZoneTexte 18"/>
          <p:cNvSpPr txBox="1"/>
          <p:nvPr/>
        </p:nvSpPr>
        <p:spPr>
          <a:xfrm>
            <a:off x="323528" y="2815768"/>
            <a:ext cx="8496944" cy="147732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 Tendances de recrutement à l’échelle de l’Europe : résultats de la DFA</a:t>
            </a:r>
          </a:p>
          <a:p>
            <a:pPr marL="400050" indent="-400050">
              <a:buFont typeface="+mj-lt"/>
              <a:buAutoNum type="romanUcPeriod"/>
            </a:pPr>
            <a:endParaRPr lang="en-US" dirty="0" smtClean="0"/>
          </a:p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Modélisation du recrutement à différentes échelles spatiales: résultats de GEREM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Validité du modèle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Aperçu du recrutement aux trois échelles spatiales</a:t>
            </a:r>
          </a:p>
        </p:txBody>
      </p:sp>
      <p:sp>
        <p:nvSpPr>
          <p:cNvPr id="30" name="ZoneTexte 29"/>
          <p:cNvSpPr txBox="1"/>
          <p:nvPr/>
        </p:nvSpPr>
        <p:spPr>
          <a:xfrm>
            <a:off x="-108520" y="908720"/>
            <a:ext cx="9361040" cy="369332"/>
          </a:xfrm>
          <a:prstGeom prst="rect">
            <a:avLst/>
          </a:prstGeom>
          <a:solidFill>
            <a:srgbClr val="FFC00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Résultats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7" name="Groupe 1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8" name="Rectangle 1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à coins arrondis 3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2" name="Rectangle à coins arrondis 31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3" name="Rectangle à coins arrondis 32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36" name="Pentagone 35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37" name="Pentagone 36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38" name="Pentagone 37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3974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346" y="1340768"/>
            <a:ext cx="4566678" cy="5234564"/>
          </a:xfrm>
          <a:prstGeom prst="rect">
            <a:avLst/>
          </a:prstGeom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19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Tendances de recrutement à l’échelle de l’Europe: résultats de la DFA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déclin généralisé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788024" y="2021359"/>
            <a:ext cx="4176464" cy="615553"/>
          </a:xfrm>
          <a:prstGeom prst="rect">
            <a:avLst/>
          </a:prstGeom>
          <a:noFill/>
          <a:ln>
            <a:solidFill>
              <a:srgbClr val="A9C83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A9C838"/>
                </a:solidFill>
              </a:rPr>
              <a:t>Tendance 1</a:t>
            </a:r>
          </a:p>
          <a:p>
            <a:r>
              <a:rPr lang="en-US" sz="1600" dirty="0" smtClean="0"/>
              <a:t>Déclin global à partir de la fin des années 70s</a:t>
            </a:r>
            <a:endParaRPr lang="en-US" sz="1600" dirty="0"/>
          </a:p>
        </p:txBody>
      </p:sp>
      <p:sp>
        <p:nvSpPr>
          <p:cNvPr id="20" name="ZoneTexte 19"/>
          <p:cNvSpPr txBox="1"/>
          <p:nvPr/>
        </p:nvSpPr>
        <p:spPr>
          <a:xfrm>
            <a:off x="4788024" y="3429000"/>
            <a:ext cx="4176464" cy="86177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FFC000"/>
                </a:solidFill>
              </a:rPr>
              <a:t>Tendance 2</a:t>
            </a:r>
          </a:p>
          <a:p>
            <a:r>
              <a:rPr lang="en-US" sz="1600" dirty="0" smtClean="0"/>
              <a:t>Déclin plus rapide et plus précoce (1975) puis stabilisation à des niveaux très bas</a:t>
            </a:r>
            <a:endParaRPr lang="en-US" sz="1600" dirty="0"/>
          </a:p>
        </p:txBody>
      </p:sp>
      <p:sp>
        <p:nvSpPr>
          <p:cNvPr id="21" name="ZoneTexte 20"/>
          <p:cNvSpPr txBox="1"/>
          <p:nvPr/>
        </p:nvSpPr>
        <p:spPr>
          <a:xfrm>
            <a:off x="4788024" y="5013176"/>
            <a:ext cx="4176464" cy="6155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>
                <a:solidFill>
                  <a:srgbClr val="FF0000"/>
                </a:solidFill>
              </a:rPr>
              <a:t>Tendance 3</a:t>
            </a:r>
          </a:p>
          <a:p>
            <a:r>
              <a:rPr lang="en-US" sz="1600" dirty="0" smtClean="0"/>
              <a:t>Déclin à partir de la fin des années 90s </a:t>
            </a:r>
            <a:endParaRPr lang="en-US" sz="1600" dirty="0"/>
          </a:p>
        </p:txBody>
      </p:sp>
      <p:grpSp>
        <p:nvGrpSpPr>
          <p:cNvPr id="31" name="Groupe 30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2" name="Rectangle 31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à coins arrondis 32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5" name="Rectangle à coins arrondis 34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6" name="Rectangle à coins arrondis 35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1" name="Groupe 40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2" name="Pentagone 41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3" name="Pentagone 42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44" name="Pentagone 43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022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20</a:t>
            </a:fld>
            <a:endParaRPr lang="fr-FR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4" name="ZoneTexte 23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Tendances de recrutement à l’échelle de l’Europe: résultats de la DFA</a:t>
            </a: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gradient Nord-Sud possible ?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AutoShape 2" descr="See original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AutoShape 4" descr="See original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622424"/>
            <a:ext cx="2046357" cy="10864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48064" y="4653136"/>
            <a:ext cx="3600400" cy="35618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chemeClr val="tx1"/>
                </a:solidFill>
              </a:rPr>
              <a:t>Rejoint hypothèses du WGEEL</a:t>
            </a: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5" t="4929" r="2312" b="8835"/>
          <a:stretch/>
        </p:blipFill>
        <p:spPr>
          <a:xfrm>
            <a:off x="6696744" y="1635309"/>
            <a:ext cx="2411760" cy="2729795"/>
          </a:xfrm>
          <a:prstGeom prst="rect">
            <a:avLst/>
          </a:prstGeom>
        </p:spPr>
      </p:pic>
      <p:grpSp>
        <p:nvGrpSpPr>
          <p:cNvPr id="9" name="Groupe 8"/>
          <p:cNvGrpSpPr/>
          <p:nvPr/>
        </p:nvGrpSpPr>
        <p:grpSpPr>
          <a:xfrm>
            <a:off x="-36512" y="1556793"/>
            <a:ext cx="4536282" cy="4690948"/>
            <a:chOff x="35495" y="1599445"/>
            <a:chExt cx="4536282" cy="4637867"/>
          </a:xfrm>
        </p:grpSpPr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5" y="1599445"/>
              <a:ext cx="4536282" cy="4637867"/>
            </a:xfrm>
            <a:prstGeom prst="rect">
              <a:avLst/>
            </a:prstGeom>
          </p:spPr>
        </p:pic>
        <p:sp>
          <p:nvSpPr>
            <p:cNvPr id="15" name="Ellipse 14"/>
            <p:cNvSpPr/>
            <p:nvPr/>
          </p:nvSpPr>
          <p:spPr>
            <a:xfrm rot="19090617">
              <a:off x="1226381" y="2432696"/>
              <a:ext cx="2748461" cy="1329403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" name="Ellipse 27"/>
            <p:cNvSpPr/>
            <p:nvPr/>
          </p:nvSpPr>
          <p:spPr>
            <a:xfrm rot="15944081">
              <a:off x="511237" y="3684696"/>
              <a:ext cx="1592114" cy="2096324"/>
            </a:xfrm>
            <a:prstGeom prst="ellipse">
              <a:avLst/>
            </a:prstGeom>
            <a:noFill/>
            <a:ln>
              <a:solidFill>
                <a:srgbClr val="A9C838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39" name="Rectangle 38"/>
          <p:cNvSpPr/>
          <p:nvPr/>
        </p:nvSpPr>
        <p:spPr>
          <a:xfrm>
            <a:off x="5148064" y="5013176"/>
            <a:ext cx="3600400" cy="7959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chemeClr val="tx1"/>
                </a:solidFill>
              </a:rPr>
              <a:t>Prise en compte d’un gradient Nord-Sud dans zones du modèle GEREM</a:t>
            </a:r>
          </a:p>
        </p:txBody>
      </p:sp>
      <p:grpSp>
        <p:nvGrpSpPr>
          <p:cNvPr id="10" name="Groupe 9"/>
          <p:cNvGrpSpPr/>
          <p:nvPr/>
        </p:nvGrpSpPr>
        <p:grpSpPr>
          <a:xfrm>
            <a:off x="-36512" y="1556793"/>
            <a:ext cx="4536282" cy="4690948"/>
            <a:chOff x="35496" y="1599445"/>
            <a:chExt cx="4464496" cy="4648295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496" y="1599445"/>
              <a:ext cx="4464496" cy="4648295"/>
            </a:xfrm>
            <a:prstGeom prst="rect">
              <a:avLst/>
            </a:prstGeom>
          </p:spPr>
        </p:pic>
        <p:sp>
          <p:nvSpPr>
            <p:cNvPr id="40" name="Ellipse 39"/>
            <p:cNvSpPr/>
            <p:nvPr/>
          </p:nvSpPr>
          <p:spPr>
            <a:xfrm rot="19090617">
              <a:off x="1313573" y="2576712"/>
              <a:ext cx="2748461" cy="1329403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Ellipse 40"/>
            <p:cNvSpPr/>
            <p:nvPr/>
          </p:nvSpPr>
          <p:spPr>
            <a:xfrm rot="15944081">
              <a:off x="367221" y="3695124"/>
              <a:ext cx="1592114" cy="2096324"/>
            </a:xfrm>
            <a:prstGeom prst="ellipse">
              <a:avLst/>
            </a:prstGeom>
            <a:noFill/>
            <a:ln>
              <a:solidFill>
                <a:srgbClr val="A9C838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48238" y="6145559"/>
            <a:ext cx="4739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 smtClean="0"/>
              <a:t>Prise en compte des tendances significatives &gt; 0.2 </a:t>
            </a:r>
            <a:r>
              <a:rPr lang="fr-FR" sz="1400" i="1" dirty="0" smtClean="0"/>
              <a:t>(Zuur, 2003)</a:t>
            </a:r>
          </a:p>
        </p:txBody>
      </p:sp>
      <p:grpSp>
        <p:nvGrpSpPr>
          <p:cNvPr id="42" name="Groupe 41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3" name="Rectangle 42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5" name="Rectangle à coins arrondis 44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6" name="Rectangle à coins arrondis 45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7" name="Rectangle à coins arrondis 46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8" name="Groupe 47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9" name="Pentagone 48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0" name="Pentagone 49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1" name="Pentagone 50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62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9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35496" y="1650286"/>
            <a:ext cx="9072561" cy="338554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 smtClean="0"/>
              <a:t>Modèle ajusté à une majorité de séries: seulement 8 séries/41 moins bien ajustées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21</a:t>
            </a:fld>
            <a:endParaRPr lang="fr-FR" dirty="0"/>
          </a:p>
        </p:txBody>
      </p:sp>
      <p:sp>
        <p:nvSpPr>
          <p:cNvPr id="18" name="Espace réservé de la date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grpSp>
        <p:nvGrpSpPr>
          <p:cNvPr id="26" name="Groupe 25"/>
          <p:cNvGrpSpPr/>
          <p:nvPr/>
        </p:nvGrpSpPr>
        <p:grpSpPr>
          <a:xfrm>
            <a:off x="179886" y="2017248"/>
            <a:ext cx="4128215" cy="3024336"/>
            <a:chOff x="-1860" y="1844824"/>
            <a:chExt cx="4128215" cy="3024336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04" y="1844824"/>
              <a:ext cx="1930619" cy="1480347"/>
            </a:xfrm>
            <a:prstGeom prst="rect">
              <a:avLst/>
            </a:prstGeom>
          </p:spPr>
        </p:pic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1720" y="1916832"/>
              <a:ext cx="2074635" cy="1489104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60" y="3380056"/>
              <a:ext cx="2088802" cy="1489104"/>
            </a:xfrm>
            <a:prstGeom prst="rect">
              <a:avLst/>
            </a:prstGeom>
          </p:spPr>
        </p:pic>
        <p:sp>
          <p:nvSpPr>
            <p:cNvPr id="19" name="Ellipse 18"/>
            <p:cNvSpPr/>
            <p:nvPr/>
          </p:nvSpPr>
          <p:spPr>
            <a:xfrm>
              <a:off x="323528" y="2132856"/>
              <a:ext cx="936104" cy="493729"/>
            </a:xfrm>
            <a:prstGeom prst="ellipse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/>
            <p:cNvSpPr/>
            <p:nvPr/>
          </p:nvSpPr>
          <p:spPr>
            <a:xfrm>
              <a:off x="2699792" y="2204864"/>
              <a:ext cx="936104" cy="637745"/>
            </a:xfrm>
            <a:prstGeom prst="ellipse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Ellipse 21"/>
            <p:cNvSpPr/>
            <p:nvPr/>
          </p:nvSpPr>
          <p:spPr>
            <a:xfrm>
              <a:off x="1043608" y="4005064"/>
              <a:ext cx="936104" cy="576064"/>
            </a:xfrm>
            <a:prstGeom prst="ellipse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7" name="Connecteur droit 26"/>
            <p:cNvCxnSpPr>
              <a:stCxn id="19" idx="5"/>
            </p:cNvCxnSpPr>
            <p:nvPr/>
          </p:nvCxnSpPr>
          <p:spPr>
            <a:xfrm>
              <a:off x="1122543" y="2554280"/>
              <a:ext cx="1510177" cy="109074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 flipV="1">
              <a:off x="2987824" y="2842610"/>
              <a:ext cx="180020" cy="80241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/>
            <p:cNvCxnSpPr>
              <a:endCxn id="22" idx="6"/>
            </p:cNvCxnSpPr>
            <p:nvPr/>
          </p:nvCxnSpPr>
          <p:spPr>
            <a:xfrm flipH="1">
              <a:off x="1979712" y="4168244"/>
              <a:ext cx="504056" cy="12485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/>
            <p:cNvSpPr txBox="1"/>
            <p:nvPr/>
          </p:nvSpPr>
          <p:spPr>
            <a:xfrm>
              <a:off x="2411760" y="3645024"/>
              <a:ext cx="1512168" cy="523220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rgbClr val="FF0000"/>
                  </a:solidFill>
                </a:rPr>
                <a:t>Tendances caractéristiques ?</a:t>
              </a:r>
              <a:endParaRPr lang="fr-FR" sz="14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8" name="Groupe 27"/>
          <p:cNvGrpSpPr/>
          <p:nvPr/>
        </p:nvGrpSpPr>
        <p:grpSpPr>
          <a:xfrm>
            <a:off x="4682852" y="2024717"/>
            <a:ext cx="4267125" cy="3194485"/>
            <a:chOff x="4682852" y="1782108"/>
            <a:chExt cx="4267125" cy="3194485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3989" y="1847234"/>
              <a:ext cx="1984774" cy="1558702"/>
            </a:xfrm>
            <a:prstGeom prst="rect">
              <a:avLst/>
            </a:prstGeom>
          </p:spPr>
        </p:pic>
        <p:pic>
          <p:nvPicPr>
            <p:cNvPr id="13" name="Image 1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684" y="3405936"/>
              <a:ext cx="2052067" cy="1570657"/>
            </a:xfrm>
            <a:prstGeom prst="rect">
              <a:avLst/>
            </a:prstGeom>
          </p:spPr>
        </p:pic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197" y="1782108"/>
              <a:ext cx="2052067" cy="1623828"/>
            </a:xfrm>
            <a:prstGeom prst="rect">
              <a:avLst/>
            </a:prstGeom>
          </p:spPr>
        </p:pic>
        <p:sp>
          <p:nvSpPr>
            <p:cNvPr id="23" name="Ellipse 22"/>
            <p:cNvSpPr/>
            <p:nvPr/>
          </p:nvSpPr>
          <p:spPr>
            <a:xfrm>
              <a:off x="5984776" y="2359207"/>
              <a:ext cx="936104" cy="421721"/>
            </a:xfrm>
            <a:prstGeom prst="ellipse">
              <a:avLst/>
            </a:prstGeom>
            <a:noFill/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4" name="Ellipse 23"/>
            <p:cNvSpPr/>
            <p:nvPr/>
          </p:nvSpPr>
          <p:spPr>
            <a:xfrm>
              <a:off x="8013873" y="2780928"/>
              <a:ext cx="936104" cy="421721"/>
            </a:xfrm>
            <a:prstGeom prst="ellipse">
              <a:avLst/>
            </a:prstGeom>
            <a:noFill/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Ellipse 24"/>
            <p:cNvSpPr/>
            <p:nvPr/>
          </p:nvSpPr>
          <p:spPr>
            <a:xfrm>
              <a:off x="8316415" y="3980403"/>
              <a:ext cx="633561" cy="600725"/>
            </a:xfrm>
            <a:prstGeom prst="ellipse">
              <a:avLst/>
            </a:prstGeom>
            <a:noFill/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4" name="Connecteur droit 43"/>
            <p:cNvCxnSpPr/>
            <p:nvPr/>
          </p:nvCxnSpPr>
          <p:spPr>
            <a:xfrm flipV="1">
              <a:off x="5984776" y="2767195"/>
              <a:ext cx="377806" cy="937725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>
              <a:endCxn id="24" idx="3"/>
            </p:cNvCxnSpPr>
            <p:nvPr/>
          </p:nvCxnSpPr>
          <p:spPr>
            <a:xfrm flipV="1">
              <a:off x="6481775" y="3140889"/>
              <a:ext cx="1669187" cy="564031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>
              <a:endCxn id="25" idx="2"/>
            </p:cNvCxnSpPr>
            <p:nvPr/>
          </p:nvCxnSpPr>
          <p:spPr>
            <a:xfrm>
              <a:off x="6481775" y="4012697"/>
              <a:ext cx="1834640" cy="268069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ZoneTexte 53"/>
            <p:cNvSpPr txBox="1"/>
            <p:nvPr/>
          </p:nvSpPr>
          <p:spPr>
            <a:xfrm>
              <a:off x="4682852" y="3704920"/>
              <a:ext cx="1798923" cy="307777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>
                  <a:solidFill>
                    <a:srgbClr val="00B0F0"/>
                  </a:solidFill>
                </a:rPr>
                <a:t>Densités différentes ?</a:t>
              </a:r>
            </a:p>
          </p:txBody>
        </p:sp>
      </p:grpSp>
      <p:grpSp>
        <p:nvGrpSpPr>
          <p:cNvPr id="30" name="Groupe 29"/>
          <p:cNvGrpSpPr/>
          <p:nvPr/>
        </p:nvGrpSpPr>
        <p:grpSpPr>
          <a:xfrm>
            <a:off x="2483768" y="4303528"/>
            <a:ext cx="4093825" cy="2101706"/>
            <a:chOff x="2555776" y="4273351"/>
            <a:chExt cx="4093825" cy="2101706"/>
          </a:xfrm>
        </p:grpSpPr>
        <p:pic>
          <p:nvPicPr>
            <p:cNvPr id="11" name="Image 1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55776" y="4797151"/>
              <a:ext cx="1943992" cy="1577905"/>
            </a:xfrm>
            <a:prstGeom prst="rect">
              <a:avLst/>
            </a:prstGeom>
          </p:spPr>
        </p:pic>
        <p:pic>
          <p:nvPicPr>
            <p:cNvPr id="16" name="Image 15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35996" y="4869160"/>
              <a:ext cx="2113605" cy="1505897"/>
            </a:xfrm>
            <a:prstGeom prst="rect">
              <a:avLst/>
            </a:prstGeom>
          </p:spPr>
        </p:pic>
        <p:sp>
          <p:nvSpPr>
            <p:cNvPr id="60" name="Ellipse 59"/>
            <p:cNvSpPr/>
            <p:nvPr/>
          </p:nvSpPr>
          <p:spPr>
            <a:xfrm>
              <a:off x="3779912" y="5229200"/>
              <a:ext cx="684076" cy="864096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2" name="Ellipse 61"/>
            <p:cNvSpPr/>
            <p:nvPr/>
          </p:nvSpPr>
          <p:spPr>
            <a:xfrm>
              <a:off x="5831641" y="5373216"/>
              <a:ext cx="684076" cy="864096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3" name="Connecteur droit 62"/>
            <p:cNvCxnSpPr>
              <a:stCxn id="60" idx="0"/>
            </p:cNvCxnSpPr>
            <p:nvPr/>
          </p:nvCxnSpPr>
          <p:spPr>
            <a:xfrm flipV="1">
              <a:off x="4121950" y="4725144"/>
              <a:ext cx="243027" cy="5040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eur droit 64"/>
            <p:cNvCxnSpPr>
              <a:stCxn id="62" idx="0"/>
            </p:cNvCxnSpPr>
            <p:nvPr/>
          </p:nvCxnSpPr>
          <p:spPr>
            <a:xfrm flipH="1" flipV="1">
              <a:off x="5877145" y="4725144"/>
              <a:ext cx="296534" cy="648072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ZoneTexte 72"/>
            <p:cNvSpPr txBox="1"/>
            <p:nvPr/>
          </p:nvSpPr>
          <p:spPr>
            <a:xfrm>
              <a:off x="4364977" y="4273351"/>
              <a:ext cx="1512168" cy="52322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 smtClean="0">
                  <a:solidFill>
                    <a:schemeClr val="accent1"/>
                  </a:solidFill>
                </a:rPr>
                <a:t>Lisse la tendance ou le bruit ?</a:t>
              </a:r>
              <a:endParaRPr lang="fr-FR" sz="140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Validité du modèle : Ajustement aux données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9" name="Picture 2" descr="See original imag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23" y="1650286"/>
            <a:ext cx="294914" cy="294914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See original image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663154"/>
            <a:ext cx="294914" cy="294914"/>
          </a:xfrm>
          <a:prstGeom prst="rect">
            <a:avLst/>
          </a:prstGeom>
          <a:noFill/>
          <a:effectLst>
            <a:innerShdw blurRad="63500" dist="50800" dir="13500000">
              <a:prstClr val="black">
                <a:alpha val="50000"/>
              </a:prstClr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e 65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67" name="Rectangle 66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à coins arrondis 67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9" name="Rectangle à coins arrondis 68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70" name="Rectangle à coins arrondis 69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71" name="Rectangle à coins arrondis 70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72" name="Groupe 71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74" name="Pentagone 73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75" name="Pentagone 74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76" name="Pentagone 7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063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22</a:t>
            </a:fld>
            <a:endParaRPr lang="fr-FR" dirty="0"/>
          </a:p>
        </p:txBody>
      </p:sp>
      <p:sp>
        <p:nvSpPr>
          <p:cNvPr id="18" name="Espace réservé de la date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grpSp>
        <p:nvGrpSpPr>
          <p:cNvPr id="26" name="Groupe 25"/>
          <p:cNvGrpSpPr/>
          <p:nvPr/>
        </p:nvGrpSpPr>
        <p:grpSpPr>
          <a:xfrm>
            <a:off x="1220471" y="1772816"/>
            <a:ext cx="6807913" cy="4503929"/>
            <a:chOff x="-1860" y="1844824"/>
            <a:chExt cx="4128215" cy="3024336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04" y="1844824"/>
              <a:ext cx="1930619" cy="1480347"/>
            </a:xfrm>
            <a:prstGeom prst="rect">
              <a:avLst/>
            </a:prstGeom>
          </p:spPr>
        </p:pic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51720" y="1916832"/>
              <a:ext cx="2074635" cy="1489104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860" y="3380056"/>
              <a:ext cx="2088802" cy="1489104"/>
            </a:xfrm>
            <a:prstGeom prst="rect">
              <a:avLst/>
            </a:prstGeom>
          </p:spPr>
        </p:pic>
        <p:sp>
          <p:nvSpPr>
            <p:cNvPr id="19" name="Ellipse 18"/>
            <p:cNvSpPr/>
            <p:nvPr/>
          </p:nvSpPr>
          <p:spPr>
            <a:xfrm>
              <a:off x="323528" y="2132856"/>
              <a:ext cx="936104" cy="493729"/>
            </a:xfrm>
            <a:prstGeom prst="ellipse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Ellipse 20"/>
            <p:cNvSpPr/>
            <p:nvPr/>
          </p:nvSpPr>
          <p:spPr>
            <a:xfrm>
              <a:off x="2699792" y="2204864"/>
              <a:ext cx="936104" cy="637745"/>
            </a:xfrm>
            <a:prstGeom prst="ellipse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Ellipse 21"/>
            <p:cNvSpPr/>
            <p:nvPr/>
          </p:nvSpPr>
          <p:spPr>
            <a:xfrm>
              <a:off x="1043608" y="4005064"/>
              <a:ext cx="936104" cy="576064"/>
            </a:xfrm>
            <a:prstGeom prst="ellipse">
              <a:avLst/>
            </a:prstGeom>
            <a:noFill/>
            <a:ln w="31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7" name="Connecteur droit 26"/>
            <p:cNvCxnSpPr>
              <a:stCxn id="19" idx="5"/>
            </p:cNvCxnSpPr>
            <p:nvPr/>
          </p:nvCxnSpPr>
          <p:spPr>
            <a:xfrm>
              <a:off x="1122543" y="2554280"/>
              <a:ext cx="1510177" cy="1090744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 flipV="1">
              <a:off x="2987824" y="2842610"/>
              <a:ext cx="180020" cy="80241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 droit 31"/>
            <p:cNvCxnSpPr>
              <a:endCxn id="22" idx="6"/>
            </p:cNvCxnSpPr>
            <p:nvPr/>
          </p:nvCxnSpPr>
          <p:spPr>
            <a:xfrm flipH="1">
              <a:off x="1979712" y="3871807"/>
              <a:ext cx="432048" cy="42128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ZoneTexte 38"/>
            <p:cNvSpPr txBox="1"/>
            <p:nvPr/>
          </p:nvSpPr>
          <p:spPr>
            <a:xfrm>
              <a:off x="2411760" y="3645024"/>
              <a:ext cx="1512168" cy="45586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>
                  <a:solidFill>
                    <a:srgbClr val="FF0000"/>
                  </a:solidFill>
                </a:rPr>
                <a:t>Tendances caractéristiques ?</a:t>
              </a:r>
              <a:endParaRPr lang="fr-FR" dirty="0">
                <a:solidFill>
                  <a:srgbClr val="FF0000"/>
                </a:solidFill>
              </a:endParaRPr>
            </a:p>
          </p:txBody>
        </p:sp>
      </p:grpSp>
      <p:sp>
        <p:nvSpPr>
          <p:cNvPr id="47" name="ZoneTexte 46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Validité du modèle: Ajustement aux données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0" name="Groupe 39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1" name="Rectangle 40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à coins arrondis 41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3" name="Rectangle à coins arrondis 42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5" name="Rectangle à coins arrondis 44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8" name="Pentagone 47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9" name="Pentagone 48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0" name="Pentagone 49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218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23</a:t>
            </a:fld>
            <a:endParaRPr lang="fr-FR" dirty="0"/>
          </a:p>
        </p:txBody>
      </p:sp>
      <p:sp>
        <p:nvSpPr>
          <p:cNvPr id="18" name="Espace réservé de la date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7" name="ZoneTexte 46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Validité du modèle: Ajustement aux données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4" name="Groupe 23"/>
          <p:cNvGrpSpPr/>
          <p:nvPr/>
        </p:nvGrpSpPr>
        <p:grpSpPr>
          <a:xfrm>
            <a:off x="1619672" y="1772816"/>
            <a:ext cx="5976664" cy="4536504"/>
            <a:chOff x="4896197" y="1782108"/>
            <a:chExt cx="4053780" cy="3194485"/>
          </a:xfrm>
        </p:grpSpPr>
        <p:pic>
          <p:nvPicPr>
            <p:cNvPr id="25" name="Image 2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63989" y="1847234"/>
              <a:ext cx="1984774" cy="1558702"/>
            </a:xfrm>
            <a:prstGeom prst="rect">
              <a:avLst/>
            </a:prstGeom>
          </p:spPr>
        </p:pic>
        <p:pic>
          <p:nvPicPr>
            <p:cNvPr id="28" name="Image 2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684" y="3405936"/>
              <a:ext cx="2052067" cy="1570657"/>
            </a:xfrm>
            <a:prstGeom prst="rect">
              <a:avLst/>
            </a:prstGeom>
          </p:spPr>
        </p:pic>
        <p:pic>
          <p:nvPicPr>
            <p:cNvPr id="30" name="Image 2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96197" y="1782108"/>
              <a:ext cx="2052067" cy="1623828"/>
            </a:xfrm>
            <a:prstGeom prst="rect">
              <a:avLst/>
            </a:prstGeom>
          </p:spPr>
        </p:pic>
        <p:sp>
          <p:nvSpPr>
            <p:cNvPr id="31" name="Ellipse 30"/>
            <p:cNvSpPr/>
            <p:nvPr/>
          </p:nvSpPr>
          <p:spPr>
            <a:xfrm>
              <a:off x="5984776" y="2359207"/>
              <a:ext cx="936104" cy="421721"/>
            </a:xfrm>
            <a:prstGeom prst="ellipse">
              <a:avLst/>
            </a:prstGeom>
            <a:noFill/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Ellipse 32"/>
            <p:cNvSpPr/>
            <p:nvPr/>
          </p:nvSpPr>
          <p:spPr>
            <a:xfrm>
              <a:off x="8013873" y="2780928"/>
              <a:ext cx="936104" cy="421721"/>
            </a:xfrm>
            <a:prstGeom prst="ellipse">
              <a:avLst/>
            </a:prstGeom>
            <a:noFill/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Ellipse 33"/>
            <p:cNvSpPr/>
            <p:nvPr/>
          </p:nvSpPr>
          <p:spPr>
            <a:xfrm>
              <a:off x="8316415" y="3980403"/>
              <a:ext cx="633561" cy="600725"/>
            </a:xfrm>
            <a:prstGeom prst="ellipse">
              <a:avLst/>
            </a:prstGeom>
            <a:noFill/>
            <a:ln w="31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5" name="Connecteur droit 34"/>
            <p:cNvCxnSpPr/>
            <p:nvPr/>
          </p:nvCxnSpPr>
          <p:spPr>
            <a:xfrm flipV="1">
              <a:off x="5984776" y="2767195"/>
              <a:ext cx="377806" cy="937725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>
              <a:endCxn id="33" idx="3"/>
            </p:cNvCxnSpPr>
            <p:nvPr/>
          </p:nvCxnSpPr>
          <p:spPr>
            <a:xfrm flipV="1">
              <a:off x="6481775" y="3140889"/>
              <a:ext cx="1669187" cy="564031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>
              <a:endCxn id="34" idx="2"/>
            </p:cNvCxnSpPr>
            <p:nvPr/>
          </p:nvCxnSpPr>
          <p:spPr>
            <a:xfrm>
              <a:off x="6481775" y="3923225"/>
              <a:ext cx="1834640" cy="357540"/>
            </a:xfrm>
            <a:prstGeom prst="line">
              <a:avLst/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/>
            <p:cNvSpPr txBox="1"/>
            <p:nvPr/>
          </p:nvSpPr>
          <p:spPr>
            <a:xfrm>
              <a:off x="4896197" y="3704920"/>
              <a:ext cx="1585578" cy="273077"/>
            </a:xfrm>
            <a:prstGeom prst="rect">
              <a:avLst/>
            </a:prstGeom>
            <a:noFill/>
            <a:ln w="19050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>
                  <a:solidFill>
                    <a:srgbClr val="00B0F0"/>
                  </a:solidFill>
                </a:rPr>
                <a:t>Densités différentes ?</a:t>
              </a:r>
            </a:p>
          </p:txBody>
        </p:sp>
      </p:grpSp>
      <p:grpSp>
        <p:nvGrpSpPr>
          <p:cNvPr id="29" name="Groupe 28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0" name="Rectangle 3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à coins arrondis 4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2" name="Rectangle à coins arrondis 41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3" name="Rectangle à coins arrondis 42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5" name="Rectangle à coins arrondis 44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54" name="Groupe 53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5" name="Pentagone 54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6" name="Pentagone 55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7" name="Pentagone 56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561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24</a:t>
            </a:fld>
            <a:endParaRPr lang="fr-FR" dirty="0"/>
          </a:p>
        </p:txBody>
      </p:sp>
      <p:sp>
        <p:nvSpPr>
          <p:cNvPr id="18" name="Espace réservé de la date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7" name="ZoneTexte 46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Validité du modèle: Ajustement aux données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26" name="Groupe 25"/>
          <p:cNvGrpSpPr/>
          <p:nvPr/>
        </p:nvGrpSpPr>
        <p:grpSpPr>
          <a:xfrm>
            <a:off x="1043608" y="1988840"/>
            <a:ext cx="6120679" cy="3886686"/>
            <a:chOff x="2632720" y="4431654"/>
            <a:chExt cx="4124773" cy="1943403"/>
          </a:xfrm>
        </p:grpSpPr>
        <p:pic>
          <p:nvPicPr>
            <p:cNvPr id="27" name="Image 2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2720" y="4833897"/>
              <a:ext cx="1943992" cy="1505898"/>
            </a:xfrm>
            <a:prstGeom prst="rect">
              <a:avLst/>
            </a:prstGeom>
          </p:spPr>
        </p:pic>
        <p:pic>
          <p:nvPicPr>
            <p:cNvPr id="29" name="Image 2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3888" y="4869160"/>
              <a:ext cx="2113605" cy="1505897"/>
            </a:xfrm>
            <a:prstGeom prst="rect">
              <a:avLst/>
            </a:prstGeom>
          </p:spPr>
        </p:pic>
        <p:sp>
          <p:nvSpPr>
            <p:cNvPr id="32" name="Ellipse 31"/>
            <p:cNvSpPr/>
            <p:nvPr/>
          </p:nvSpPr>
          <p:spPr>
            <a:xfrm>
              <a:off x="3851920" y="5229200"/>
              <a:ext cx="684076" cy="864096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Ellipse 38"/>
            <p:cNvSpPr/>
            <p:nvPr/>
          </p:nvSpPr>
          <p:spPr>
            <a:xfrm>
              <a:off x="5966281" y="5333733"/>
              <a:ext cx="684076" cy="864096"/>
            </a:xfrm>
            <a:prstGeom prst="ellipse">
              <a:avLst/>
            </a:prstGeom>
            <a:noFill/>
            <a:ln w="127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4" name="Connecteur droit 43"/>
            <p:cNvCxnSpPr>
              <a:stCxn id="32" idx="0"/>
            </p:cNvCxnSpPr>
            <p:nvPr/>
          </p:nvCxnSpPr>
          <p:spPr>
            <a:xfrm flipV="1">
              <a:off x="4193958" y="4754829"/>
              <a:ext cx="331726" cy="47437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>
              <a:stCxn id="39" idx="0"/>
            </p:cNvCxnSpPr>
            <p:nvPr/>
          </p:nvCxnSpPr>
          <p:spPr>
            <a:xfrm flipH="1" flipV="1">
              <a:off x="5819183" y="4754829"/>
              <a:ext cx="489136" cy="578904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ZoneTexte 47"/>
            <p:cNvSpPr txBox="1"/>
            <p:nvPr/>
          </p:nvSpPr>
          <p:spPr>
            <a:xfrm>
              <a:off x="4525684" y="4431654"/>
              <a:ext cx="1293499" cy="32317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>
                  <a:solidFill>
                    <a:schemeClr val="accent1"/>
                  </a:solidFill>
                </a:rPr>
                <a:t>Lisse la tendance ou le bruit ?</a:t>
              </a:r>
            </a:p>
          </p:txBody>
        </p:sp>
      </p:grpSp>
      <p:grpSp>
        <p:nvGrpSpPr>
          <p:cNvPr id="37" name="Groupe 3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8" name="Rectangle 3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à coins arrondis 39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1" name="Rectangle à coins arrondis 40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2" name="Rectangle à coins arrondis 41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3" name="Rectangle à coins arrondis 42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5" name="Groupe 44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9" name="Pentagone 48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0" name="Pentagone 49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1" name="Pentagone 50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403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7" y="1779656"/>
            <a:ext cx="3023891" cy="373757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628800"/>
            <a:ext cx="2808312" cy="403244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825" y="1772816"/>
            <a:ext cx="2952328" cy="3816424"/>
          </a:xfrm>
          <a:prstGeom prst="rect">
            <a:avLst/>
          </a:prstGeom>
        </p:spPr>
      </p:pic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25</a:t>
            </a:fld>
            <a:endParaRPr lang="fr-FR" dirty="0"/>
          </a:p>
        </p:txBody>
      </p:sp>
      <p:sp>
        <p:nvSpPr>
          <p:cNvPr id="18" name="Espace réservé de la date 1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6" name="Flèche droite 25"/>
          <p:cNvSpPr/>
          <p:nvPr/>
        </p:nvSpPr>
        <p:spPr>
          <a:xfrm>
            <a:off x="1331640" y="5877272"/>
            <a:ext cx="1080120" cy="216024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ZoneTexte 27"/>
          <p:cNvSpPr txBox="1"/>
          <p:nvPr/>
        </p:nvSpPr>
        <p:spPr>
          <a:xfrm>
            <a:off x="2555776" y="5589240"/>
            <a:ext cx="4896544" cy="80021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dirty="0" smtClean="0">
                <a:solidFill>
                  <a:srgbClr val="FF0000"/>
                </a:solidFill>
              </a:rPr>
              <a:t>Tendance inchangée quelque soit le scénario</a:t>
            </a:r>
            <a:endParaRPr lang="fr-FR" sz="14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400" dirty="0" smtClean="0"/>
              <a:t>Recrutement absolu diffère en fonction de valeur de </a:t>
            </a:r>
            <a:r>
              <a:rPr lang="el-GR" sz="1400" dirty="0" smtClean="0"/>
              <a:t>β</a:t>
            </a:r>
            <a:r>
              <a:rPr lang="fr-FR" sz="1400" dirty="0" smtClean="0"/>
              <a:t> (</a:t>
            </a:r>
            <a:r>
              <a:rPr lang="fr-FR" sz="1400" dirty="0"/>
              <a:t>surtout  </a:t>
            </a:r>
            <a:r>
              <a:rPr lang="el-GR" sz="1400" dirty="0"/>
              <a:t>β</a:t>
            </a:r>
            <a:r>
              <a:rPr lang="fr-FR" sz="1400" dirty="0"/>
              <a:t> </a:t>
            </a:r>
            <a:r>
              <a:rPr lang="fr-FR" sz="1400" dirty="0" smtClean="0"/>
              <a:t>=1.5)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-108520" y="908720"/>
            <a:ext cx="9433048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Validité du modèle: Analyse de sensibilité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11560" y="1630541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Paramètre</a:t>
            </a:r>
            <a:r>
              <a:rPr lang="en-US" sz="1200" dirty="0" smtClean="0"/>
              <a:t> </a:t>
            </a:r>
            <a:r>
              <a:rPr lang="en-US" sz="1200" dirty="0" err="1" smtClean="0"/>
              <a:t>intervenant</a:t>
            </a:r>
            <a:r>
              <a:rPr lang="en-US" sz="1200" dirty="0" smtClean="0"/>
              <a:t> dans la proportion de </a:t>
            </a:r>
            <a:r>
              <a:rPr lang="en-US" sz="1200" dirty="0" err="1" smtClean="0"/>
              <a:t>larves</a:t>
            </a:r>
            <a:r>
              <a:rPr lang="en-US" sz="1200" dirty="0" smtClean="0"/>
              <a:t> </a:t>
            </a:r>
            <a:r>
              <a:rPr lang="en-US" sz="1200" dirty="0" err="1" smtClean="0"/>
              <a:t>attribuée</a:t>
            </a:r>
            <a:r>
              <a:rPr lang="en-US" sz="1200" dirty="0" smtClean="0"/>
              <a:t> à </a:t>
            </a:r>
            <a:r>
              <a:rPr lang="en-US" sz="1200" dirty="0" err="1" smtClean="0"/>
              <a:t>chaque</a:t>
            </a:r>
            <a:r>
              <a:rPr lang="en-US" sz="1200" dirty="0" smtClean="0"/>
              <a:t> zone</a:t>
            </a:r>
            <a:endParaRPr lang="en-US" sz="1200" dirty="0"/>
          </a:p>
        </p:txBody>
      </p:sp>
      <p:sp>
        <p:nvSpPr>
          <p:cNvPr id="27" name="ZoneTexte 26"/>
          <p:cNvSpPr txBox="1"/>
          <p:nvPr/>
        </p:nvSpPr>
        <p:spPr>
          <a:xfrm>
            <a:off x="3275855" y="1628800"/>
            <a:ext cx="2736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Sous-estimation du </a:t>
            </a:r>
            <a:r>
              <a:rPr lang="en-US" sz="1200" dirty="0" err="1" smtClean="0"/>
              <a:t>recrutement</a:t>
            </a:r>
            <a:r>
              <a:rPr lang="en-US" sz="1200" dirty="0" smtClean="0"/>
              <a:t> </a:t>
            </a:r>
            <a:r>
              <a:rPr lang="en-US" sz="1200" dirty="0" err="1" smtClean="0"/>
              <a:t>absolu</a:t>
            </a:r>
            <a:r>
              <a:rPr lang="en-US" sz="1200" dirty="0" smtClean="0"/>
              <a:t> ?</a:t>
            </a:r>
          </a:p>
          <a:p>
            <a:r>
              <a:rPr lang="en-US" sz="1200" dirty="0" smtClean="0"/>
              <a:t>Simulation d’un </a:t>
            </a:r>
            <a:r>
              <a:rPr lang="en-US" sz="1200" dirty="0" err="1"/>
              <a:t>b</a:t>
            </a:r>
            <a:r>
              <a:rPr lang="en-US" sz="1200" dirty="0" err="1" smtClean="0"/>
              <a:t>iais</a:t>
            </a:r>
            <a:r>
              <a:rPr lang="en-US" sz="1200" dirty="0" smtClean="0"/>
              <a:t>  de 10%</a:t>
            </a:r>
            <a:endParaRPr lang="en-US" sz="1200" dirty="0"/>
          </a:p>
        </p:txBody>
      </p:sp>
      <p:sp>
        <p:nvSpPr>
          <p:cNvPr id="30" name="ZoneTexte 29"/>
          <p:cNvSpPr txBox="1"/>
          <p:nvPr/>
        </p:nvSpPr>
        <p:spPr>
          <a:xfrm>
            <a:off x="6588223" y="1671191"/>
            <a:ext cx="2592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Différentes</a:t>
            </a:r>
            <a:r>
              <a:rPr lang="en-US" sz="1200" dirty="0" smtClean="0"/>
              <a:t> </a:t>
            </a:r>
            <a:r>
              <a:rPr lang="en-US" sz="1200" dirty="0" err="1" smtClean="0"/>
              <a:t>valeurs</a:t>
            </a:r>
            <a:r>
              <a:rPr lang="en-US" sz="1200" dirty="0" smtClean="0"/>
              <a:t> de </a:t>
            </a:r>
            <a:r>
              <a:rPr lang="el-GR" sz="1200" dirty="0" smtClean="0"/>
              <a:t>β</a:t>
            </a:r>
            <a:endParaRPr lang="fr-FR" sz="1200" dirty="0" smtClean="0"/>
          </a:p>
          <a:p>
            <a:r>
              <a:rPr lang="el-GR" sz="1200" dirty="0" smtClean="0"/>
              <a:t>β</a:t>
            </a:r>
            <a:r>
              <a:rPr lang="fr-FR" sz="1200" dirty="0" smtClean="0"/>
              <a:t> </a:t>
            </a:r>
            <a:r>
              <a:rPr lang="en-US" sz="1200" dirty="0" err="1" smtClean="0"/>
              <a:t>estimé</a:t>
            </a:r>
            <a:r>
              <a:rPr lang="en-US" sz="1200" dirty="0" smtClean="0"/>
              <a:t> par le </a:t>
            </a:r>
            <a:r>
              <a:rPr lang="en-US" sz="1200" dirty="0" err="1" smtClean="0"/>
              <a:t>modèle</a:t>
            </a:r>
            <a:r>
              <a:rPr lang="en-US" sz="1200" dirty="0" smtClean="0"/>
              <a:t>  = 0.76</a:t>
            </a:r>
            <a:endParaRPr lang="fr-FR" sz="1200" dirty="0"/>
          </a:p>
        </p:txBody>
      </p:sp>
      <p:grpSp>
        <p:nvGrpSpPr>
          <p:cNvPr id="25" name="Groupe 24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0" name="Rectangle 3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à coins arrondis 4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2" name="Rectangle à coins arrondis 41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3" name="Rectangle à coins arrondis 42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5" name="Groupe 44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6" name="Pentagone 45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7" name="Pentagone 46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48" name="Pentagone 47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2880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6" grpId="0"/>
      <p:bldP spid="27" grpId="0"/>
      <p:bldP spid="3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ZoneTexte 24"/>
          <p:cNvSpPr txBox="1"/>
          <p:nvPr/>
        </p:nvSpPr>
        <p:spPr>
          <a:xfrm>
            <a:off x="1331640" y="1772816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 smtClean="0"/>
              <a:t>Recrutement global</a:t>
            </a:r>
            <a:endParaRPr lang="fr-FR" b="1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26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Aperçu du recrutement aux trois échelles spatiales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931024" y="2060848"/>
            <a:ext cx="396145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Bonnes corrélations avec les deux indices de recrutement existants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smtClean="0"/>
              <a:t>0.98 avec Elsewhere Index</a:t>
            </a:r>
          </a:p>
          <a:p>
            <a:r>
              <a:rPr lang="en-US" dirty="0"/>
              <a:t>	</a:t>
            </a:r>
            <a:r>
              <a:rPr lang="en-US" dirty="0" smtClean="0"/>
              <a:t>0.89 avec North Sea Index </a:t>
            </a:r>
            <a:endParaRPr lang="en-US" dirty="0"/>
          </a:p>
        </p:txBody>
      </p:sp>
      <p:grpSp>
        <p:nvGrpSpPr>
          <p:cNvPr id="3" name="Groupe 2"/>
          <p:cNvGrpSpPr/>
          <p:nvPr/>
        </p:nvGrpSpPr>
        <p:grpSpPr>
          <a:xfrm>
            <a:off x="159766" y="2112387"/>
            <a:ext cx="4700265" cy="4340949"/>
            <a:chOff x="159766" y="1844823"/>
            <a:chExt cx="4700265" cy="4340949"/>
          </a:xfrm>
        </p:grpSpPr>
        <p:pic>
          <p:nvPicPr>
            <p:cNvPr id="20" name="Image 1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9551" y="1844823"/>
              <a:ext cx="4068168" cy="4340949"/>
            </a:xfrm>
            <a:prstGeom prst="rect">
              <a:avLst/>
            </a:prstGeom>
          </p:spPr>
        </p:pic>
        <p:sp>
          <p:nvSpPr>
            <p:cNvPr id="22" name="ZoneTexte 21"/>
            <p:cNvSpPr txBox="1"/>
            <p:nvPr/>
          </p:nvSpPr>
          <p:spPr>
            <a:xfrm rot="16200000">
              <a:off x="-658453" y="3527139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Recrutement (kg)</a:t>
              </a:r>
              <a:endParaRPr lang="fr-FR" sz="1400" dirty="0"/>
            </a:p>
          </p:txBody>
        </p:sp>
        <p:sp>
          <p:nvSpPr>
            <p:cNvPr id="24" name="ZoneTexte 23"/>
            <p:cNvSpPr txBox="1"/>
            <p:nvPr/>
          </p:nvSpPr>
          <p:spPr>
            <a:xfrm rot="16200000">
              <a:off x="3734035" y="3743163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 smtClean="0"/>
                <a:t>WGEEL index</a:t>
              </a:r>
              <a:endParaRPr lang="fr-FR" sz="1400" dirty="0"/>
            </a:p>
          </p:txBody>
        </p:sp>
        <p:cxnSp>
          <p:nvCxnSpPr>
            <p:cNvPr id="23" name="Connecteur droit 22"/>
            <p:cNvCxnSpPr/>
            <p:nvPr/>
          </p:nvCxnSpPr>
          <p:spPr>
            <a:xfrm>
              <a:off x="1475656" y="2276872"/>
              <a:ext cx="702221" cy="0"/>
            </a:xfrm>
            <a:prstGeom prst="line">
              <a:avLst/>
            </a:prstGeom>
            <a:ln w="1905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 droit 33"/>
            <p:cNvCxnSpPr/>
            <p:nvPr/>
          </p:nvCxnSpPr>
          <p:spPr>
            <a:xfrm>
              <a:off x="1475656" y="2492896"/>
              <a:ext cx="702221" cy="0"/>
            </a:xfrm>
            <a:prstGeom prst="line">
              <a:avLst/>
            </a:prstGeom>
            <a:ln w="19050">
              <a:solidFill>
                <a:srgbClr val="C22EB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>
              <a:off x="1475656" y="2708920"/>
              <a:ext cx="70222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ZoneTexte 32"/>
            <p:cNvSpPr txBox="1"/>
            <p:nvPr/>
          </p:nvSpPr>
          <p:spPr>
            <a:xfrm>
              <a:off x="2267744" y="2132856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Elsewhere Index</a:t>
              </a:r>
              <a:endParaRPr lang="en-US" sz="1200" dirty="0"/>
            </a:p>
          </p:txBody>
        </p:sp>
        <p:sp>
          <p:nvSpPr>
            <p:cNvPr id="37" name="ZoneTexte 36"/>
            <p:cNvSpPr txBox="1"/>
            <p:nvPr/>
          </p:nvSpPr>
          <p:spPr>
            <a:xfrm>
              <a:off x="2267744" y="2359913"/>
              <a:ext cx="136815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North Sea Index</a:t>
              </a:r>
              <a:endParaRPr lang="en-US" sz="1200" dirty="0"/>
            </a:p>
          </p:txBody>
        </p:sp>
        <p:sp>
          <p:nvSpPr>
            <p:cNvPr id="38" name="ZoneTexte 37"/>
            <p:cNvSpPr txBox="1"/>
            <p:nvPr/>
          </p:nvSpPr>
          <p:spPr>
            <a:xfrm>
              <a:off x="2276127" y="2575937"/>
              <a:ext cx="215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Recrutement global GEREM</a:t>
              </a:r>
              <a:endParaRPr lang="en-US" sz="1200" dirty="0"/>
            </a:p>
          </p:txBody>
        </p:sp>
      </p:grpSp>
      <p:sp>
        <p:nvSpPr>
          <p:cNvPr id="39" name="ZoneTexte 38"/>
          <p:cNvSpPr txBox="1"/>
          <p:nvPr/>
        </p:nvSpPr>
        <p:spPr>
          <a:xfrm>
            <a:off x="4931024" y="3429000"/>
            <a:ext cx="396145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Atteint 6% du niveau de recrutement des années 1960-1979 </a:t>
            </a:r>
          </a:p>
          <a:p>
            <a:r>
              <a:rPr lang="en-US" i="1" dirty="0" smtClean="0"/>
              <a:t>North Sea Index= 1.2%</a:t>
            </a:r>
          </a:p>
          <a:p>
            <a:r>
              <a:rPr lang="en-US" i="1" dirty="0" smtClean="0"/>
              <a:t>Elsewhere Index=8.4%</a:t>
            </a:r>
            <a:endParaRPr lang="en-US" i="1" dirty="0"/>
          </a:p>
        </p:txBody>
      </p:sp>
      <p:sp>
        <p:nvSpPr>
          <p:cNvPr id="40" name="ZoneTexte 39"/>
          <p:cNvSpPr txBox="1"/>
          <p:nvPr/>
        </p:nvSpPr>
        <p:spPr>
          <a:xfrm>
            <a:off x="4931597" y="4797152"/>
            <a:ext cx="3961456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Densité moyenne:</a:t>
            </a:r>
            <a:endParaRPr lang="en-US" i="1" dirty="0" smtClean="0"/>
          </a:p>
          <a:p>
            <a:r>
              <a:rPr lang="en-US" i="1" dirty="0"/>
              <a:t>	</a:t>
            </a:r>
            <a:r>
              <a:rPr lang="en-US" dirty="0" smtClean="0"/>
              <a:t>-5.22kg/km2 (1960)</a:t>
            </a:r>
          </a:p>
          <a:p>
            <a:r>
              <a:rPr lang="en-US" dirty="0"/>
              <a:t>	</a:t>
            </a:r>
            <a:r>
              <a:rPr lang="en-US" dirty="0" smtClean="0"/>
              <a:t>-0.13 kg/km2 (2009)</a:t>
            </a:r>
          </a:p>
        </p:txBody>
      </p:sp>
      <p:grpSp>
        <p:nvGrpSpPr>
          <p:cNvPr id="30" name="Groupe 29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1" name="Rectangle 30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à coins arrondis 49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1" name="Rectangle à coins arrondis 50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2" name="Rectangle à coins arrondis 51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53" name="Rectangle à coins arrondis 52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54" name="Groupe 53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5" name="Pentagone 54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6" name="Pentagone 55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7" name="Pentagone 56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61193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9" grpId="0" animBg="1"/>
      <p:bldP spid="4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e 13"/>
          <p:cNvGrpSpPr/>
          <p:nvPr/>
        </p:nvGrpSpPr>
        <p:grpSpPr>
          <a:xfrm>
            <a:off x="611559" y="2132856"/>
            <a:ext cx="4464497" cy="4104456"/>
            <a:chOff x="4167912" y="1484784"/>
            <a:chExt cx="4665739" cy="3744416"/>
          </a:xfrm>
        </p:grpSpPr>
        <p:pic>
          <p:nvPicPr>
            <p:cNvPr id="12" name="Image 1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7912" y="1484784"/>
              <a:ext cx="4665739" cy="3744416"/>
            </a:xfrm>
            <a:prstGeom prst="rect">
              <a:avLst/>
            </a:prstGeom>
          </p:spPr>
        </p:pic>
        <p:sp>
          <p:nvSpPr>
            <p:cNvPr id="13" name="ZoneTexte 12"/>
            <p:cNvSpPr txBox="1"/>
            <p:nvPr/>
          </p:nvSpPr>
          <p:spPr>
            <a:xfrm>
              <a:off x="4427984" y="4941168"/>
              <a:ext cx="52756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smtClean="0"/>
                <a:t>1960</a:t>
              </a:r>
              <a:endParaRPr lang="fr-FR" sz="900" dirty="0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5103415" y="4957911"/>
              <a:ext cx="528379" cy="240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smtClean="0"/>
                <a:t>1970</a:t>
              </a:r>
              <a:endParaRPr lang="fr-FR" sz="900" dirty="0"/>
            </a:p>
          </p:txBody>
        </p:sp>
        <p:sp>
          <p:nvSpPr>
            <p:cNvPr id="16" name="ZoneTexte 15"/>
            <p:cNvSpPr txBox="1"/>
            <p:nvPr/>
          </p:nvSpPr>
          <p:spPr>
            <a:xfrm>
              <a:off x="5868144" y="4957911"/>
              <a:ext cx="538646" cy="240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smtClean="0"/>
                <a:t>1980</a:t>
              </a:r>
              <a:endParaRPr lang="fr-FR" sz="900" dirty="0"/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6588224" y="4957911"/>
              <a:ext cx="507451" cy="240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smtClean="0"/>
                <a:t>1990</a:t>
              </a:r>
              <a:endParaRPr lang="fr-FR" sz="900" dirty="0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7222192" y="4940279"/>
              <a:ext cx="562370" cy="240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smtClean="0"/>
                <a:t>2000</a:t>
              </a:r>
              <a:endParaRPr lang="fr-FR" sz="900" dirty="0"/>
            </a:p>
          </p:txBody>
        </p:sp>
        <p:sp>
          <p:nvSpPr>
            <p:cNvPr id="19" name="ZoneTexte 18"/>
            <p:cNvSpPr txBox="1"/>
            <p:nvPr/>
          </p:nvSpPr>
          <p:spPr>
            <a:xfrm>
              <a:off x="7956783" y="4940279"/>
              <a:ext cx="531173" cy="2408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 smtClean="0"/>
                <a:t>2010</a:t>
              </a:r>
              <a:endParaRPr lang="fr-FR" sz="900" dirty="0"/>
            </a:p>
          </p:txBody>
        </p:sp>
      </p:grpSp>
      <p:sp>
        <p:nvSpPr>
          <p:cNvPr id="26" name="ZoneTexte 25"/>
          <p:cNvSpPr txBox="1"/>
          <p:nvPr/>
        </p:nvSpPr>
        <p:spPr>
          <a:xfrm>
            <a:off x="1475656" y="1763524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Recrutement par zone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27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Aperçu du recrutement aux trois échelles spatiales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5442640" y="4941168"/>
            <a:ext cx="3305824" cy="923330"/>
          </a:xfrm>
          <a:prstGeom prst="rect">
            <a:avLst/>
          </a:prstGeom>
          <a:solidFill>
            <a:srgbClr val="65E81C"/>
          </a:solidFill>
          <a:ln w="19050">
            <a:solidFill>
              <a:srgbClr val="65E81C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 Diminution de la proportion de civelles en Mer du Nord</a:t>
            </a:r>
            <a:r>
              <a:rPr lang="en-US" dirty="0"/>
              <a:t> </a:t>
            </a:r>
            <a:r>
              <a:rPr lang="en-US" dirty="0" smtClean="0"/>
              <a:t>après 1980</a:t>
            </a:r>
          </a:p>
        </p:txBody>
      </p:sp>
      <p:sp>
        <p:nvSpPr>
          <p:cNvPr id="34" name="ZoneTexte 33"/>
          <p:cNvSpPr txBox="1"/>
          <p:nvPr/>
        </p:nvSpPr>
        <p:spPr>
          <a:xfrm>
            <a:off x="5442641" y="2420887"/>
            <a:ext cx="3305823" cy="646331"/>
          </a:xfrm>
          <a:prstGeom prst="rect">
            <a:avLst/>
          </a:prstGeom>
          <a:solidFill>
            <a:srgbClr val="FFFF00"/>
          </a:solidFill>
          <a:ln w="19050"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/>
              <a:t>Zone Golfe de Gascogne</a:t>
            </a:r>
          </a:p>
          <a:p>
            <a:r>
              <a:rPr lang="en-US" dirty="0" smtClean="0"/>
              <a:t>20-40% du recrutement global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5442641" y="3429000"/>
            <a:ext cx="3305823" cy="646331"/>
          </a:xfrm>
          <a:prstGeom prst="rect">
            <a:avLst/>
          </a:prstGeom>
          <a:solidFill>
            <a:srgbClr val="0070C0"/>
          </a:solidFill>
          <a:ln w="1905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bg1"/>
                </a:solidFill>
              </a:rPr>
              <a:t>Zone Côte Ibérique 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20-45% du recrutement global</a:t>
            </a:r>
          </a:p>
        </p:txBody>
      </p:sp>
      <p:sp>
        <p:nvSpPr>
          <p:cNvPr id="3" name="ZoneTexte 2"/>
          <p:cNvSpPr txBox="1"/>
          <p:nvPr/>
        </p:nvSpPr>
        <p:spPr>
          <a:xfrm rot="16200000">
            <a:off x="-501566" y="3880304"/>
            <a:ext cx="1813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Recrutement (kg)</a:t>
            </a:r>
            <a:endParaRPr lang="en-US" sz="1400" dirty="0"/>
          </a:p>
        </p:txBody>
      </p:sp>
      <p:grpSp>
        <p:nvGrpSpPr>
          <p:cNvPr id="29" name="Groupe 28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0" name="Rectangle 2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à coins arrondis 3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5" name="Rectangle à coins arrondis 44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6" name="Rectangle à coins arrondis 45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7" name="Groupe 46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8" name="Pentagone 47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9" name="Pentagone 48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0" name="Pentagone 49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9113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>
          <a:xfrm>
            <a:off x="3124200" y="6376243"/>
            <a:ext cx="2895600" cy="365125"/>
          </a:xfrm>
        </p:spPr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28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9" name="ZoneTexte 38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Modélisation du recrutement à différentes échelles spatiales: résultats de GEREM</a:t>
            </a: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Aperçu du recrutement aux trois échelles 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spatiales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23528" y="3573016"/>
            <a:ext cx="835292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b="1" i="1" dirty="0" smtClean="0"/>
              <a:t>……A comparer avec une méta-analyse qui démontre la relation entre débit moyen et surface du bassin versant </a:t>
            </a:r>
            <a:r>
              <a:rPr lang="fr-FR" sz="1600" i="1" dirty="0"/>
              <a:t>(</a:t>
            </a:r>
            <a:r>
              <a:rPr lang="fr-FR" sz="1600" i="1" dirty="0" smtClean="0"/>
              <a:t>Burgers et al., 2014</a:t>
            </a:r>
            <a:r>
              <a:rPr lang="fr-FR" sz="1600" i="1" dirty="0"/>
              <a:t>)</a:t>
            </a:r>
          </a:p>
        </p:txBody>
      </p:sp>
      <p:grpSp>
        <p:nvGrpSpPr>
          <p:cNvPr id="22" name="Groupe 21"/>
          <p:cNvGrpSpPr/>
          <p:nvPr/>
        </p:nvGrpSpPr>
        <p:grpSpPr>
          <a:xfrm>
            <a:off x="2411760" y="4293096"/>
            <a:ext cx="3600524" cy="1171873"/>
            <a:chOff x="4967320" y="4725144"/>
            <a:chExt cx="3600524" cy="1171873"/>
          </a:xfrm>
        </p:grpSpPr>
        <p:sp>
          <p:nvSpPr>
            <p:cNvPr id="28" name="Rectangle 27"/>
            <p:cNvSpPr/>
            <p:nvPr/>
          </p:nvSpPr>
          <p:spPr>
            <a:xfrm>
              <a:off x="5004048" y="4959513"/>
              <a:ext cx="35637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b="1" kern="1200" dirty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Q</a:t>
              </a:r>
              <a:r>
                <a:rPr lang="fr-FR" kern="1200" dirty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= [2.80 </a:t>
              </a:r>
              <a:r>
                <a:rPr lang="fr-FR" dirty="0" smtClean="0">
                  <a:solidFill>
                    <a:srgbClr val="000000"/>
                  </a:solidFill>
                  <a:ea typeface="Times New Roman"/>
                  <a:cs typeface="Times New Roman"/>
                </a:rPr>
                <a:t>·</a:t>
              </a:r>
              <a:r>
                <a:rPr lang="fr-FR" dirty="0" smtClean="0"/>
                <a:t>10</a:t>
              </a:r>
              <a:r>
                <a:rPr lang="fr-FR" baseline="30000" dirty="0" smtClean="0"/>
                <a:t>-6</a:t>
              </a:r>
              <a:r>
                <a:rPr lang="fr-FR" kern="1200" dirty="0" smtClean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–1.42 </a:t>
              </a:r>
              <a:r>
                <a:rPr lang="fr-FR" kern="1200" dirty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· </a:t>
              </a:r>
              <a:r>
                <a:rPr lang="fr-FR" dirty="0" smtClean="0"/>
                <a:t>10</a:t>
              </a:r>
              <a:r>
                <a:rPr lang="fr-FR" baseline="30000" dirty="0" smtClean="0"/>
                <a:t>-5</a:t>
              </a:r>
              <a:r>
                <a:rPr lang="fr-FR" kern="1200" dirty="0" smtClean="0">
                  <a:solidFill>
                    <a:srgbClr val="000000"/>
                  </a:solidFill>
                  <a:effectLst/>
                  <a:latin typeface="Calibri"/>
                  <a:ea typeface="Times New Roman"/>
                  <a:cs typeface="Times New Roman"/>
                </a:rPr>
                <a:t>]*</a:t>
              </a:r>
              <a:r>
                <a:rPr lang="fr-FR" b="1" kern="1200" dirty="0">
                  <a:solidFill>
                    <a:srgbClr val="FF0000"/>
                  </a:solidFill>
                  <a:effectLst/>
                  <a:latin typeface="Calibri"/>
                  <a:ea typeface="Times New Roman"/>
                  <a:cs typeface="Times New Roman"/>
                </a:rPr>
                <a:t>A</a:t>
              </a:r>
              <a:r>
                <a:rPr lang="fr-FR" b="1" kern="1200" baseline="30000" dirty="0">
                  <a:solidFill>
                    <a:srgbClr val="FF0000"/>
                  </a:solidFill>
                  <a:effectLst/>
                  <a:latin typeface="Calibri"/>
                  <a:ea typeface="Times New Roman"/>
                  <a:cs typeface="Times New Roman"/>
                </a:rPr>
                <a:t>[0.71–0.85]</a:t>
              </a:r>
              <a:endParaRPr lang="fr-FR" sz="1400" b="1" dirty="0">
                <a:solidFill>
                  <a:srgbClr val="FF0000"/>
                </a:solidFill>
                <a:effectLst/>
                <a:latin typeface="Times New Roman"/>
                <a:ea typeface="Times New Roman"/>
              </a:endParaRPr>
            </a:p>
          </p:txBody>
        </p:sp>
        <p:sp>
          <p:nvSpPr>
            <p:cNvPr id="38" name="Ellipse 37"/>
            <p:cNvSpPr/>
            <p:nvPr/>
          </p:nvSpPr>
          <p:spPr>
            <a:xfrm>
              <a:off x="7452320" y="4725144"/>
              <a:ext cx="1113184" cy="72008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" name="Connecteur droit avec flèche 3"/>
            <p:cNvCxnSpPr/>
            <p:nvPr/>
          </p:nvCxnSpPr>
          <p:spPr>
            <a:xfrm flipV="1">
              <a:off x="5259230" y="5278119"/>
              <a:ext cx="0" cy="2880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avec flèche 34"/>
            <p:cNvCxnSpPr/>
            <p:nvPr/>
          </p:nvCxnSpPr>
          <p:spPr>
            <a:xfrm flipV="1">
              <a:off x="7668344" y="5229200"/>
              <a:ext cx="0" cy="36004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ZoneTexte 42"/>
            <p:cNvSpPr txBox="1"/>
            <p:nvPr/>
          </p:nvSpPr>
          <p:spPr>
            <a:xfrm>
              <a:off x="4967320" y="5589240"/>
              <a:ext cx="612792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Débit</a:t>
              </a:r>
              <a:endParaRPr lang="fr-FR" sz="1400" dirty="0"/>
            </a:p>
          </p:txBody>
        </p:sp>
        <p:sp>
          <p:nvSpPr>
            <p:cNvPr id="44" name="ZoneTexte 43"/>
            <p:cNvSpPr txBox="1"/>
            <p:nvPr/>
          </p:nvSpPr>
          <p:spPr>
            <a:xfrm>
              <a:off x="7164288" y="5589240"/>
              <a:ext cx="1026476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Surface BV</a:t>
              </a:r>
              <a:endParaRPr lang="fr-FR" sz="1400" dirty="0"/>
            </a:p>
          </p:txBody>
        </p:sp>
      </p:grpSp>
      <p:sp>
        <p:nvSpPr>
          <p:cNvPr id="26" name="Flèche droite 25"/>
          <p:cNvSpPr/>
          <p:nvPr/>
        </p:nvSpPr>
        <p:spPr>
          <a:xfrm>
            <a:off x="899592" y="5805264"/>
            <a:ext cx="1008112" cy="216024"/>
          </a:xfrm>
          <a:prstGeom prst="rightArrow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" name="Groupe 2"/>
          <p:cNvGrpSpPr/>
          <p:nvPr/>
        </p:nvGrpSpPr>
        <p:grpSpPr>
          <a:xfrm>
            <a:off x="395536" y="1628800"/>
            <a:ext cx="8352928" cy="1800200"/>
            <a:chOff x="395536" y="1484784"/>
            <a:chExt cx="8352928" cy="1800200"/>
          </a:xfrm>
        </p:grpSpPr>
        <p:grpSp>
          <p:nvGrpSpPr>
            <p:cNvPr id="15" name="Groupe 14"/>
            <p:cNvGrpSpPr/>
            <p:nvPr/>
          </p:nvGrpSpPr>
          <p:grpSpPr>
            <a:xfrm>
              <a:off x="395536" y="1484784"/>
              <a:ext cx="8352928" cy="1800200"/>
              <a:chOff x="547936" y="4500432"/>
              <a:chExt cx="8352928" cy="1800200"/>
            </a:xfrm>
          </p:grpSpPr>
          <p:sp>
            <p:nvSpPr>
              <p:cNvPr id="30" name="ZoneTexte 29"/>
              <p:cNvSpPr txBox="1"/>
              <p:nvPr/>
            </p:nvSpPr>
            <p:spPr>
              <a:xfrm>
                <a:off x="547936" y="4500432"/>
                <a:ext cx="8352928" cy="36933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b="1" i="1" dirty="0"/>
                  <a:t>E</a:t>
                </a:r>
                <a:r>
                  <a:rPr lang="fr-FR" b="1" i="1" dirty="0" smtClean="0"/>
                  <a:t>stimation du recrutement absolu à l’échelle du bassin versant…….</a:t>
                </a:r>
                <a:endParaRPr lang="fr-FR" b="1" i="1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 30"/>
                  <p:cNvSpPr/>
                  <p:nvPr/>
                </p:nvSpPr>
                <p:spPr>
                  <a:xfrm>
                    <a:off x="1135441" y="5301208"/>
                    <a:ext cx="1788759" cy="874150"/>
                  </a:xfrm>
                  <a:prstGeom prst="rect">
                    <a:avLst/>
                  </a:prstGeom>
                  <a:solidFill>
                    <a:srgbClr val="F2EB5A"/>
                  </a:solidFill>
                  <a:ln>
                    <a:solidFill>
                      <a:srgbClr val="FFC000"/>
                    </a:solidFill>
                  </a:ln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b="1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𝒄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𝒛</m:t>
                              </m:r>
                            </m:sub>
                          </m:sSub>
                          <m:r>
                            <a:rPr lang="en-US" b="1" i="1">
                              <a:latin typeface="Cambria Math"/>
                            </a:rPr>
                            <m:t>=</m:t>
                          </m:r>
                          <m:f>
                            <m:fPr>
                              <m:ctrlPr>
                                <a:rPr lang="fr-FR" b="1" i="1">
                                  <a:latin typeface="Cambria Math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fr-FR" b="1" i="1">
                                      <a:latin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b="1" i="1">
                                      <a:latin typeface="Cambria Math"/>
                                    </a:rPr>
                                    <m:t>𝒄</m:t>
                                  </m:r>
                                  <m:r>
                                    <a:rPr lang="en-US" b="1" i="1"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>
                                      <a:latin typeface="Cambria Math"/>
                                    </a:rPr>
                                    <m:t>𝒛</m:t>
                                  </m:r>
                                </m:sub>
                                <m:sup>
                                  <m:r>
                                    <a:rPr lang="en-US" b="1" i="1">
                                      <a:latin typeface="Cambria Math"/>
                                    </a:rPr>
                                    <m:t>𝜷</m:t>
                                  </m:r>
                                </m:sup>
                              </m:sSubSup>
                            </m:num>
                            <m:den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fr-FR" b="1" i="1">
                                      <a:latin typeface="Cambria Math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𝒄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b="1" i="1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b="1" i="1">
                                      <a:latin typeface="Cambria Math"/>
                                    </a:rPr>
                                    <m:t>𝟏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fr-FR" b="1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𝒏</m:t>
                                      </m:r>
                                    </m:e>
                                    <m:sub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𝒛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fr-FR" b="1" i="1">
                                          <a:latin typeface="Cambria Math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fr-FR" b="1" i="1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1" i="1">
                                              <a:latin typeface="Cambria Math"/>
                                            </a:rPr>
                                            <m:t>𝒄</m:t>
                                          </m:r>
                                        </m:e>
                                        <m:sub>
                                          <m:r>
                                            <a:rPr lang="en-US" b="1" i="1">
                                              <a:latin typeface="Cambria Math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sub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</a:rPr>
                                        <m:t>𝜷</m:t>
                                      </m:r>
                                    </m:sup>
                                  </m:sSubSup>
                                </m:e>
                              </m:nary>
                            </m:den>
                          </m:f>
                        </m:oMath>
                      </m:oMathPara>
                    </a14:m>
                    <a:endParaRPr lang="fr-FR" sz="1200" b="1" dirty="0"/>
                  </a:p>
                </p:txBody>
              </p:sp>
            </mc:Choice>
            <mc:Fallback xmlns="">
              <p:sp>
                <p:nvSpPr>
                  <p:cNvPr id="31" name="Rectangle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35441" y="5301208"/>
                    <a:ext cx="1788759" cy="874150"/>
                  </a:xfrm>
                  <a:prstGeom prst="rect">
                    <a:avLst/>
                  </a:prstGeom>
                  <a:blipFill rotWithShape="1">
                    <a:blip r:embed="rId2"/>
                    <a:stretch>
                      <a:fillRect/>
                    </a:stretch>
                  </a:blipFill>
                  <a:ln>
                    <a:solidFill>
                      <a:srgbClr val="FFC000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Ellipse 22"/>
              <p:cNvSpPr/>
              <p:nvPr/>
            </p:nvSpPr>
            <p:spPr>
              <a:xfrm>
                <a:off x="888788" y="5188852"/>
                <a:ext cx="2395452" cy="1111780"/>
              </a:xfrm>
              <a:prstGeom prst="ellipse">
                <a:avLst/>
              </a:prstGeom>
              <a:noFill/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4" name="Flèche courbée vers le bas 63"/>
              <p:cNvSpPr/>
              <p:nvPr/>
            </p:nvSpPr>
            <p:spPr>
              <a:xfrm>
                <a:off x="2420144" y="4950460"/>
                <a:ext cx="1495352" cy="350748"/>
              </a:xfrm>
              <a:prstGeom prst="curvedDownArrow">
                <a:avLst/>
              </a:prstGeom>
              <a:solidFill>
                <a:schemeClr val="accent3">
                  <a:lumMod val="75000"/>
                </a:schemeClr>
              </a:solidFill>
              <a:ln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Rectangle 64"/>
                  <p:cNvSpPr/>
                  <p:nvPr/>
                </p:nvSpPr>
                <p:spPr>
                  <a:xfrm>
                    <a:off x="3503158" y="5301208"/>
                    <a:ext cx="1725298" cy="986506"/>
                  </a:xfrm>
                  <a:prstGeom prst="rect">
                    <a:avLst/>
                  </a:prstGeom>
                  <a:solidFill>
                    <a:schemeClr val="accent3">
                      <a:lumMod val="75000"/>
                    </a:schemeClr>
                  </a:solidFill>
                  <a:ln>
                    <a:solidFill>
                      <a:schemeClr val="accent3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fr-FR" dirty="0" smtClean="0"/>
                      <a:t>Le recrutement absolu du BV dépend de</a:t>
                    </a:r>
                    <a:r>
                      <a:rPr lang="fr-FR" sz="1200" dirty="0" smtClean="0"/>
                      <a:t> </a:t>
                    </a:r>
                    <a14:m>
                      <m:oMath xmlns:m="http://schemas.openxmlformats.org/officeDocument/2006/math">
                        <m:sSubSup>
                          <m:sSubSupPr>
                            <m:ctrlPr>
                              <a:rPr lang="fr-FR" sz="1600" b="1" i="1">
                                <a:latin typeface="Cambria Math"/>
                              </a:rPr>
                            </m:ctrlPr>
                          </m:sSubSupPr>
                          <m:e>
                            <m:r>
                              <a:rPr lang="en-US" sz="1600" b="1" i="1">
                                <a:latin typeface="Cambria Math"/>
                              </a:rPr>
                              <m:t>𝑺</m:t>
                            </m:r>
                          </m:e>
                          <m:sub>
                            <m:r>
                              <a:rPr lang="en-US" sz="1600" b="1" i="1">
                                <a:latin typeface="Cambria Math"/>
                              </a:rPr>
                              <m:t>𝒄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,</m:t>
                            </m:r>
                            <m:r>
                              <a:rPr lang="en-US" sz="1600" b="1" i="1">
                                <a:latin typeface="Cambria Math"/>
                              </a:rPr>
                              <m:t>𝒛</m:t>
                            </m:r>
                          </m:sub>
                          <m:sup>
                            <m:r>
                              <a:rPr lang="en-US" sz="1600" b="1" i="1">
                                <a:latin typeface="Cambria Math"/>
                              </a:rPr>
                              <m:t>𝜷</m:t>
                            </m:r>
                          </m:sup>
                        </m:sSubSup>
                      </m:oMath>
                    </a14:m>
                    <a:endParaRPr lang="fr-FR" sz="1600" dirty="0"/>
                  </a:p>
                </p:txBody>
              </p:sp>
            </mc:Choice>
            <mc:Fallback xmlns="">
              <p:sp>
                <p:nvSpPr>
                  <p:cNvPr id="65" name="Rectangle 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03158" y="5301208"/>
                    <a:ext cx="1725298" cy="986506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r="-1045" b="-5422"/>
                    </a:stretch>
                  </a:blipFill>
                  <a:ln>
                    <a:solidFill>
                      <a:schemeClr val="accent3">
                        <a:lumMod val="75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Rectangle 35"/>
            <p:cNvSpPr/>
            <p:nvPr/>
          </p:nvSpPr>
          <p:spPr>
            <a:xfrm>
              <a:off x="5652120" y="2298478"/>
              <a:ext cx="2016224" cy="986506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l-GR" b="1" dirty="0" smtClean="0"/>
                <a:t>β</a:t>
              </a:r>
              <a:r>
                <a:rPr lang="fr-FR" b="1" dirty="0" smtClean="0"/>
                <a:t>  = 0,76</a:t>
              </a:r>
            </a:p>
            <a:p>
              <a:pPr algn="ctr"/>
              <a:r>
                <a:rPr lang="fr-FR" b="1" dirty="0" smtClean="0"/>
                <a:t> </a:t>
              </a:r>
              <a:r>
                <a:rPr lang="el-GR" b="1" dirty="0" smtClean="0"/>
                <a:t>β</a:t>
              </a:r>
              <a:r>
                <a:rPr lang="fr-FR" b="1" dirty="0" smtClean="0"/>
                <a:t> = [0.69-0.79]</a:t>
              </a:r>
            </a:p>
            <a:p>
              <a:pPr algn="ctr"/>
              <a:r>
                <a:rPr lang="fr-FR" b="1" dirty="0" smtClean="0"/>
                <a:t>D‘après le modèle</a:t>
              </a:r>
              <a:endParaRPr lang="fr-FR" b="1" dirty="0"/>
            </a:p>
          </p:txBody>
        </p:sp>
        <p:sp>
          <p:nvSpPr>
            <p:cNvPr id="40" name="Flèche courbée vers le bas 39"/>
            <p:cNvSpPr/>
            <p:nvPr/>
          </p:nvSpPr>
          <p:spPr>
            <a:xfrm>
              <a:off x="4591032" y="1916832"/>
              <a:ext cx="1637152" cy="381646"/>
            </a:xfrm>
            <a:prstGeom prst="curvedDownArrow">
              <a:avLst/>
            </a:pr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pic>
        <p:nvPicPr>
          <p:cNvPr id="3074" name="Picture 2" descr="See original imag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653136"/>
            <a:ext cx="2160240" cy="1620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/>
          <p:cNvSpPr txBox="1"/>
          <p:nvPr/>
        </p:nvSpPr>
        <p:spPr>
          <a:xfrm>
            <a:off x="2239789" y="5661248"/>
            <a:ext cx="3916511" cy="646331"/>
          </a:xfrm>
          <a:prstGeom prst="rect">
            <a:avLst/>
          </a:prstGeom>
          <a:solidFill>
            <a:schemeClr val="accent3">
              <a:lumMod val="75000"/>
            </a:schemeClr>
          </a:solidFill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 err="1" smtClean="0"/>
              <a:t>Résultat</a:t>
            </a:r>
            <a:r>
              <a:rPr lang="en-US" b="1" u="sng" dirty="0" smtClean="0"/>
              <a:t> du modèle:</a:t>
            </a:r>
          </a:p>
          <a:p>
            <a:pPr algn="ctr"/>
            <a:r>
              <a:rPr lang="en-US" dirty="0" smtClean="0"/>
              <a:t>Recrutement estuarien ~ </a:t>
            </a:r>
            <a:r>
              <a:rPr lang="en-US" dirty="0" err="1" smtClean="0"/>
              <a:t>débit</a:t>
            </a:r>
            <a:r>
              <a:rPr lang="en-US" dirty="0" smtClean="0"/>
              <a:t> </a:t>
            </a:r>
            <a:r>
              <a:rPr lang="en-US" dirty="0" err="1" smtClean="0"/>
              <a:t>moyen</a:t>
            </a:r>
            <a:endParaRPr lang="en-US" dirty="0"/>
          </a:p>
        </p:txBody>
      </p:sp>
      <p:grpSp>
        <p:nvGrpSpPr>
          <p:cNvPr id="47" name="Groupe 4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8" name="Rectangle 4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à coins arrondis 48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0" name="Rectangle à coins arrondis 49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1" name="Rectangle à coins arrondis 50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52" name="Rectangle à coins arrondis 51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53" name="Groupe 52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4" name="Pentagone 53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5" name="Pentagone 54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6" name="Pentagone 5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5097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29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628800"/>
            <a:ext cx="5385217" cy="4392488"/>
          </a:xfrm>
          <a:prstGeom prst="rect">
            <a:avLst/>
          </a:prstGeom>
        </p:spPr>
      </p:pic>
      <p:cxnSp>
        <p:nvCxnSpPr>
          <p:cNvPr id="64" name="Connecteur droit avec flèche 63"/>
          <p:cNvCxnSpPr/>
          <p:nvPr/>
        </p:nvCxnSpPr>
        <p:spPr>
          <a:xfrm>
            <a:off x="251520" y="3933056"/>
            <a:ext cx="862136" cy="0"/>
          </a:xfrm>
          <a:prstGeom prst="straightConnector1">
            <a:avLst/>
          </a:prstGeom>
          <a:ln w="1016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/>
          <p:cNvCxnSpPr/>
          <p:nvPr/>
        </p:nvCxnSpPr>
        <p:spPr>
          <a:xfrm flipV="1">
            <a:off x="1113656" y="3284984"/>
            <a:ext cx="1247873" cy="648072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flipV="1">
            <a:off x="1115616" y="3789040"/>
            <a:ext cx="1620180" cy="144016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>
            <a:off x="1115616" y="3933056"/>
            <a:ext cx="1440160" cy="302784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avec flèche 43"/>
          <p:cNvCxnSpPr/>
          <p:nvPr/>
        </p:nvCxnSpPr>
        <p:spPr>
          <a:xfrm>
            <a:off x="1115616" y="3933056"/>
            <a:ext cx="864096" cy="1080120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/>
          <p:nvPr/>
        </p:nvCxnSpPr>
        <p:spPr>
          <a:xfrm>
            <a:off x="1113656" y="3933056"/>
            <a:ext cx="2522240" cy="1584176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eur droit avec flèche 50"/>
          <p:cNvCxnSpPr/>
          <p:nvPr/>
        </p:nvCxnSpPr>
        <p:spPr>
          <a:xfrm flipV="1">
            <a:off x="1115616" y="2348880"/>
            <a:ext cx="2376264" cy="1584176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e 6"/>
          <p:cNvGrpSpPr/>
          <p:nvPr/>
        </p:nvGrpSpPr>
        <p:grpSpPr>
          <a:xfrm>
            <a:off x="2555776" y="4084448"/>
            <a:ext cx="504056" cy="640696"/>
            <a:chOff x="2555776" y="3790048"/>
            <a:chExt cx="504056" cy="640696"/>
          </a:xfrm>
        </p:grpSpPr>
        <p:cxnSp>
          <p:nvCxnSpPr>
            <p:cNvPr id="56" name="Connecteur droit avec flèche 55"/>
            <p:cNvCxnSpPr/>
            <p:nvPr/>
          </p:nvCxnSpPr>
          <p:spPr>
            <a:xfrm flipV="1">
              <a:off x="2555776" y="3790048"/>
              <a:ext cx="432048" cy="143008"/>
            </a:xfrm>
            <a:prstGeom prst="straightConnector1">
              <a:avLst/>
            </a:prstGeom>
            <a:ln w="25400">
              <a:solidFill>
                <a:srgbClr val="CBD82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/>
            <p:cNvCxnSpPr/>
            <p:nvPr/>
          </p:nvCxnSpPr>
          <p:spPr>
            <a:xfrm>
              <a:off x="2555776" y="3933056"/>
              <a:ext cx="504056" cy="8384"/>
            </a:xfrm>
            <a:prstGeom prst="straightConnector1">
              <a:avLst/>
            </a:prstGeom>
            <a:ln w="25400">
              <a:solidFill>
                <a:srgbClr val="CBD82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necteur droit avec flèche 87"/>
            <p:cNvCxnSpPr/>
            <p:nvPr/>
          </p:nvCxnSpPr>
          <p:spPr>
            <a:xfrm>
              <a:off x="2555776" y="3933056"/>
              <a:ext cx="504056" cy="217032"/>
            </a:xfrm>
            <a:prstGeom prst="straightConnector1">
              <a:avLst/>
            </a:prstGeom>
            <a:ln w="25400">
              <a:solidFill>
                <a:srgbClr val="CBD82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avec flèche 94"/>
            <p:cNvCxnSpPr/>
            <p:nvPr/>
          </p:nvCxnSpPr>
          <p:spPr>
            <a:xfrm>
              <a:off x="2555776" y="3933056"/>
              <a:ext cx="504056" cy="353672"/>
            </a:xfrm>
            <a:prstGeom prst="straightConnector1">
              <a:avLst/>
            </a:prstGeom>
            <a:ln w="25400">
              <a:solidFill>
                <a:srgbClr val="CBD82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necteur droit avec flèche 95"/>
            <p:cNvCxnSpPr/>
            <p:nvPr/>
          </p:nvCxnSpPr>
          <p:spPr>
            <a:xfrm>
              <a:off x="2555776" y="3933056"/>
              <a:ext cx="450177" cy="497688"/>
            </a:xfrm>
            <a:prstGeom prst="straightConnector1">
              <a:avLst/>
            </a:prstGeom>
            <a:ln w="25400">
              <a:solidFill>
                <a:srgbClr val="CBD82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Rectangle 37"/>
          <p:cNvSpPr/>
          <p:nvPr/>
        </p:nvSpPr>
        <p:spPr>
          <a:xfrm>
            <a:off x="2525933" y="3861048"/>
            <a:ext cx="779766" cy="1008112"/>
          </a:xfrm>
          <a:prstGeom prst="rect">
            <a:avLst/>
          </a:prstGeom>
          <a:noFill/>
          <a:ln>
            <a:solidFill>
              <a:srgbClr val="CBD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2" name="Connecteur droit 41"/>
          <p:cNvCxnSpPr/>
          <p:nvPr/>
        </p:nvCxnSpPr>
        <p:spPr>
          <a:xfrm flipV="1">
            <a:off x="3291644" y="1628800"/>
            <a:ext cx="2144452" cy="2286254"/>
          </a:xfrm>
          <a:prstGeom prst="line">
            <a:avLst/>
          </a:prstGeom>
          <a:ln w="28575">
            <a:solidFill>
              <a:srgbClr val="CBD8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ZoneTexte 35"/>
          <p:cNvSpPr txBox="1"/>
          <p:nvPr/>
        </p:nvSpPr>
        <p:spPr>
          <a:xfrm>
            <a:off x="-108520" y="908720"/>
            <a:ext cx="9505056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dimension fractale du recrutement…. 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Partiellement prise en compte….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436096" y="1628800"/>
            <a:ext cx="3672408" cy="1754326"/>
          </a:xfrm>
          <a:prstGeom prst="rect">
            <a:avLst/>
          </a:prstGeom>
          <a:noFill/>
          <a:ln w="19050">
            <a:solidFill>
              <a:srgbClr val="A9C83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u="sng" dirty="0"/>
              <a:t>Majorité des séries bien ajustées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/>
              <a:t> Dimension fractale prise en compte par le modèle (zone, </a:t>
            </a:r>
            <a:r>
              <a:rPr lang="fr-FR" dirty="0" err="1"/>
              <a:t>bv</a:t>
            </a:r>
            <a:r>
              <a:rPr lang="fr-FR" dirty="0"/>
              <a:t>)</a:t>
            </a:r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/>
              <a:t>Un recrutement estuarien qui dépend du débit (</a:t>
            </a:r>
            <a:r>
              <a:rPr lang="el-GR" dirty="0"/>
              <a:t>β</a:t>
            </a:r>
            <a:r>
              <a:rPr lang="fr-FR" dirty="0"/>
              <a:t>=0.76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5" name="ZoneTexte 34"/>
          <p:cNvSpPr txBox="1"/>
          <p:nvPr/>
        </p:nvSpPr>
        <p:spPr>
          <a:xfrm>
            <a:off x="5435650" y="3383126"/>
            <a:ext cx="3672408" cy="2308324"/>
          </a:xfrm>
          <a:prstGeom prst="rect">
            <a:avLst/>
          </a:prstGeom>
          <a:noFill/>
          <a:ln w="19050">
            <a:solidFill>
              <a:srgbClr val="A9C838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fr-FR" b="1" u="sng" dirty="0"/>
              <a:t>Biais systématiques sur certaines séries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/>
              <a:t>Tendances et densités différentes</a:t>
            </a:r>
          </a:p>
          <a:p>
            <a:endParaRPr lang="fr-FR" dirty="0"/>
          </a:p>
          <a:p>
            <a:endParaRPr lang="fr-FR" dirty="0"/>
          </a:p>
          <a:p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Des </a:t>
            </a:r>
            <a:r>
              <a:rPr lang="fr-FR" dirty="0"/>
              <a:t>facteurs locaux en jeu?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Données biaisées </a:t>
            </a:r>
            <a:r>
              <a:rPr lang="fr-FR" dirty="0" smtClean="0"/>
              <a:t>?</a:t>
            </a:r>
            <a:endParaRPr lang="fr-FR" dirty="0"/>
          </a:p>
        </p:txBody>
      </p:sp>
      <p:sp>
        <p:nvSpPr>
          <p:cNvPr id="5" name="Flèche courbée vers la droite 4"/>
          <p:cNvSpPr/>
          <p:nvPr/>
        </p:nvSpPr>
        <p:spPr>
          <a:xfrm>
            <a:off x="5580112" y="4301480"/>
            <a:ext cx="360040" cy="783704"/>
          </a:xfrm>
          <a:prstGeom prst="curvedRightArrow">
            <a:avLst/>
          </a:prstGeom>
          <a:solidFill>
            <a:srgbClr val="CBD828"/>
          </a:solidFill>
          <a:ln>
            <a:solidFill>
              <a:srgbClr val="CBD82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4" name="Groupe 53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55" name="Rectangle 54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à coins arrondis 56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8" name="Rectangle à coins arrondis 57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9" name="Rectangle à coins arrondis 58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60" name="Rectangle à coins arrondis 59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62" name="Groupe 61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63" name="Pentagone 62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65" name="Pentagone 64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66" name="Pentagone 6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3769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" grpId="0" animBg="1"/>
      <p:bldP spid="35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30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6" name="ZoneTexte 35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Apport du modèle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Vers une évaluation internationale du stock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11560" y="1519039"/>
            <a:ext cx="81369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Objectif: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Développer le modèle GEREM à large échelle avec données et connaissances disponibles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Aperçu de l’état de la population à plusieurs échelles spatiales en prenant en compte la dimension fractale du recrutement</a:t>
            </a:r>
          </a:p>
          <a:p>
            <a:r>
              <a:rPr lang="en-US" dirty="0"/>
              <a:t>	</a:t>
            </a:r>
            <a:r>
              <a:rPr lang="en-US" dirty="0" smtClean="0"/>
              <a:t>- Résultats cohérents avec tendances du WGEEL</a:t>
            </a:r>
          </a:p>
          <a:p>
            <a:r>
              <a:rPr lang="en-US" dirty="0"/>
              <a:t>	</a:t>
            </a:r>
            <a:r>
              <a:rPr lang="en-US" dirty="0" smtClean="0"/>
              <a:t>- Déclin plus rapide en Mer du Nord</a:t>
            </a:r>
          </a:p>
          <a:p>
            <a:endParaRPr lang="en-US" b="1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 smtClean="0"/>
              <a:t>Perspectives: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b="1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GEREM: un cadre méthodologique pour évaluer l’état de la population à l’échelle de son aire de répartition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Amélioration des données et meilleure couverture spatiale (c.f. Méditérranée et </a:t>
            </a:r>
            <a:r>
              <a:rPr lang="en-US" dirty="0" err="1" smtClean="0"/>
              <a:t>ouest</a:t>
            </a:r>
            <a:r>
              <a:rPr lang="en-US" dirty="0" smtClean="0"/>
              <a:t> Mer du Nord)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Amélioration de </a:t>
            </a:r>
            <a:r>
              <a:rPr lang="en-US" dirty="0" err="1" smtClean="0"/>
              <a:t>l’estimation</a:t>
            </a:r>
            <a:r>
              <a:rPr lang="en-US" dirty="0" smtClean="0"/>
              <a:t> de la </a:t>
            </a:r>
            <a:r>
              <a:rPr lang="en-US" dirty="0" err="1" smtClean="0"/>
              <a:t>tendance</a:t>
            </a:r>
            <a:r>
              <a:rPr lang="en-US" dirty="0" smtClean="0"/>
              <a:t> du WGEEL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Un point de </a:t>
            </a:r>
            <a:r>
              <a:rPr lang="en-US" dirty="0" err="1" smtClean="0"/>
              <a:t>départ</a:t>
            </a:r>
            <a:r>
              <a:rPr lang="en-US" dirty="0" smtClean="0"/>
              <a:t> pour les relations stock-recrutement dans le </a:t>
            </a:r>
            <a:r>
              <a:rPr lang="en-US" dirty="0" err="1" smtClean="0"/>
              <a:t>cas</a:t>
            </a:r>
            <a:r>
              <a:rPr lang="en-US" dirty="0" smtClean="0"/>
              <a:t> de </a:t>
            </a:r>
            <a:r>
              <a:rPr lang="en-US" dirty="0" err="1" smtClean="0"/>
              <a:t>l’anguille</a:t>
            </a:r>
            <a:r>
              <a:rPr lang="en-US" dirty="0" smtClean="0"/>
              <a:t> 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pSp>
        <p:nvGrpSpPr>
          <p:cNvPr id="25" name="Groupe 24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26" name="Rectangle 25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à coins arrondis 26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8" name="Rectangle à coins arrondis 27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29" name="Rectangle à coins arrondis 28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0" name="Rectangle à coins arrondis 29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31" name="Groupe 30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32" name="Pentagone 31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33" name="Pentagone 32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34" name="Pentagone 33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11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ZoneTexte 14"/>
          <p:cNvSpPr txBox="1"/>
          <p:nvPr/>
        </p:nvSpPr>
        <p:spPr>
          <a:xfrm>
            <a:off x="107504" y="6433591"/>
            <a:ext cx="30535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</a:rPr>
              <a:t>Année universitaire 2015-2016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2915816" y="6306485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Ingénieur agronome - Spécialisation Halieutique</a:t>
            </a:r>
          </a:p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Option Ressources et Ecosystèmes Aquatiques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31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5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0" y="2636912"/>
            <a:ext cx="9144000" cy="13831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/>
              <a:t>Analyse de corrélation</a:t>
            </a:r>
            <a:endParaRPr lang="en-US" sz="4400" dirty="0"/>
          </a:p>
        </p:txBody>
      </p:sp>
      <p:sp>
        <p:nvSpPr>
          <p:cNvPr id="24" name="Rectangle 23"/>
          <p:cNvSpPr/>
          <p:nvPr/>
        </p:nvSpPr>
        <p:spPr>
          <a:xfrm>
            <a:off x="0" y="4077072"/>
            <a:ext cx="9144000" cy="17364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eur droit 7"/>
          <p:cNvCxnSpPr/>
          <p:nvPr/>
        </p:nvCxnSpPr>
        <p:spPr>
          <a:xfrm>
            <a:off x="0" y="2564904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50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32</a:t>
            </a:fld>
            <a:endParaRPr lang="fr-FR" dirty="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-108520" y="908720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 Matériels et Méthodes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3528" y="2488828"/>
            <a:ext cx="8496944" cy="1477328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 Estimations du recrutement </a:t>
            </a:r>
            <a:r>
              <a:rPr lang="fr-FR" b="1" dirty="0" smtClean="0"/>
              <a:t>utilisées</a:t>
            </a:r>
            <a:r>
              <a:rPr lang="en-US" b="1" dirty="0" smtClean="0"/>
              <a:t> dans les analyses de </a:t>
            </a:r>
            <a:r>
              <a:rPr lang="fr-FR" b="1" dirty="0" smtClean="0"/>
              <a:t>corrélation</a:t>
            </a:r>
          </a:p>
          <a:p>
            <a:pPr marL="400050" indent="-400050">
              <a:buFont typeface="+mj-lt"/>
              <a:buAutoNum type="romanUcPeriod"/>
            </a:pPr>
            <a:endParaRPr lang="fr-FR" b="1" dirty="0"/>
          </a:p>
          <a:p>
            <a:pPr marL="400050" indent="-400050">
              <a:buFont typeface="+mj-lt"/>
              <a:buAutoNum type="romanUcPeriod"/>
            </a:pPr>
            <a:r>
              <a:rPr lang="en-US" b="1" dirty="0" smtClean="0"/>
              <a:t>Impact des </a:t>
            </a:r>
            <a:r>
              <a:rPr lang="fr-FR" b="1" dirty="0" smtClean="0"/>
              <a:t>facteurs</a:t>
            </a:r>
            <a:r>
              <a:rPr lang="en-US" b="1" dirty="0" smtClean="0"/>
              <a:t> </a:t>
            </a:r>
            <a:r>
              <a:rPr lang="fr-FR" b="1" dirty="0" smtClean="0"/>
              <a:t>océaniques et </a:t>
            </a:r>
            <a:r>
              <a:rPr lang="fr-FR" b="1" dirty="0"/>
              <a:t>atmosphériques</a:t>
            </a:r>
            <a:r>
              <a:rPr lang="en-US" b="1" dirty="0" smtClean="0"/>
              <a:t> sur la réussite du recrutement</a:t>
            </a:r>
          </a:p>
          <a:p>
            <a:endParaRPr lang="en-US" b="1" dirty="0" smtClean="0"/>
          </a:p>
          <a:p>
            <a:pPr marL="400050" indent="-400050">
              <a:buFont typeface="+mj-lt"/>
              <a:buAutoNum type="romanUcPeriod" startAt="3"/>
            </a:pPr>
            <a:r>
              <a:rPr lang="en-US" b="1" dirty="0" smtClean="0"/>
              <a:t>Calcul des corrélations </a:t>
            </a:r>
            <a:endParaRPr lang="en-US" b="1" dirty="0"/>
          </a:p>
        </p:txBody>
      </p:sp>
      <p:grpSp>
        <p:nvGrpSpPr>
          <p:cNvPr id="17" name="Groupe 16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8" name="Rectangle 17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à coins arrondis 18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7" name="Rectangle à coins arrondis 2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1" name="Rectangle à coins arrondis 30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2" name="Rectangle à coins arrondis 31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33" name="Groupe 32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34" name="Pentagone 33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35" name="Pentagone 34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36" name="Pentagone 3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7220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33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5" name="ZoneTexte 54"/>
          <p:cNvSpPr txBox="1"/>
          <p:nvPr/>
        </p:nvSpPr>
        <p:spPr>
          <a:xfrm>
            <a:off x="-108520" y="921716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Estimations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 </a:t>
            </a: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utilisées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dans les analyses de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corrélation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160" y="1383800"/>
            <a:ext cx="6893312" cy="5069536"/>
          </a:xfrm>
          <a:prstGeom prst="rect">
            <a:avLst/>
          </a:prstGeom>
        </p:spPr>
      </p:pic>
      <p:sp>
        <p:nvSpPr>
          <p:cNvPr id="12" name="Flèche droite 11"/>
          <p:cNvSpPr/>
          <p:nvPr/>
        </p:nvSpPr>
        <p:spPr>
          <a:xfrm>
            <a:off x="1115616" y="3763525"/>
            <a:ext cx="1661194" cy="293617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4" name="Flèche droite 93"/>
          <p:cNvSpPr/>
          <p:nvPr/>
        </p:nvSpPr>
        <p:spPr>
          <a:xfrm rot="20489175">
            <a:off x="2798743" y="3483524"/>
            <a:ext cx="2081814" cy="108298"/>
          </a:xfrm>
          <a:prstGeom prst="rightArrow">
            <a:avLst>
              <a:gd name="adj1" fmla="val 50000"/>
              <a:gd name="adj2" fmla="val 52296"/>
            </a:avLst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5" name="Flèche droite 94"/>
          <p:cNvSpPr/>
          <p:nvPr/>
        </p:nvSpPr>
        <p:spPr>
          <a:xfrm>
            <a:off x="2852009" y="3854107"/>
            <a:ext cx="2449799" cy="90583"/>
          </a:xfrm>
          <a:prstGeom prst="rightArrow">
            <a:avLst/>
          </a:prstGeom>
          <a:solidFill>
            <a:srgbClr val="5548B8"/>
          </a:solidFill>
          <a:ln>
            <a:solidFill>
              <a:srgbClr val="554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6" name="Flèche droite 95"/>
          <p:cNvSpPr/>
          <p:nvPr/>
        </p:nvSpPr>
        <p:spPr>
          <a:xfrm rot="870181">
            <a:off x="2831878" y="4138232"/>
            <a:ext cx="2364568" cy="107052"/>
          </a:xfrm>
          <a:prstGeom prst="rightArrow">
            <a:avLst>
              <a:gd name="adj1" fmla="val 50000"/>
              <a:gd name="adj2" fmla="val 5229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7" name="Flèche droite 96"/>
          <p:cNvSpPr/>
          <p:nvPr/>
        </p:nvSpPr>
        <p:spPr>
          <a:xfrm rot="2780113" flipV="1">
            <a:off x="2624290" y="4556468"/>
            <a:ext cx="1954567" cy="121796"/>
          </a:xfrm>
          <a:prstGeom prst="rightArrow">
            <a:avLst>
              <a:gd name="adj1" fmla="val 50000"/>
              <a:gd name="adj2" fmla="val 52296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33" name="Connecteur droit 32"/>
          <p:cNvCxnSpPr>
            <a:stCxn id="97" idx="1"/>
          </p:cNvCxnSpPr>
          <p:nvPr/>
        </p:nvCxnSpPr>
        <p:spPr>
          <a:xfrm flipV="1">
            <a:off x="2899659" y="2309249"/>
            <a:ext cx="2066763" cy="1601157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lèche droite 35"/>
          <p:cNvSpPr/>
          <p:nvPr/>
        </p:nvSpPr>
        <p:spPr>
          <a:xfrm>
            <a:off x="4953702" y="2276562"/>
            <a:ext cx="1594301" cy="66103"/>
          </a:xfrm>
          <a:prstGeom prst="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98" name="Connecteur droit 97"/>
          <p:cNvCxnSpPr>
            <a:stCxn id="96" idx="1"/>
          </p:cNvCxnSpPr>
          <p:nvPr/>
        </p:nvCxnSpPr>
        <p:spPr>
          <a:xfrm>
            <a:off x="2869552" y="3907134"/>
            <a:ext cx="1209024" cy="2302219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lèche droite 98"/>
          <p:cNvSpPr/>
          <p:nvPr/>
        </p:nvSpPr>
        <p:spPr>
          <a:xfrm>
            <a:off x="4047423" y="6176302"/>
            <a:ext cx="2087993" cy="66103"/>
          </a:xfrm>
          <a:prstGeom prst="rightArrow">
            <a:avLst/>
          </a:prstGeom>
          <a:solidFill>
            <a:srgbClr val="A9A86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ZoneTexte 43"/>
          <p:cNvSpPr txBox="1"/>
          <p:nvPr/>
        </p:nvSpPr>
        <p:spPr>
          <a:xfrm>
            <a:off x="6341710" y="2300719"/>
            <a:ext cx="687644" cy="3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</a:t>
            </a:r>
            <a:r>
              <a:rPr lang="fr-FR" sz="1200" dirty="0" smtClean="0"/>
              <a:t>1</a:t>
            </a:r>
            <a:r>
              <a:rPr lang="fr-FR" sz="1600" dirty="0" smtClean="0"/>
              <a:t>(y)</a:t>
            </a:r>
            <a:endParaRPr lang="fr-FR" sz="1600" dirty="0"/>
          </a:p>
        </p:txBody>
      </p:sp>
      <p:sp>
        <p:nvSpPr>
          <p:cNvPr id="100" name="ZoneTexte 99"/>
          <p:cNvSpPr txBox="1"/>
          <p:nvPr/>
        </p:nvSpPr>
        <p:spPr>
          <a:xfrm>
            <a:off x="1321909" y="3300801"/>
            <a:ext cx="1100230" cy="48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R</a:t>
            </a:r>
            <a:r>
              <a:rPr lang="fr-FR" dirty="0"/>
              <a:t>g</a:t>
            </a:r>
            <a:r>
              <a:rPr lang="fr-FR" sz="2400" dirty="0" smtClean="0"/>
              <a:t>(y)</a:t>
            </a:r>
            <a:endParaRPr lang="fr-FR" sz="2400" dirty="0"/>
          </a:p>
        </p:txBody>
      </p:sp>
      <p:sp>
        <p:nvSpPr>
          <p:cNvPr id="101" name="ZoneTexte 100"/>
          <p:cNvSpPr txBox="1"/>
          <p:nvPr/>
        </p:nvSpPr>
        <p:spPr>
          <a:xfrm>
            <a:off x="4609880" y="3292271"/>
            <a:ext cx="687644" cy="3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</a:t>
            </a:r>
            <a:r>
              <a:rPr lang="fr-FR" sz="1200" dirty="0"/>
              <a:t>2</a:t>
            </a:r>
            <a:r>
              <a:rPr lang="fr-FR" sz="1600" dirty="0" smtClean="0"/>
              <a:t>(y)</a:t>
            </a:r>
            <a:endParaRPr lang="fr-FR" sz="1600" dirty="0"/>
          </a:p>
        </p:txBody>
      </p:sp>
      <p:sp>
        <p:nvSpPr>
          <p:cNvPr id="102" name="ZoneTexte 101"/>
          <p:cNvSpPr txBox="1"/>
          <p:nvPr/>
        </p:nvSpPr>
        <p:spPr>
          <a:xfrm>
            <a:off x="4828893" y="3895732"/>
            <a:ext cx="687644" cy="3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</a:t>
            </a:r>
            <a:r>
              <a:rPr lang="fr-FR" sz="1200" dirty="0" smtClean="0"/>
              <a:t>3</a:t>
            </a:r>
            <a:r>
              <a:rPr lang="fr-FR" sz="1600" dirty="0" smtClean="0"/>
              <a:t>(y)</a:t>
            </a:r>
            <a:endParaRPr lang="fr-FR" sz="1600" dirty="0"/>
          </a:p>
        </p:txBody>
      </p:sp>
      <p:sp>
        <p:nvSpPr>
          <p:cNvPr id="103" name="ZoneTexte 102"/>
          <p:cNvSpPr txBox="1"/>
          <p:nvPr/>
        </p:nvSpPr>
        <p:spPr>
          <a:xfrm>
            <a:off x="5103951" y="4349926"/>
            <a:ext cx="687644" cy="3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</a:t>
            </a:r>
            <a:r>
              <a:rPr lang="fr-FR" sz="1200" dirty="0"/>
              <a:t>4</a:t>
            </a:r>
            <a:r>
              <a:rPr lang="fr-FR" sz="1600" dirty="0" smtClean="0"/>
              <a:t>(y)</a:t>
            </a:r>
            <a:endParaRPr lang="fr-FR" sz="1600" dirty="0"/>
          </a:p>
        </p:txBody>
      </p:sp>
      <p:sp>
        <p:nvSpPr>
          <p:cNvPr id="104" name="ZoneTexte 103"/>
          <p:cNvSpPr txBox="1"/>
          <p:nvPr/>
        </p:nvSpPr>
        <p:spPr>
          <a:xfrm>
            <a:off x="3866192" y="5275375"/>
            <a:ext cx="687644" cy="3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</a:t>
            </a:r>
            <a:r>
              <a:rPr lang="fr-FR" sz="1200" dirty="0" smtClean="0"/>
              <a:t>5</a:t>
            </a:r>
            <a:r>
              <a:rPr lang="fr-FR" sz="1600" dirty="0" smtClean="0"/>
              <a:t>(y)</a:t>
            </a:r>
            <a:endParaRPr lang="fr-FR" sz="1600" dirty="0"/>
          </a:p>
        </p:txBody>
      </p:sp>
      <p:sp>
        <p:nvSpPr>
          <p:cNvPr id="105" name="ZoneTexte 104"/>
          <p:cNvSpPr txBox="1"/>
          <p:nvPr/>
        </p:nvSpPr>
        <p:spPr>
          <a:xfrm>
            <a:off x="6135417" y="6068616"/>
            <a:ext cx="687644" cy="3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</a:t>
            </a:r>
            <a:r>
              <a:rPr lang="fr-FR" sz="1200" dirty="0"/>
              <a:t>6</a:t>
            </a:r>
            <a:r>
              <a:rPr lang="fr-FR" sz="1600" dirty="0" smtClean="0"/>
              <a:t>(y)</a:t>
            </a:r>
            <a:endParaRPr lang="fr-FR" sz="1600" dirty="0"/>
          </a:p>
        </p:txBody>
      </p:sp>
      <p:pic>
        <p:nvPicPr>
          <p:cNvPr id="51" name="Image 5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4797152"/>
            <a:ext cx="1800200" cy="1564947"/>
          </a:xfrm>
          <a:prstGeom prst="rect">
            <a:avLst/>
          </a:prstGeom>
        </p:spPr>
      </p:pic>
      <p:sp>
        <p:nvSpPr>
          <p:cNvPr id="3" name="Éclair 2"/>
          <p:cNvSpPr/>
          <p:nvPr/>
        </p:nvSpPr>
        <p:spPr>
          <a:xfrm rot="2291730">
            <a:off x="1116600" y="2764018"/>
            <a:ext cx="780389" cy="393859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Éclair 55"/>
          <p:cNvSpPr/>
          <p:nvPr/>
        </p:nvSpPr>
        <p:spPr>
          <a:xfrm>
            <a:off x="4652952" y="1844824"/>
            <a:ext cx="220580" cy="324036"/>
          </a:xfrm>
          <a:prstGeom prst="lightningBol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Connecteur droit 4"/>
          <p:cNvCxnSpPr/>
          <p:nvPr/>
        </p:nvCxnSpPr>
        <p:spPr>
          <a:xfrm>
            <a:off x="2771800" y="148478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/>
          <p:cNvCxnSpPr/>
          <p:nvPr/>
        </p:nvCxnSpPr>
        <p:spPr>
          <a:xfrm>
            <a:off x="2771800" y="2204864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/>
          <p:cNvCxnSpPr/>
          <p:nvPr/>
        </p:nvCxnSpPr>
        <p:spPr>
          <a:xfrm>
            <a:off x="2771800" y="2852936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/>
          <p:cNvCxnSpPr/>
          <p:nvPr/>
        </p:nvCxnSpPr>
        <p:spPr>
          <a:xfrm>
            <a:off x="2781350" y="3573016"/>
            <a:ext cx="0" cy="661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/>
          <p:cNvCxnSpPr/>
          <p:nvPr/>
        </p:nvCxnSpPr>
        <p:spPr>
          <a:xfrm>
            <a:off x="2771800" y="4437112"/>
            <a:ext cx="9550" cy="621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eur droit 82"/>
          <p:cNvCxnSpPr/>
          <p:nvPr/>
        </p:nvCxnSpPr>
        <p:spPr>
          <a:xfrm>
            <a:off x="2771800" y="5229200"/>
            <a:ext cx="0" cy="504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83"/>
          <p:cNvCxnSpPr/>
          <p:nvPr/>
        </p:nvCxnSpPr>
        <p:spPr>
          <a:xfrm>
            <a:off x="2771800" y="5903607"/>
            <a:ext cx="9550" cy="621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Éclair 84"/>
          <p:cNvSpPr/>
          <p:nvPr/>
        </p:nvSpPr>
        <p:spPr>
          <a:xfrm>
            <a:off x="4389300" y="2831768"/>
            <a:ext cx="220580" cy="324036"/>
          </a:xfrm>
          <a:prstGeom prst="lightningBol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Éclair 85"/>
          <p:cNvSpPr/>
          <p:nvPr/>
        </p:nvSpPr>
        <p:spPr>
          <a:xfrm>
            <a:off x="4427984" y="3519821"/>
            <a:ext cx="220580" cy="324036"/>
          </a:xfrm>
          <a:prstGeom prst="lightningBolt">
            <a:avLst/>
          </a:prstGeom>
          <a:solidFill>
            <a:srgbClr val="5548B8"/>
          </a:solidFill>
          <a:ln>
            <a:solidFill>
              <a:srgbClr val="554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Éclair 86"/>
          <p:cNvSpPr/>
          <p:nvPr/>
        </p:nvSpPr>
        <p:spPr>
          <a:xfrm>
            <a:off x="4583153" y="3996257"/>
            <a:ext cx="220580" cy="324036"/>
          </a:xfrm>
          <a:prstGeom prst="lightningBol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Éclair 87"/>
          <p:cNvSpPr/>
          <p:nvPr/>
        </p:nvSpPr>
        <p:spPr>
          <a:xfrm>
            <a:off x="3966618" y="4641698"/>
            <a:ext cx="220580" cy="324036"/>
          </a:xfrm>
          <a:prstGeom prst="lightningBol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Éclair 88"/>
          <p:cNvSpPr/>
          <p:nvPr/>
        </p:nvSpPr>
        <p:spPr>
          <a:xfrm>
            <a:off x="4033090" y="5744580"/>
            <a:ext cx="220580" cy="324036"/>
          </a:xfrm>
          <a:prstGeom prst="lightningBol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179512" y="1628800"/>
            <a:ext cx="25412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/>
              <a:t>Facteurs environnementaux à large échelle  affectant toute la population ?</a:t>
            </a:r>
          </a:p>
          <a:p>
            <a:pPr algn="ctr"/>
            <a:r>
              <a:rPr lang="fr-FR" sz="1400" b="1" dirty="0" smtClean="0"/>
              <a:t>Impacte la reproduction ?</a:t>
            </a:r>
            <a:endParaRPr lang="fr-FR" sz="1400" b="1" dirty="0"/>
          </a:p>
        </p:txBody>
      </p:sp>
      <p:sp>
        <p:nvSpPr>
          <p:cNvPr id="90" name="ZoneTexte 89"/>
          <p:cNvSpPr txBox="1"/>
          <p:nvPr/>
        </p:nvSpPr>
        <p:spPr>
          <a:xfrm>
            <a:off x="2915816" y="1700808"/>
            <a:ext cx="1655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/>
              <a:t>Routes migratoires différentes ?</a:t>
            </a:r>
          </a:p>
        </p:txBody>
      </p:sp>
      <p:sp>
        <p:nvSpPr>
          <p:cNvPr id="91" name="Ellipse 90"/>
          <p:cNvSpPr/>
          <p:nvPr/>
        </p:nvSpPr>
        <p:spPr>
          <a:xfrm>
            <a:off x="6287817" y="2168860"/>
            <a:ext cx="731439" cy="54006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Ellipse 91"/>
          <p:cNvSpPr/>
          <p:nvPr/>
        </p:nvSpPr>
        <p:spPr>
          <a:xfrm>
            <a:off x="4572794" y="2993786"/>
            <a:ext cx="724730" cy="68805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Ellipse 92"/>
          <p:cNvSpPr/>
          <p:nvPr/>
        </p:nvSpPr>
        <p:spPr>
          <a:xfrm>
            <a:off x="4793533" y="3681840"/>
            <a:ext cx="731439" cy="5529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4" name="Ellipse 113"/>
          <p:cNvSpPr/>
          <p:nvPr/>
        </p:nvSpPr>
        <p:spPr>
          <a:xfrm>
            <a:off x="4983839" y="4320293"/>
            <a:ext cx="731439" cy="4327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Ellipse 114"/>
          <p:cNvSpPr/>
          <p:nvPr/>
        </p:nvSpPr>
        <p:spPr>
          <a:xfrm>
            <a:off x="3835688" y="5181690"/>
            <a:ext cx="731439" cy="4327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6" name="Ellipse 115"/>
          <p:cNvSpPr/>
          <p:nvPr/>
        </p:nvSpPr>
        <p:spPr>
          <a:xfrm>
            <a:off x="6012160" y="6012084"/>
            <a:ext cx="810901" cy="43273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Ellipse 69"/>
          <p:cNvSpPr/>
          <p:nvPr/>
        </p:nvSpPr>
        <p:spPr>
          <a:xfrm>
            <a:off x="1321909" y="3292271"/>
            <a:ext cx="801819" cy="55158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1" name="Groupe 70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72" name="Rectangle 71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à coins arrondis 72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74" name="Rectangle à coins arrondis 73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75" name="Rectangle à coins arrondis 74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76" name="Rectangle à coins arrondis 75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77" name="Groupe 76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78" name="Pentagone 77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79" name="Pentagone 78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80" name="Pentagone 79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941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4" grpId="0" animBg="1"/>
      <p:bldP spid="95" grpId="0" animBg="1"/>
      <p:bldP spid="96" grpId="0" animBg="1"/>
      <p:bldP spid="97" grpId="0" animBg="1"/>
      <p:bldP spid="36" grpId="0" animBg="1"/>
      <p:bldP spid="99" grpId="0" animBg="1"/>
      <p:bldP spid="44" grpId="0"/>
      <p:bldP spid="100" grpId="0"/>
      <p:bldP spid="101" grpId="0"/>
      <p:bldP spid="102" grpId="0"/>
      <p:bldP spid="103" grpId="0"/>
      <p:bldP spid="104" grpId="0"/>
      <p:bldP spid="105" grpId="0"/>
      <p:bldP spid="3" grpId="0" animBg="1"/>
      <p:bldP spid="56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15" grpId="0"/>
      <p:bldP spid="90" grpId="0"/>
      <p:bldP spid="91" grpId="0" animBg="1"/>
      <p:bldP spid="92" grpId="0" animBg="1"/>
      <p:bldP spid="93" grpId="0" animBg="1"/>
      <p:bldP spid="114" grpId="0" animBg="1"/>
      <p:bldP spid="115" grpId="0" animBg="1"/>
      <p:bldP spid="116" grpId="0" animBg="1"/>
      <p:bldP spid="7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34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55" name="ZoneTexte 54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des facteurs océaniques et atmosphériques sur la réussite du </a:t>
            </a: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recrutement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Choix basés sur des analyses antérieures….</a:t>
            </a:r>
            <a:endParaRPr lang="fr-FR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9552" y="1700808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Analyses </a:t>
            </a:r>
            <a:r>
              <a:rPr lang="en-US" dirty="0" err="1" smtClean="0"/>
              <a:t>antérieures</a:t>
            </a:r>
            <a:r>
              <a:rPr lang="en-US" dirty="0" smtClean="0"/>
              <a:t> :</a:t>
            </a:r>
            <a:r>
              <a:rPr lang="en-US" dirty="0" err="1" smtClean="0"/>
              <a:t>Corrélations</a:t>
            </a:r>
            <a:r>
              <a:rPr lang="en-US" dirty="0" smtClean="0"/>
              <a:t> </a:t>
            </a:r>
            <a:r>
              <a:rPr lang="en-US" dirty="0" err="1" smtClean="0"/>
              <a:t>réalisées</a:t>
            </a:r>
            <a:r>
              <a:rPr lang="en-US" dirty="0" smtClean="0"/>
              <a:t> sur des </a:t>
            </a:r>
            <a:r>
              <a:rPr lang="en-US" dirty="0" err="1" smtClean="0"/>
              <a:t>données</a:t>
            </a:r>
            <a:r>
              <a:rPr lang="en-US" dirty="0" smtClean="0"/>
              <a:t> de recrutement </a:t>
            </a:r>
            <a:r>
              <a:rPr lang="en-US" dirty="0" err="1" smtClean="0"/>
              <a:t>ponctuelles</a:t>
            </a:r>
            <a:r>
              <a:rPr lang="en-US" dirty="0"/>
              <a:t> </a:t>
            </a:r>
            <a:r>
              <a:rPr lang="en-US" dirty="0" smtClean="0"/>
              <a:t>avec: 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136475" y="2726918"/>
            <a:ext cx="88710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Gulf Stream Index (Knights, 2003; Bonhommeau et al., 2007)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North Atlantic Oscillation (ICES, 2001; Knights, 2003; </a:t>
            </a:r>
            <a:r>
              <a:rPr lang="en-US" dirty="0" err="1" smtClean="0"/>
              <a:t>Friedland</a:t>
            </a:r>
            <a:r>
              <a:rPr lang="en-US" dirty="0" smtClean="0"/>
              <a:t>  et al., 2007; Kettle et al., 2008)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 smtClean="0"/>
              <a:t>Température</a:t>
            </a:r>
            <a:r>
              <a:rPr lang="en-US" dirty="0" smtClean="0"/>
              <a:t> de surface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Mer</a:t>
            </a:r>
            <a:r>
              <a:rPr lang="en-US" dirty="0" smtClean="0"/>
              <a:t> des </a:t>
            </a:r>
            <a:r>
              <a:rPr lang="en-US" dirty="0" err="1" smtClean="0"/>
              <a:t>Sargasses</a:t>
            </a:r>
            <a:r>
              <a:rPr lang="en-US" dirty="0" smtClean="0"/>
              <a:t> </a:t>
            </a:r>
            <a:r>
              <a:rPr lang="en-US" dirty="0"/>
              <a:t>(Bonhommeau et al., 2007</a:t>
            </a:r>
            <a:r>
              <a:rPr lang="en-US" dirty="0" smtClean="0"/>
              <a:t>) </a:t>
            </a:r>
            <a:r>
              <a:rPr lang="en-US" dirty="0" err="1" smtClean="0"/>
              <a:t>ou</a:t>
            </a:r>
            <a:r>
              <a:rPr lang="en-US" dirty="0"/>
              <a:t> </a:t>
            </a:r>
            <a:r>
              <a:rPr lang="en-US" dirty="0" smtClean="0"/>
              <a:t>sur des routes </a:t>
            </a:r>
            <a:r>
              <a:rPr lang="en-US" dirty="0" err="1" smtClean="0"/>
              <a:t>migratoires</a:t>
            </a:r>
            <a:r>
              <a:rPr lang="en-US" dirty="0" smtClean="0"/>
              <a:t> </a:t>
            </a:r>
            <a:r>
              <a:rPr lang="en-US" dirty="0" err="1" smtClean="0"/>
              <a:t>potentielles</a:t>
            </a:r>
            <a:r>
              <a:rPr lang="en-US" dirty="0" smtClean="0"/>
              <a:t> (Gutiérrez-Estrada and Pulido-</a:t>
            </a:r>
            <a:r>
              <a:rPr lang="en-US" dirty="0" err="1" smtClean="0"/>
              <a:t>Calvo</a:t>
            </a:r>
            <a:r>
              <a:rPr lang="en-US" dirty="0" smtClean="0"/>
              <a:t> 2015)</a:t>
            </a:r>
          </a:p>
          <a:p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Production </a:t>
            </a:r>
            <a:r>
              <a:rPr lang="en-US" dirty="0" err="1" smtClean="0"/>
              <a:t>primaire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Mer</a:t>
            </a:r>
            <a:r>
              <a:rPr lang="en-US" dirty="0" smtClean="0"/>
              <a:t> des </a:t>
            </a:r>
            <a:r>
              <a:rPr lang="en-US" dirty="0" err="1" smtClean="0"/>
              <a:t>Sargasses</a:t>
            </a:r>
            <a:r>
              <a:rPr lang="en-US" dirty="0" smtClean="0"/>
              <a:t> (Bonhommeau et al., 2007)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</p:txBody>
      </p:sp>
      <p:grpSp>
        <p:nvGrpSpPr>
          <p:cNvPr id="18" name="Groupe 17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9" name="Rectangle 18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à coins arrondis 19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1" name="Rectangle à coins arrondis 20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22" name="Rectangle à coins arrondis 21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23" name="Rectangle à coins arrondis 22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24" name="Groupe 23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25" name="Pentagone 24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26" name="Pentagone 25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27" name="Pentagone 26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939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878519"/>
            <a:ext cx="9072562" cy="4574817"/>
          </a:xfrm>
          <a:prstGeom prst="rect">
            <a:avLst/>
          </a:prstGeom>
        </p:spPr>
      </p:pic>
      <p:cxnSp>
        <p:nvCxnSpPr>
          <p:cNvPr id="75" name="Connecteur en arc 74"/>
          <p:cNvCxnSpPr/>
          <p:nvPr/>
        </p:nvCxnSpPr>
        <p:spPr>
          <a:xfrm flipV="1">
            <a:off x="2204813" y="2348880"/>
            <a:ext cx="2306931" cy="1170539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>
                <a:lumMod val="2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ZoneTexte 82"/>
          <p:cNvSpPr txBox="1"/>
          <p:nvPr/>
        </p:nvSpPr>
        <p:spPr>
          <a:xfrm>
            <a:off x="2228402" y="4721398"/>
            <a:ext cx="1591618" cy="307777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b="1" dirty="0" smtClean="0"/>
              <a:t>Gulf Stream Index</a:t>
            </a:r>
            <a:endParaRPr lang="fr-FR" sz="1400" b="1" dirty="0"/>
          </a:p>
        </p:txBody>
      </p:sp>
      <p:pic>
        <p:nvPicPr>
          <p:cNvPr id="84" name="Image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230" y="4481114"/>
            <a:ext cx="871538" cy="200025"/>
          </a:xfrm>
          <a:prstGeom prst="rect">
            <a:avLst/>
          </a:prstGeom>
        </p:spPr>
      </p:pic>
      <p:pic>
        <p:nvPicPr>
          <p:cNvPr id="85" name="Image 8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0617" y="2803773"/>
            <a:ext cx="871538" cy="200025"/>
          </a:xfrm>
          <a:prstGeom prst="rect">
            <a:avLst/>
          </a:prstGeom>
        </p:spPr>
      </p:pic>
      <p:pic>
        <p:nvPicPr>
          <p:cNvPr id="86" name="Image 8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991" y="5129187"/>
            <a:ext cx="871538" cy="200025"/>
          </a:xfrm>
          <a:prstGeom prst="rect">
            <a:avLst/>
          </a:prstGeom>
        </p:spPr>
      </p:pic>
      <p:pic>
        <p:nvPicPr>
          <p:cNvPr id="1026" name="Picture 2" descr="See original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270" y="3238128"/>
            <a:ext cx="43204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7" name="ZoneTexte 86"/>
          <p:cNvSpPr txBox="1"/>
          <p:nvPr/>
        </p:nvSpPr>
        <p:spPr>
          <a:xfrm>
            <a:off x="4832970" y="3758288"/>
            <a:ext cx="108012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Recrutement</a:t>
            </a:r>
            <a:endParaRPr lang="fr-FR" sz="1200" dirty="0"/>
          </a:p>
        </p:txBody>
      </p:sp>
      <p:cxnSp>
        <p:nvCxnSpPr>
          <p:cNvPr id="89" name="Connecteur droit avec flèche 88"/>
          <p:cNvCxnSpPr/>
          <p:nvPr/>
        </p:nvCxnSpPr>
        <p:spPr>
          <a:xfrm flipV="1">
            <a:off x="1403648" y="4295012"/>
            <a:ext cx="0" cy="497931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eur droit avec flèche 91"/>
          <p:cNvCxnSpPr/>
          <p:nvPr/>
        </p:nvCxnSpPr>
        <p:spPr>
          <a:xfrm flipV="1">
            <a:off x="1763688" y="4103387"/>
            <a:ext cx="0" cy="47774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/>
          <p:nvPr/>
        </p:nvCxnSpPr>
        <p:spPr>
          <a:xfrm flipV="1">
            <a:off x="2123728" y="3988216"/>
            <a:ext cx="0" cy="47774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necteur droit avec flèche 95"/>
          <p:cNvCxnSpPr/>
          <p:nvPr/>
        </p:nvCxnSpPr>
        <p:spPr>
          <a:xfrm flipV="1">
            <a:off x="2504424" y="3796417"/>
            <a:ext cx="0" cy="47774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avec flèche 99"/>
          <p:cNvCxnSpPr/>
          <p:nvPr/>
        </p:nvCxnSpPr>
        <p:spPr>
          <a:xfrm flipV="1">
            <a:off x="2915816" y="3670176"/>
            <a:ext cx="0" cy="47774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eur droit avec flèche 100"/>
          <p:cNvCxnSpPr/>
          <p:nvPr/>
        </p:nvCxnSpPr>
        <p:spPr>
          <a:xfrm flipV="1">
            <a:off x="3419872" y="3519418"/>
            <a:ext cx="0" cy="477740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See original imag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132" y="1988840"/>
            <a:ext cx="360040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9" name="ZoneTexte 98"/>
          <p:cNvSpPr txBox="1"/>
          <p:nvPr/>
        </p:nvSpPr>
        <p:spPr>
          <a:xfrm>
            <a:off x="4558434" y="2071881"/>
            <a:ext cx="1035242" cy="27699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fr-FR" sz="1200" dirty="0" smtClean="0"/>
              <a:t>Recrutement</a:t>
            </a:r>
            <a:endParaRPr lang="fr-FR" sz="1200" dirty="0"/>
          </a:p>
        </p:txBody>
      </p:sp>
      <p:sp>
        <p:nvSpPr>
          <p:cNvPr id="103" name="Flèche courbée vers le bas 102"/>
          <p:cNvSpPr/>
          <p:nvPr/>
        </p:nvSpPr>
        <p:spPr>
          <a:xfrm rot="18704758">
            <a:off x="4108276" y="2796397"/>
            <a:ext cx="1935559" cy="588981"/>
          </a:xfrm>
          <a:prstGeom prst="curvedDownArrow">
            <a:avLst/>
          </a:prstGeom>
          <a:solidFill>
            <a:srgbClr val="FFC000"/>
          </a:solidFill>
          <a:ln>
            <a:solidFill>
              <a:srgbClr val="E4C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4" name="Flèche courbée vers la droite 103"/>
          <p:cNvSpPr/>
          <p:nvPr/>
        </p:nvSpPr>
        <p:spPr>
          <a:xfrm rot="21305358">
            <a:off x="4252747" y="3952921"/>
            <a:ext cx="517995" cy="1256413"/>
          </a:xfrm>
          <a:prstGeom prst="curved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548817" y="5839034"/>
            <a:ext cx="2216669" cy="614302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Mer des Sargasses</a:t>
            </a:r>
            <a:endParaRPr lang="fr-FR" sz="1400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35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7" name="ZoneTexte 36"/>
          <p:cNvSpPr txBox="1"/>
          <p:nvPr/>
        </p:nvSpPr>
        <p:spPr>
          <a:xfrm>
            <a:off x="-108520" y="941819"/>
            <a:ext cx="9361040" cy="8617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des facteurs océaniques et atmosphériques sur la réussite du recrutement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Gulf Stream Index </a:t>
            </a:r>
          </a:p>
          <a:p>
            <a:pPr algn="ctr"/>
            <a:r>
              <a:rPr lang="en-US" sz="1400" dirty="0" smtClean="0"/>
              <a:t>http</a:t>
            </a:r>
            <a:r>
              <a:rPr lang="en-US" sz="1400" dirty="0"/>
              <a:t>://www.pml-gulfstream.org.uk/Data%20Web2014.pdf. </a:t>
            </a:r>
            <a:endParaRPr lang="fr-F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2928422" y="5825886"/>
            <a:ext cx="2160240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Temps de migration</a:t>
            </a:r>
          </a:p>
          <a:p>
            <a:pPr algn="ctr"/>
            <a:r>
              <a:rPr lang="fr-FR" sz="1600" dirty="0" smtClean="0"/>
              <a:t>1-3 ans</a:t>
            </a:r>
            <a:endParaRPr lang="fr-FR" sz="1600" dirty="0"/>
          </a:p>
        </p:txBody>
      </p:sp>
      <p:sp>
        <p:nvSpPr>
          <p:cNvPr id="3" name="Forme libre 2"/>
          <p:cNvSpPr/>
          <p:nvPr/>
        </p:nvSpPr>
        <p:spPr>
          <a:xfrm>
            <a:off x="548817" y="3746853"/>
            <a:ext cx="3946238" cy="2202427"/>
          </a:xfrm>
          <a:custGeom>
            <a:avLst/>
            <a:gdLst>
              <a:gd name="connsiteX0" fmla="*/ 41733 w 3946238"/>
              <a:gd name="connsiteY0" fmla="*/ 2082447 h 2092181"/>
              <a:gd name="connsiteX1" fmla="*/ 136983 w 3946238"/>
              <a:gd name="connsiteY1" fmla="*/ 1787172 h 2092181"/>
              <a:gd name="connsiteX2" fmla="*/ 641808 w 3946238"/>
              <a:gd name="connsiteY2" fmla="*/ 1358547 h 2092181"/>
              <a:gd name="connsiteX3" fmla="*/ 1756233 w 3946238"/>
              <a:gd name="connsiteY3" fmla="*/ 806097 h 2092181"/>
              <a:gd name="connsiteX4" fmla="*/ 3404058 w 3946238"/>
              <a:gd name="connsiteY4" fmla="*/ 253647 h 2092181"/>
              <a:gd name="connsiteX5" fmla="*/ 3451683 w 3946238"/>
              <a:gd name="connsiteY5" fmla="*/ 15522 h 2092181"/>
              <a:gd name="connsiteX6" fmla="*/ 3937458 w 3946238"/>
              <a:gd name="connsiteY6" fmla="*/ 72672 h 2092181"/>
              <a:gd name="connsiteX7" fmla="*/ 3756483 w 3946238"/>
              <a:gd name="connsiteY7" fmla="*/ 472722 h 2092181"/>
              <a:gd name="connsiteX8" fmla="*/ 3651708 w 3946238"/>
              <a:gd name="connsiteY8" fmla="*/ 348897 h 2092181"/>
              <a:gd name="connsiteX9" fmla="*/ 1965783 w 3946238"/>
              <a:gd name="connsiteY9" fmla="*/ 834672 h 2092181"/>
              <a:gd name="connsiteX10" fmla="*/ 727533 w 3946238"/>
              <a:gd name="connsiteY10" fmla="*/ 1425222 h 2092181"/>
              <a:gd name="connsiteX11" fmla="*/ 41733 w 3946238"/>
              <a:gd name="connsiteY11" fmla="*/ 2082447 h 2092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6238" h="2092181">
                <a:moveTo>
                  <a:pt x="41733" y="2082447"/>
                </a:moveTo>
                <a:cubicBezTo>
                  <a:pt x="-56692" y="2142772"/>
                  <a:pt x="36971" y="1907822"/>
                  <a:pt x="136983" y="1787172"/>
                </a:cubicBezTo>
                <a:cubicBezTo>
                  <a:pt x="236995" y="1666522"/>
                  <a:pt x="371933" y="1522059"/>
                  <a:pt x="641808" y="1358547"/>
                </a:cubicBezTo>
                <a:cubicBezTo>
                  <a:pt x="911683" y="1195034"/>
                  <a:pt x="1295858" y="990247"/>
                  <a:pt x="1756233" y="806097"/>
                </a:cubicBezTo>
                <a:cubicBezTo>
                  <a:pt x="2216608" y="621947"/>
                  <a:pt x="3121483" y="385409"/>
                  <a:pt x="3404058" y="253647"/>
                </a:cubicBezTo>
                <a:cubicBezTo>
                  <a:pt x="3686633" y="121885"/>
                  <a:pt x="3362783" y="45684"/>
                  <a:pt x="3451683" y="15522"/>
                </a:cubicBezTo>
                <a:cubicBezTo>
                  <a:pt x="3540583" y="-14640"/>
                  <a:pt x="3886658" y="-3528"/>
                  <a:pt x="3937458" y="72672"/>
                </a:cubicBezTo>
                <a:cubicBezTo>
                  <a:pt x="3988258" y="148872"/>
                  <a:pt x="3804108" y="426684"/>
                  <a:pt x="3756483" y="472722"/>
                </a:cubicBezTo>
                <a:cubicBezTo>
                  <a:pt x="3708858" y="518759"/>
                  <a:pt x="3950158" y="288572"/>
                  <a:pt x="3651708" y="348897"/>
                </a:cubicBezTo>
                <a:cubicBezTo>
                  <a:pt x="3353258" y="409222"/>
                  <a:pt x="2453145" y="655285"/>
                  <a:pt x="1965783" y="834672"/>
                </a:cubicBezTo>
                <a:cubicBezTo>
                  <a:pt x="1478421" y="1014059"/>
                  <a:pt x="1052970" y="1217260"/>
                  <a:pt x="727533" y="1425222"/>
                </a:cubicBezTo>
                <a:cubicBezTo>
                  <a:pt x="402096" y="1633184"/>
                  <a:pt x="140158" y="2022122"/>
                  <a:pt x="41733" y="2082447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e 38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50" name="Rectangle 4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à coins arrondis 5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2" name="Rectangle à coins arrondis 51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3" name="Rectangle à coins arrondis 52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54" name="Rectangle à coins arrondis 53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55" name="Groupe 54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6" name="Pentagone 55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7" name="Pentagone 56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8" name="Pentagone 57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1487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7" grpId="0" animBg="1"/>
      <p:bldP spid="99" grpId="0" animBg="1"/>
      <p:bldP spid="103" grpId="0" animBg="1"/>
      <p:bldP spid="104" grpId="0" animBg="1"/>
      <p:bldP spid="109" grpId="0" animBg="1"/>
      <p:bldP spid="38" grpId="0" animBg="1"/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36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1" name="ZoneTexte 40"/>
          <p:cNvSpPr txBox="1"/>
          <p:nvPr/>
        </p:nvSpPr>
        <p:spPr>
          <a:xfrm>
            <a:off x="-108520" y="900009"/>
            <a:ext cx="9361040" cy="86177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des facteurs océaniques et atmosphériques sur la réussite du recrutement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North Atlantic Oscillation (NAO)</a:t>
            </a:r>
          </a:p>
          <a:p>
            <a:pPr algn="ctr"/>
            <a:r>
              <a:rPr lang="en-US" sz="1400" dirty="0"/>
              <a:t>http://www.cpc.ncep.noaa.gov/products/precip/CWlink/pna/nao.shtml. </a:t>
            </a:r>
            <a:endParaRPr lang="fr-F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" name="Groupe 4"/>
          <p:cNvGrpSpPr/>
          <p:nvPr/>
        </p:nvGrpSpPr>
        <p:grpSpPr>
          <a:xfrm>
            <a:off x="416833" y="1761782"/>
            <a:ext cx="3591709" cy="4115489"/>
            <a:chOff x="416833" y="1403484"/>
            <a:chExt cx="3651111" cy="4416588"/>
          </a:xfrm>
        </p:grpSpPr>
        <p:sp>
          <p:nvSpPr>
            <p:cNvPr id="12" name="ZoneTexte 11"/>
            <p:cNvSpPr txBox="1"/>
            <p:nvPr/>
          </p:nvSpPr>
          <p:spPr>
            <a:xfrm>
              <a:off x="611560" y="5589240"/>
              <a:ext cx="33123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Fritz Heide &amp; Jack Cook, Woods Hole Oceanographic Institution</a:t>
              </a:r>
            </a:p>
          </p:txBody>
        </p:sp>
        <p:grpSp>
          <p:nvGrpSpPr>
            <p:cNvPr id="3" name="Groupe 2"/>
            <p:cNvGrpSpPr/>
            <p:nvPr/>
          </p:nvGrpSpPr>
          <p:grpSpPr>
            <a:xfrm>
              <a:off x="416833" y="1403484"/>
              <a:ext cx="3651111" cy="4257764"/>
              <a:chOff x="416833" y="1403484"/>
              <a:chExt cx="3651111" cy="4257764"/>
            </a:xfrm>
          </p:grpSpPr>
          <p:pic>
            <p:nvPicPr>
              <p:cNvPr id="1026" name="Picture 2" descr="See original image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6833" y="1772816"/>
                <a:ext cx="3651111" cy="3888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3" name="ZoneTexte 12"/>
              <p:cNvSpPr txBox="1"/>
              <p:nvPr/>
            </p:nvSpPr>
            <p:spPr>
              <a:xfrm>
                <a:off x="755576" y="1403484"/>
                <a:ext cx="2880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NAO négatif</a:t>
                </a:r>
                <a:endParaRPr lang="en-US" dirty="0"/>
              </a:p>
            </p:txBody>
          </p:sp>
        </p:grpSp>
      </p:grpSp>
      <p:grpSp>
        <p:nvGrpSpPr>
          <p:cNvPr id="6" name="Groupe 5"/>
          <p:cNvGrpSpPr/>
          <p:nvPr/>
        </p:nvGrpSpPr>
        <p:grpSpPr>
          <a:xfrm>
            <a:off x="5220072" y="1772816"/>
            <a:ext cx="3518943" cy="4104456"/>
            <a:chOff x="5220072" y="1403484"/>
            <a:chExt cx="3528392" cy="4401780"/>
          </a:xfrm>
        </p:grpSpPr>
        <p:sp>
          <p:nvSpPr>
            <p:cNvPr id="44" name="ZoneTexte 43"/>
            <p:cNvSpPr txBox="1"/>
            <p:nvPr/>
          </p:nvSpPr>
          <p:spPr>
            <a:xfrm>
              <a:off x="5436096" y="5574432"/>
              <a:ext cx="33123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Fritz Heide &amp; Jack Cook, Woods Hole Oceanographic Institution</a:t>
              </a:r>
            </a:p>
          </p:txBody>
        </p:sp>
        <p:grpSp>
          <p:nvGrpSpPr>
            <p:cNvPr id="4" name="Groupe 3"/>
            <p:cNvGrpSpPr/>
            <p:nvPr/>
          </p:nvGrpSpPr>
          <p:grpSpPr>
            <a:xfrm>
              <a:off x="5220072" y="1403484"/>
              <a:ext cx="3518943" cy="4185756"/>
              <a:chOff x="5220072" y="1403484"/>
              <a:chExt cx="3518943" cy="4185756"/>
            </a:xfrm>
          </p:grpSpPr>
          <p:pic>
            <p:nvPicPr>
              <p:cNvPr id="1028" name="Picture 4" descr="North Atlantic Oscillation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20072" y="1700808"/>
                <a:ext cx="3518943" cy="3888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6" name="ZoneTexte 45"/>
              <p:cNvSpPr txBox="1"/>
              <p:nvPr/>
            </p:nvSpPr>
            <p:spPr>
              <a:xfrm>
                <a:off x="5508104" y="1403484"/>
                <a:ext cx="28803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 smtClean="0"/>
                  <a:t>NAO positif</a:t>
                </a:r>
                <a:endParaRPr lang="en-US" dirty="0"/>
              </a:p>
            </p:txBody>
          </p:sp>
        </p:grpSp>
      </p:grpSp>
      <p:sp>
        <p:nvSpPr>
          <p:cNvPr id="14" name="ZoneTexte 13"/>
          <p:cNvSpPr txBox="1"/>
          <p:nvPr/>
        </p:nvSpPr>
        <p:spPr>
          <a:xfrm>
            <a:off x="539553" y="5879013"/>
            <a:ext cx="403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 SST et disponibilité en nourriture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/>
              <a:t>Force des courants (c.f. Gulf Stream)</a:t>
            </a:r>
            <a:endParaRPr lang="en-US" dirty="0"/>
          </a:p>
        </p:txBody>
      </p:sp>
      <p:sp>
        <p:nvSpPr>
          <p:cNvPr id="49" name="ZoneTexte 48"/>
          <p:cNvSpPr txBox="1"/>
          <p:nvPr/>
        </p:nvSpPr>
        <p:spPr>
          <a:xfrm>
            <a:off x="5508104" y="5940569"/>
            <a:ext cx="2160240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Temps de migration</a:t>
            </a:r>
          </a:p>
          <a:p>
            <a:pPr algn="ctr"/>
            <a:r>
              <a:rPr lang="fr-FR" sz="1600" dirty="0" smtClean="0"/>
              <a:t>1-3 ans</a:t>
            </a:r>
            <a:endParaRPr lang="fr-FR" sz="1600" dirty="0"/>
          </a:p>
        </p:txBody>
      </p:sp>
      <p:grpSp>
        <p:nvGrpSpPr>
          <p:cNvPr id="34" name="Groupe 33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5" name="Rectangle 34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à coins arrondis 35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7" name="Rectangle à coins arrondis 3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8" name="Rectangle à coins arrondis 3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9" name="Rectangle à coins arrondis 3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2" name="Pentagone 41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3" name="Pentagone 42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45" name="Pentagone 44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510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" y="1844824"/>
            <a:ext cx="9072562" cy="4574817"/>
          </a:xfrm>
          <a:prstGeom prst="rect">
            <a:avLst/>
          </a:prstGeom>
        </p:spPr>
      </p:pic>
      <p:sp>
        <p:nvSpPr>
          <p:cNvPr id="98" name="ZoneTexte 97"/>
          <p:cNvSpPr txBox="1"/>
          <p:nvPr/>
        </p:nvSpPr>
        <p:spPr>
          <a:xfrm>
            <a:off x="2699792" y="5796553"/>
            <a:ext cx="2160240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Temps de migration</a:t>
            </a:r>
          </a:p>
          <a:p>
            <a:pPr algn="ctr"/>
            <a:r>
              <a:rPr lang="fr-FR" sz="1600" dirty="0" smtClean="0"/>
              <a:t>1-3 ans</a:t>
            </a:r>
            <a:endParaRPr lang="fr-FR" sz="1600" dirty="0"/>
          </a:p>
        </p:txBody>
      </p:sp>
      <p:sp>
        <p:nvSpPr>
          <p:cNvPr id="110" name="Ellipse 109"/>
          <p:cNvSpPr/>
          <p:nvPr/>
        </p:nvSpPr>
        <p:spPr>
          <a:xfrm>
            <a:off x="730239" y="5733255"/>
            <a:ext cx="1730423" cy="648073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Mer des Sargasses</a:t>
            </a:r>
          </a:p>
          <a:p>
            <a:pPr algn="ctr"/>
            <a:r>
              <a:rPr lang="fr-FR" sz="1400" i="1" dirty="0" smtClean="0"/>
              <a:t>Reproduction</a:t>
            </a:r>
            <a:endParaRPr lang="fr-FR" sz="1400" i="1" dirty="0"/>
          </a:p>
        </p:txBody>
      </p:sp>
      <p:grpSp>
        <p:nvGrpSpPr>
          <p:cNvPr id="131" name="Groupe 130"/>
          <p:cNvGrpSpPr/>
          <p:nvPr/>
        </p:nvGrpSpPr>
        <p:grpSpPr>
          <a:xfrm>
            <a:off x="1951757" y="2780928"/>
            <a:ext cx="4492451" cy="2951747"/>
            <a:chOff x="2042021" y="2348880"/>
            <a:chExt cx="4492451" cy="2951747"/>
          </a:xfrm>
        </p:grpSpPr>
        <p:cxnSp>
          <p:nvCxnSpPr>
            <p:cNvPr id="123" name="Connecteur droit 122"/>
            <p:cNvCxnSpPr/>
            <p:nvPr/>
          </p:nvCxnSpPr>
          <p:spPr>
            <a:xfrm flipV="1">
              <a:off x="2042021" y="3733880"/>
              <a:ext cx="1017811" cy="156674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eur droit 126"/>
            <p:cNvCxnSpPr/>
            <p:nvPr/>
          </p:nvCxnSpPr>
          <p:spPr>
            <a:xfrm>
              <a:off x="3059832" y="3733879"/>
              <a:ext cx="1728192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Connecteur droit avec flèche 1031"/>
            <p:cNvCxnSpPr/>
            <p:nvPr/>
          </p:nvCxnSpPr>
          <p:spPr>
            <a:xfrm flipV="1">
              <a:off x="4788024" y="2348880"/>
              <a:ext cx="1512168" cy="13849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eur droit avec flèche 137"/>
            <p:cNvCxnSpPr/>
            <p:nvPr/>
          </p:nvCxnSpPr>
          <p:spPr>
            <a:xfrm flipV="1">
              <a:off x="4788024" y="3356992"/>
              <a:ext cx="756084" cy="37688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eur droit avec flèche 140"/>
            <p:cNvCxnSpPr/>
            <p:nvPr/>
          </p:nvCxnSpPr>
          <p:spPr>
            <a:xfrm>
              <a:off x="4788024" y="3733879"/>
              <a:ext cx="9084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eur droit avec flèche 143"/>
            <p:cNvCxnSpPr/>
            <p:nvPr/>
          </p:nvCxnSpPr>
          <p:spPr>
            <a:xfrm>
              <a:off x="4788024" y="3733879"/>
              <a:ext cx="648072" cy="7476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avec flèche 146"/>
            <p:cNvCxnSpPr/>
            <p:nvPr/>
          </p:nvCxnSpPr>
          <p:spPr>
            <a:xfrm>
              <a:off x="4788024" y="3733879"/>
              <a:ext cx="1746448" cy="1063273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Nuage 37"/>
          <p:cNvSpPr/>
          <p:nvPr/>
        </p:nvSpPr>
        <p:spPr>
          <a:xfrm>
            <a:off x="2149066" y="1844824"/>
            <a:ext cx="3002936" cy="614377"/>
          </a:xfrm>
          <a:prstGeom prst="cloud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fr-FR" dirty="0" smtClean="0"/>
          </a:p>
          <a:p>
            <a:pPr algn="ctr"/>
            <a:r>
              <a:rPr lang="fr-FR" dirty="0" smtClean="0"/>
              <a:t> </a:t>
            </a:r>
            <a:r>
              <a:rPr lang="fr-FR" sz="1600" dirty="0" smtClean="0"/>
              <a:t>SST moyenne de l’Atlantique Nord</a:t>
            </a:r>
          </a:p>
          <a:p>
            <a:endParaRPr lang="fr-FR" dirty="0"/>
          </a:p>
        </p:txBody>
      </p:sp>
      <p:sp>
        <p:nvSpPr>
          <p:cNvPr id="39" name="Éclair 38"/>
          <p:cNvSpPr/>
          <p:nvPr/>
        </p:nvSpPr>
        <p:spPr>
          <a:xfrm rot="829180">
            <a:off x="3507874" y="2468318"/>
            <a:ext cx="488063" cy="488526"/>
          </a:xfrm>
          <a:prstGeom prst="lightningBol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>
            <a:off x="2917403" y="3049796"/>
            <a:ext cx="2014637" cy="523220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 smtClean="0"/>
              <a:t>Production Primaire, répartition espèces …</a:t>
            </a:r>
            <a:endParaRPr lang="fr-FR" sz="1400" b="1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37</a:t>
            </a:fld>
            <a:endParaRPr lang="fr-FR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45" name="ZoneTexte 44"/>
          <p:cNvSpPr txBox="1"/>
          <p:nvPr/>
        </p:nvSpPr>
        <p:spPr>
          <a:xfrm>
            <a:off x="-108520" y="908720"/>
            <a:ext cx="9361040" cy="8925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des facteurs océaniques et atmosphériques sur la réussite du recrutement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 Surface Temperature (SST)</a:t>
            </a:r>
          </a:p>
          <a:p>
            <a:pPr algn="ctr"/>
            <a:r>
              <a:rPr lang="en-US" sz="1400" dirty="0"/>
              <a:t>http://www.esrl.noaa.gov/psd/data/timeseries/AMO/ </a:t>
            </a:r>
            <a:endParaRPr lang="fr-F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lèche courbée vers la droite 3"/>
          <p:cNvSpPr/>
          <p:nvPr/>
        </p:nvSpPr>
        <p:spPr>
          <a:xfrm rot="1751505">
            <a:off x="1744841" y="2853847"/>
            <a:ext cx="508117" cy="3070841"/>
          </a:xfrm>
          <a:prstGeom prst="curvedRigh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Flèche courbée vers la gauche 4"/>
          <p:cNvSpPr/>
          <p:nvPr/>
        </p:nvSpPr>
        <p:spPr>
          <a:xfrm>
            <a:off x="3854389" y="3607197"/>
            <a:ext cx="213555" cy="502320"/>
          </a:xfrm>
          <a:prstGeom prst="curvedLeftArrow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41390" y="4221088"/>
            <a:ext cx="986594" cy="405047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Migration</a:t>
            </a:r>
          </a:p>
        </p:txBody>
      </p:sp>
      <p:grpSp>
        <p:nvGrpSpPr>
          <p:cNvPr id="35" name="Groupe 34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7" name="Rectangle 36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à coins arrondis 4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3" name="Rectangle à coins arrondis 42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6" name="Rectangle à coins arrondis 45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9" name="Groupe 48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0" name="Pentagone 49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1" name="Pentagone 50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2" name="Pentagone 51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699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10" grpId="0" animBg="1"/>
      <p:bldP spid="38" grpId="0" animBg="1"/>
      <p:bldP spid="39" grpId="0" animBg="1"/>
      <p:bldP spid="40" grpId="0" animBg="1"/>
      <p:bldP spid="4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" y="1844824"/>
            <a:ext cx="9072562" cy="4574817"/>
          </a:xfrm>
          <a:prstGeom prst="rect">
            <a:avLst/>
          </a:prstGeom>
        </p:spPr>
      </p:pic>
      <p:sp>
        <p:nvSpPr>
          <p:cNvPr id="98" name="ZoneTexte 97"/>
          <p:cNvSpPr txBox="1"/>
          <p:nvPr/>
        </p:nvSpPr>
        <p:spPr>
          <a:xfrm>
            <a:off x="2772246" y="5796553"/>
            <a:ext cx="2160240" cy="58477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Temps de migration</a:t>
            </a:r>
          </a:p>
          <a:p>
            <a:pPr algn="ctr"/>
            <a:r>
              <a:rPr lang="fr-FR" sz="1600" dirty="0" smtClean="0"/>
              <a:t>1-3 ans</a:t>
            </a:r>
            <a:endParaRPr lang="fr-FR" sz="1600" dirty="0"/>
          </a:p>
        </p:txBody>
      </p:sp>
      <p:sp>
        <p:nvSpPr>
          <p:cNvPr id="110" name="Ellipse 109"/>
          <p:cNvSpPr/>
          <p:nvPr/>
        </p:nvSpPr>
        <p:spPr>
          <a:xfrm>
            <a:off x="611560" y="5800909"/>
            <a:ext cx="1749969" cy="580420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Mer des Sargasses</a:t>
            </a:r>
            <a:endParaRPr lang="fr-FR" sz="1400" dirty="0"/>
          </a:p>
        </p:txBody>
      </p:sp>
      <p:grpSp>
        <p:nvGrpSpPr>
          <p:cNvPr id="131" name="Groupe 130"/>
          <p:cNvGrpSpPr/>
          <p:nvPr/>
        </p:nvGrpSpPr>
        <p:grpSpPr>
          <a:xfrm>
            <a:off x="1898968" y="2852936"/>
            <a:ext cx="4545240" cy="2952328"/>
            <a:chOff x="1989232" y="2348880"/>
            <a:chExt cx="4545240" cy="2952328"/>
          </a:xfrm>
        </p:grpSpPr>
        <p:cxnSp>
          <p:nvCxnSpPr>
            <p:cNvPr id="123" name="Connecteur droit 122"/>
            <p:cNvCxnSpPr/>
            <p:nvPr/>
          </p:nvCxnSpPr>
          <p:spPr>
            <a:xfrm flipV="1">
              <a:off x="1989232" y="3733880"/>
              <a:ext cx="1070600" cy="156732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Connecteur droit 126"/>
            <p:cNvCxnSpPr/>
            <p:nvPr/>
          </p:nvCxnSpPr>
          <p:spPr>
            <a:xfrm>
              <a:off x="3059832" y="3733879"/>
              <a:ext cx="1728192" cy="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Connecteur droit avec flèche 1031"/>
            <p:cNvCxnSpPr/>
            <p:nvPr/>
          </p:nvCxnSpPr>
          <p:spPr>
            <a:xfrm flipV="1">
              <a:off x="4788024" y="2348880"/>
              <a:ext cx="1512168" cy="13849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eur droit avec flèche 137"/>
            <p:cNvCxnSpPr/>
            <p:nvPr/>
          </p:nvCxnSpPr>
          <p:spPr>
            <a:xfrm flipV="1">
              <a:off x="4788024" y="3356992"/>
              <a:ext cx="756084" cy="376887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eur droit avec flèche 140"/>
            <p:cNvCxnSpPr/>
            <p:nvPr/>
          </p:nvCxnSpPr>
          <p:spPr>
            <a:xfrm>
              <a:off x="4788024" y="3733879"/>
              <a:ext cx="908484" cy="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eur droit avec flèche 143"/>
            <p:cNvCxnSpPr/>
            <p:nvPr/>
          </p:nvCxnSpPr>
          <p:spPr>
            <a:xfrm>
              <a:off x="4788024" y="3733879"/>
              <a:ext cx="648072" cy="74766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 droit avec flèche 146"/>
            <p:cNvCxnSpPr/>
            <p:nvPr/>
          </p:nvCxnSpPr>
          <p:spPr>
            <a:xfrm>
              <a:off x="4788024" y="3733879"/>
              <a:ext cx="1746448" cy="1063273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Nuage 9"/>
          <p:cNvSpPr/>
          <p:nvPr/>
        </p:nvSpPr>
        <p:spPr>
          <a:xfrm>
            <a:off x="539552" y="4509120"/>
            <a:ext cx="1656184" cy="720080"/>
          </a:xfrm>
          <a:prstGeom prst="cloud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 smtClean="0"/>
              <a:t>Production primaire</a:t>
            </a:r>
            <a:endParaRPr lang="fr-FR" sz="1400" b="1" dirty="0"/>
          </a:p>
        </p:txBody>
      </p:sp>
      <p:sp>
        <p:nvSpPr>
          <p:cNvPr id="11" name="Éclair 10"/>
          <p:cNvSpPr/>
          <p:nvPr/>
        </p:nvSpPr>
        <p:spPr>
          <a:xfrm>
            <a:off x="1187624" y="5309919"/>
            <a:ext cx="432048" cy="495345"/>
          </a:xfrm>
          <a:prstGeom prst="lightningBol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0" name="Connecteur droit 19"/>
          <p:cNvCxnSpPr/>
          <p:nvPr/>
        </p:nvCxnSpPr>
        <p:spPr>
          <a:xfrm>
            <a:off x="1898968" y="4900796"/>
            <a:ext cx="305504" cy="1527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Éclair 36"/>
          <p:cNvSpPr/>
          <p:nvPr/>
        </p:nvSpPr>
        <p:spPr>
          <a:xfrm>
            <a:off x="4283968" y="3681028"/>
            <a:ext cx="432048" cy="360040"/>
          </a:xfrm>
          <a:prstGeom prst="lightningBol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3520132" y="4057915"/>
            <a:ext cx="1195884" cy="45120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Recrutement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38</a:t>
            </a:fld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2" name="ZoneTexte 31"/>
          <p:cNvSpPr txBox="1"/>
          <p:nvPr/>
        </p:nvSpPr>
        <p:spPr>
          <a:xfrm>
            <a:off x="-108520" y="908720"/>
            <a:ext cx="9361040" cy="8925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Impact des facteurs océaniques et atmosphériques sur la réussite du recrutement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Production Primaire en Mer des Sargasses</a:t>
            </a:r>
          </a:p>
          <a:p>
            <a:pPr algn="ctr"/>
            <a:r>
              <a:rPr lang="en-US" sz="1400" dirty="0"/>
              <a:t>http://bats.bios.edu</a:t>
            </a:r>
            <a:r>
              <a:rPr lang="en-US" sz="1400" dirty="0" smtClean="0"/>
              <a:t>/</a:t>
            </a:r>
            <a:endParaRPr lang="fr-FR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33" name="Groupe 32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5" name="Rectangle 44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à coins arrondis 45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7" name="Rectangle à coins arrondis 4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8" name="Rectangle à coins arrondis 4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9" name="Rectangle à coins arrondis 4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50" name="Groupe 49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1" name="Pentagone 50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2" name="Pentagone 51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53" name="Pentagone 52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69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10" grpId="0" animBg="1"/>
      <p:bldP spid="10" grpId="0" animBg="1"/>
      <p:bldP spid="11" grpId="0" animBg="1"/>
      <p:bldP spid="37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070412"/>
              </p:ext>
            </p:extLst>
          </p:nvPr>
        </p:nvGraphicFramePr>
        <p:xfrm>
          <a:off x="35940" y="2212320"/>
          <a:ext cx="9072564" cy="22247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188"/>
                <a:gridCol w="2736008"/>
                <a:gridCol w="3312368"/>
              </a:tblGrid>
              <a:tr h="499723">
                <a:tc>
                  <a:txBody>
                    <a:bodyPr/>
                    <a:lstStyle/>
                    <a:p>
                      <a:r>
                        <a:rPr lang="fr-FR" dirty="0" smtClean="0"/>
                        <a:t>Corrélation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Méthodes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intérêt</a:t>
                      </a:r>
                      <a:endParaRPr lang="fr-FR" dirty="0"/>
                    </a:p>
                  </a:txBody>
                  <a:tcPr/>
                </a:tc>
              </a:tr>
              <a:tr h="862535">
                <a:tc rowSpan="2">
                  <a:txBody>
                    <a:bodyPr/>
                    <a:lstStyle/>
                    <a:p>
                      <a:pPr algn="ctr"/>
                      <a:endParaRPr lang="fr-FR" dirty="0" smtClean="0"/>
                    </a:p>
                    <a:p>
                      <a:pPr algn="ctr"/>
                      <a:endParaRPr lang="fr-FR" dirty="0" smtClean="0"/>
                    </a:p>
                    <a:p>
                      <a:pPr algn="ctr"/>
                      <a:r>
                        <a:rPr lang="fr-FR" dirty="0" smtClean="0"/>
                        <a:t>Court-terme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Ajustement d’un modèle ARIMA</a:t>
                      </a:r>
                      <a:r>
                        <a:rPr lang="fr-FR" sz="1800" baseline="0" dirty="0" smtClean="0"/>
                        <a:t> aux séries X et Y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1800" dirty="0" smtClean="0"/>
                        <a:t>Extraction du bruit blanc</a:t>
                      </a:r>
                      <a:r>
                        <a:rPr lang="fr-FR" sz="1800" baseline="0" dirty="0" smtClean="0"/>
                        <a:t> et suppression des </a:t>
                      </a:r>
                      <a:r>
                        <a:rPr lang="fr-FR" sz="1800" dirty="0" smtClean="0"/>
                        <a:t>autocorrélations</a:t>
                      </a:r>
                      <a:endParaRPr lang="fr-FR" sz="1800" dirty="0"/>
                    </a:p>
                  </a:txBody>
                  <a:tcPr/>
                </a:tc>
              </a:tr>
              <a:tr h="862535"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Fonction CCF entre les variables X et Y</a:t>
                      </a:r>
                      <a:endParaRPr lang="fr-FR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800" dirty="0" smtClean="0"/>
                        <a:t>Calcul</a:t>
                      </a:r>
                      <a:r>
                        <a:rPr lang="fr-FR" sz="1800" baseline="0" dirty="0" smtClean="0"/>
                        <a:t> de c</a:t>
                      </a:r>
                      <a:r>
                        <a:rPr lang="fr-FR" sz="1800" dirty="0" smtClean="0"/>
                        <a:t>orrélations avec différents décalages temporels</a:t>
                      </a:r>
                      <a:endParaRPr lang="fr-FR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39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17" name="ZoneTexte 16"/>
          <p:cNvSpPr txBox="1"/>
          <p:nvPr/>
        </p:nvSpPr>
        <p:spPr>
          <a:xfrm>
            <a:off x="-108520" y="930206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3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Calcul des corrélations </a:t>
            </a:r>
          </a:p>
        </p:txBody>
      </p:sp>
      <p:grpSp>
        <p:nvGrpSpPr>
          <p:cNvPr id="18" name="Groupe 17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29" name="Rectangle 28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à coins arrondis 29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1" name="Rectangle à coins arrondis 30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2" name="Rectangle à coins arrondis 31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3" name="Rectangle à coins arrondis 32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34" name="Groupe 33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35" name="Pentagone 34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36" name="Pentagone 35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37" name="Pentagone 36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814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40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251520" y="1844824"/>
            <a:ext cx="871296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dirty="0" smtClean="0"/>
              <a:t> Aucune corrélation avec le GSI 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251520" y="2636912"/>
            <a:ext cx="8712968" cy="369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dirty="0" smtClean="0"/>
              <a:t> Aucune corrélation avec la SST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-108520" y="908720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Résumé des corrélations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251520" y="3356992"/>
            <a:ext cx="871296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dirty="0" smtClean="0"/>
              <a:t>Des corrélations significatives entre la production primaire en Mer des Sargasses et certaines estimations de recrutement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251520" y="4365104"/>
            <a:ext cx="8712968" cy="64633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fr-FR" dirty="0" smtClean="0"/>
              <a:t>Des corrélations significatives entre la NAO et la majorité des estimations de recrutement à l’échelle de l’Europe</a:t>
            </a:r>
          </a:p>
        </p:txBody>
      </p:sp>
      <p:grpSp>
        <p:nvGrpSpPr>
          <p:cNvPr id="23" name="Groupe 22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35" name="Rectangle 34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à coins arrondis 35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7" name="Rectangle à coins arrondis 3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8" name="Rectangle à coins arrondis 3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9" name="Rectangle à coins arrondis 3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0" name="Groupe 39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41" name="Pentagone 40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2" name="Pentagone 41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43" name="Pentagone 42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1013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32" grpId="0" animBg="1"/>
      <p:bldP spid="21" grpId="0" animBg="1"/>
      <p:bldP spid="2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41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-108520" y="908720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Production primaire en Mer des Sargasses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79512" y="5158933"/>
            <a:ext cx="3673185" cy="64633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Corrélation positive avec 2 ans de décalage en Mer du Nord</a:t>
            </a:r>
            <a:endParaRPr lang="en-US" dirty="0"/>
          </a:p>
        </p:txBody>
      </p:sp>
      <p:sp>
        <p:nvSpPr>
          <p:cNvPr id="39" name="ZoneTexte 38"/>
          <p:cNvSpPr txBox="1"/>
          <p:nvPr/>
        </p:nvSpPr>
        <p:spPr>
          <a:xfrm>
            <a:off x="5292080" y="5158933"/>
            <a:ext cx="3673185" cy="64633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Corrélation positive avec 1 an de décalage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Méditerranée</a:t>
            </a:r>
            <a:endParaRPr lang="en-US" dirty="0"/>
          </a:p>
        </p:txBody>
      </p:sp>
      <p:sp>
        <p:nvSpPr>
          <p:cNvPr id="5" name="ZoneTexte 4"/>
          <p:cNvSpPr txBox="1"/>
          <p:nvPr/>
        </p:nvSpPr>
        <p:spPr>
          <a:xfrm>
            <a:off x="1356607" y="4736177"/>
            <a:ext cx="1361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Décalage temporel</a:t>
            </a:r>
            <a:endParaRPr lang="fr-FR" sz="1200" dirty="0"/>
          </a:p>
        </p:txBody>
      </p:sp>
      <p:sp>
        <p:nvSpPr>
          <p:cNvPr id="41" name="ZoneTexte 40"/>
          <p:cNvSpPr txBox="1"/>
          <p:nvPr/>
        </p:nvSpPr>
        <p:spPr>
          <a:xfrm>
            <a:off x="6594978" y="4736177"/>
            <a:ext cx="1361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 smtClean="0"/>
              <a:t>Décalage temporel</a:t>
            </a:r>
            <a:endParaRPr lang="fr-FR" sz="1200" dirty="0"/>
          </a:p>
        </p:txBody>
      </p:sp>
      <p:sp>
        <p:nvSpPr>
          <p:cNvPr id="42" name="ZoneTexte 41"/>
          <p:cNvSpPr txBox="1"/>
          <p:nvPr/>
        </p:nvSpPr>
        <p:spPr>
          <a:xfrm rot="16200000">
            <a:off x="69384" y="2939064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CCF</a:t>
            </a:r>
            <a:endParaRPr lang="fr-FR" sz="1600" dirty="0"/>
          </a:p>
        </p:txBody>
      </p:sp>
      <p:sp>
        <p:nvSpPr>
          <p:cNvPr id="43" name="ZoneTexte 42"/>
          <p:cNvSpPr txBox="1"/>
          <p:nvPr/>
        </p:nvSpPr>
        <p:spPr>
          <a:xfrm rot="16200000">
            <a:off x="5192986" y="2978363"/>
            <a:ext cx="49725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/>
              <a:t>CCF</a:t>
            </a:r>
            <a:endParaRPr lang="fr-FR" sz="1600" dirty="0"/>
          </a:p>
        </p:txBody>
      </p:sp>
      <p:grpSp>
        <p:nvGrpSpPr>
          <p:cNvPr id="2" name="Groupe 1"/>
          <p:cNvGrpSpPr/>
          <p:nvPr/>
        </p:nvGrpSpPr>
        <p:grpSpPr>
          <a:xfrm>
            <a:off x="539552" y="1844824"/>
            <a:ext cx="2952328" cy="2789306"/>
            <a:chOff x="539552" y="1700808"/>
            <a:chExt cx="2952328" cy="2789306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910"/>
            <a:stretch/>
          </p:blipFill>
          <p:spPr>
            <a:xfrm>
              <a:off x="539552" y="1700808"/>
              <a:ext cx="2952328" cy="2789306"/>
            </a:xfrm>
            <a:prstGeom prst="rect">
              <a:avLst/>
            </a:prstGeom>
          </p:spPr>
        </p:pic>
        <p:sp>
          <p:nvSpPr>
            <p:cNvPr id="6" name="Ellipse 5"/>
            <p:cNvSpPr/>
            <p:nvPr/>
          </p:nvSpPr>
          <p:spPr>
            <a:xfrm>
              <a:off x="2239789" y="1791822"/>
              <a:ext cx="243979" cy="48505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" name="Groupe 6"/>
          <p:cNvGrpSpPr/>
          <p:nvPr/>
        </p:nvGrpSpPr>
        <p:grpSpPr>
          <a:xfrm>
            <a:off x="5623652" y="1996726"/>
            <a:ext cx="2980796" cy="2728418"/>
            <a:chOff x="5695660" y="1852710"/>
            <a:chExt cx="2980796" cy="2728418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95660" y="1852710"/>
              <a:ext cx="2980796" cy="2728418"/>
            </a:xfrm>
            <a:prstGeom prst="rect">
              <a:avLst/>
            </a:prstGeom>
          </p:spPr>
        </p:pic>
        <p:sp>
          <p:nvSpPr>
            <p:cNvPr id="44" name="Ellipse 43"/>
            <p:cNvSpPr/>
            <p:nvPr/>
          </p:nvSpPr>
          <p:spPr>
            <a:xfrm>
              <a:off x="7301995" y="1852710"/>
              <a:ext cx="243979" cy="640186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0" name="ZoneTexte 9"/>
          <p:cNvSpPr txBox="1"/>
          <p:nvPr/>
        </p:nvSpPr>
        <p:spPr>
          <a:xfrm>
            <a:off x="827584" y="1556792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Mer du Nord</a:t>
            </a:r>
            <a:endParaRPr lang="en-US" sz="1600" dirty="0"/>
          </a:p>
        </p:txBody>
      </p:sp>
      <p:sp>
        <p:nvSpPr>
          <p:cNvPr id="26" name="ZoneTexte 25"/>
          <p:cNvSpPr txBox="1"/>
          <p:nvPr/>
        </p:nvSpPr>
        <p:spPr>
          <a:xfrm>
            <a:off x="5969847" y="1628800"/>
            <a:ext cx="2520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 smtClean="0"/>
              <a:t>Méditerranée</a:t>
            </a:r>
            <a:endParaRPr lang="fr-FR" sz="1600" dirty="0"/>
          </a:p>
        </p:txBody>
      </p:sp>
      <p:sp>
        <p:nvSpPr>
          <p:cNvPr id="11" name="ZoneTexte 10"/>
          <p:cNvSpPr txBox="1"/>
          <p:nvPr/>
        </p:nvSpPr>
        <p:spPr>
          <a:xfrm>
            <a:off x="1356607" y="1268760"/>
            <a:ext cx="6117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Résultats significatifs</a:t>
            </a:r>
            <a:endParaRPr lang="en-US" b="1" dirty="0"/>
          </a:p>
        </p:txBody>
      </p:sp>
      <p:sp>
        <p:nvSpPr>
          <p:cNvPr id="32" name="Rectangle 31"/>
          <p:cNvSpPr/>
          <p:nvPr/>
        </p:nvSpPr>
        <p:spPr>
          <a:xfrm>
            <a:off x="842068" y="1948014"/>
            <a:ext cx="1245655" cy="2345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607042" y="1935800"/>
            <a:ext cx="884837" cy="2345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910639" y="2078097"/>
            <a:ext cx="1319348" cy="2345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7719611" y="2066936"/>
            <a:ext cx="884837" cy="23450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e 50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52" name="Rectangle 51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à coins arrondis 52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54" name="Rectangle à coins arrondis 53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55" name="Rectangle à coins arrondis 54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56" name="Rectangle à coins arrondis 55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57" name="Groupe 56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58" name="Pentagone 57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59" name="Pentagone 58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60" name="Pentagone 59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73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42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-108520" y="908720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Oscillation Nord Atlantique (NAO)</a:t>
            </a:r>
          </a:p>
        </p:txBody>
      </p:sp>
      <p:sp>
        <p:nvSpPr>
          <p:cNvPr id="35" name="ZoneTexte 34"/>
          <p:cNvSpPr txBox="1"/>
          <p:nvPr/>
        </p:nvSpPr>
        <p:spPr>
          <a:xfrm>
            <a:off x="6156622" y="2276872"/>
            <a:ext cx="2879874" cy="1200329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Corrélation négative avec 3-4 ans de décalage avec majorité des régions Européennes</a:t>
            </a:r>
            <a:endParaRPr lang="en-US" dirty="0"/>
          </a:p>
        </p:txBody>
      </p:sp>
      <p:sp>
        <p:nvSpPr>
          <p:cNvPr id="36" name="ZoneTexte 35"/>
          <p:cNvSpPr txBox="1"/>
          <p:nvPr/>
        </p:nvSpPr>
        <p:spPr>
          <a:xfrm>
            <a:off x="6156176" y="4365104"/>
            <a:ext cx="2879874" cy="92333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Corrélation négative avec 1 an de décalage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Méditerranée</a:t>
            </a:r>
            <a:endParaRPr lang="en-US" dirty="0"/>
          </a:p>
        </p:txBody>
      </p:sp>
      <p:sp>
        <p:nvSpPr>
          <p:cNvPr id="6" name="ZoneTexte 5"/>
          <p:cNvSpPr txBox="1"/>
          <p:nvPr/>
        </p:nvSpPr>
        <p:spPr>
          <a:xfrm>
            <a:off x="2555776" y="5805264"/>
            <a:ext cx="187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Décalage temporel</a:t>
            </a:r>
            <a:endParaRPr lang="en-US" sz="1200" dirty="0"/>
          </a:p>
        </p:txBody>
      </p:sp>
      <p:sp>
        <p:nvSpPr>
          <p:cNvPr id="56" name="ZoneTexte 55"/>
          <p:cNvSpPr txBox="1"/>
          <p:nvPr/>
        </p:nvSpPr>
        <p:spPr>
          <a:xfrm>
            <a:off x="2411760" y="1331476"/>
            <a:ext cx="2279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Résultats significatifs</a:t>
            </a:r>
            <a:endParaRPr lang="en-US" b="1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74" y="1844824"/>
            <a:ext cx="5833094" cy="3934402"/>
          </a:xfrm>
          <a:prstGeom prst="rect">
            <a:avLst/>
          </a:prstGeom>
        </p:spPr>
      </p:pic>
      <p:sp>
        <p:nvSpPr>
          <p:cNvPr id="10" name="Ellipse 9"/>
          <p:cNvSpPr/>
          <p:nvPr/>
        </p:nvSpPr>
        <p:spPr>
          <a:xfrm>
            <a:off x="2051720" y="3140968"/>
            <a:ext cx="144016" cy="671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lipse 56"/>
          <p:cNvSpPr/>
          <p:nvPr/>
        </p:nvSpPr>
        <p:spPr>
          <a:xfrm>
            <a:off x="3779912" y="3068960"/>
            <a:ext cx="144016" cy="671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Ellipse 57"/>
          <p:cNvSpPr/>
          <p:nvPr/>
        </p:nvSpPr>
        <p:spPr>
          <a:xfrm>
            <a:off x="5724128" y="3140968"/>
            <a:ext cx="144016" cy="671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Ellipse 58"/>
          <p:cNvSpPr/>
          <p:nvPr/>
        </p:nvSpPr>
        <p:spPr>
          <a:xfrm>
            <a:off x="1918578" y="4965484"/>
            <a:ext cx="144016" cy="67105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Ellipse 59"/>
          <p:cNvSpPr/>
          <p:nvPr/>
        </p:nvSpPr>
        <p:spPr>
          <a:xfrm>
            <a:off x="3501800" y="4965484"/>
            <a:ext cx="144016" cy="671057"/>
          </a:xfrm>
          <a:prstGeom prst="ellipse">
            <a:avLst/>
          </a:prstGeom>
          <a:noFill/>
          <a:ln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35161" y="2281250"/>
            <a:ext cx="309809" cy="121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71600" y="2276872"/>
            <a:ext cx="648072" cy="1199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2802119" y="2276872"/>
            <a:ext cx="646562" cy="1199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950234" y="2282596"/>
            <a:ext cx="309809" cy="121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640917" y="2282596"/>
            <a:ext cx="646562" cy="1199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925747" y="2281250"/>
            <a:ext cx="154904" cy="121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973110" y="4198132"/>
            <a:ext cx="646562" cy="1199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195736" y="4225812"/>
            <a:ext cx="154904" cy="121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027686" y="4211945"/>
            <a:ext cx="154904" cy="12197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799797" y="4232079"/>
            <a:ext cx="646562" cy="11996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e 39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41" name="Rectangle 40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à coins arrondis 41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43" name="Rectangle à coins arrondis 42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44" name="Rectangle à coins arrondis 43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45" name="Rectangle à coins arrondis 44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61" name="Pentagone 60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62" name="Pentagone 61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63" name="Pentagone 62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781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43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4" name="ZoneTexte 33"/>
          <p:cNvSpPr txBox="1"/>
          <p:nvPr/>
        </p:nvSpPr>
        <p:spPr>
          <a:xfrm>
            <a:off x="-108520" y="913407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 explications ?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136475" y="1268760"/>
            <a:ext cx="88710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Des </a:t>
            </a:r>
            <a:r>
              <a:rPr lang="en-US" dirty="0" err="1" smtClean="0"/>
              <a:t>corrélations</a:t>
            </a:r>
            <a:r>
              <a:rPr lang="en-US" dirty="0" smtClean="0"/>
              <a:t> </a:t>
            </a:r>
            <a:r>
              <a:rPr lang="en-US" dirty="0" err="1" smtClean="0"/>
              <a:t>surprenantes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 </a:t>
            </a:r>
            <a:r>
              <a:rPr lang="en-US" dirty="0" err="1" smtClean="0"/>
              <a:t>cas</a:t>
            </a:r>
            <a:r>
              <a:rPr lang="en-US" dirty="0" smtClean="0"/>
              <a:t> de la Production </a:t>
            </a:r>
            <a:r>
              <a:rPr lang="en-US" dirty="0" err="1" smtClean="0"/>
              <a:t>Primaire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Mer</a:t>
            </a:r>
            <a:r>
              <a:rPr lang="en-US" dirty="0" smtClean="0"/>
              <a:t> des </a:t>
            </a:r>
            <a:r>
              <a:rPr lang="en-US" dirty="0" err="1" smtClean="0"/>
              <a:t>Sargasses</a:t>
            </a:r>
            <a:endParaRPr lang="en-US" dirty="0" smtClean="0"/>
          </a:p>
          <a:p>
            <a:endParaRPr lang="en-US" dirty="0" smtClean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smtClean="0"/>
              <a:t>Y-a-t-</a:t>
            </a:r>
            <a:r>
              <a:rPr lang="en-US" dirty="0" err="1" smtClean="0"/>
              <a:t>il</a:t>
            </a:r>
            <a:r>
              <a:rPr lang="en-US" dirty="0" smtClean="0"/>
              <a:t> </a:t>
            </a:r>
            <a:r>
              <a:rPr lang="en-US" dirty="0" err="1" smtClean="0"/>
              <a:t>réellement</a:t>
            </a:r>
            <a:r>
              <a:rPr lang="en-US" dirty="0" smtClean="0"/>
              <a:t> </a:t>
            </a:r>
            <a:r>
              <a:rPr lang="en-US" dirty="0" err="1" smtClean="0"/>
              <a:t>une</a:t>
            </a:r>
            <a:r>
              <a:rPr lang="en-US" dirty="0" smtClean="0"/>
              <a:t> </a:t>
            </a:r>
            <a:r>
              <a:rPr lang="en-US" dirty="0" err="1" smtClean="0"/>
              <a:t>corrélation</a:t>
            </a:r>
            <a:r>
              <a:rPr lang="en-US" dirty="0" smtClean="0"/>
              <a:t> avec la Production </a:t>
            </a:r>
            <a:r>
              <a:rPr lang="en-US" dirty="0" err="1" smtClean="0"/>
              <a:t>Primaire</a:t>
            </a:r>
            <a:r>
              <a:rPr lang="en-US" dirty="0" smtClean="0"/>
              <a:t> ?</a:t>
            </a:r>
            <a:endParaRPr lang="en-US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smtClean="0"/>
              <a:t>Du bruit </a:t>
            </a:r>
            <a:r>
              <a:rPr lang="en-US" dirty="0" err="1" smtClean="0"/>
              <a:t>dans</a:t>
            </a:r>
            <a:r>
              <a:rPr lang="en-US" dirty="0" smtClean="0"/>
              <a:t> les </a:t>
            </a:r>
            <a:r>
              <a:rPr lang="en-US" dirty="0" err="1" smtClean="0"/>
              <a:t>données</a:t>
            </a:r>
            <a:r>
              <a:rPr lang="en-US" dirty="0" smtClean="0"/>
              <a:t> (</a:t>
            </a:r>
            <a:r>
              <a:rPr lang="en-US" dirty="0" err="1" smtClean="0"/>
              <a:t>échantillonnage</a:t>
            </a:r>
            <a:r>
              <a:rPr lang="en-US" dirty="0" smtClean="0"/>
              <a:t>, </a:t>
            </a:r>
            <a:r>
              <a:rPr lang="en-US" dirty="0" err="1" smtClean="0"/>
              <a:t>effets</a:t>
            </a:r>
            <a:r>
              <a:rPr lang="en-US" dirty="0" smtClean="0"/>
              <a:t> </a:t>
            </a:r>
            <a:r>
              <a:rPr lang="en-US" dirty="0" err="1" smtClean="0"/>
              <a:t>masqués</a:t>
            </a:r>
            <a:r>
              <a:rPr lang="en-US" dirty="0" smtClean="0"/>
              <a:t> par </a:t>
            </a:r>
            <a:r>
              <a:rPr lang="en-US" dirty="0" err="1" smtClean="0"/>
              <a:t>d’autres</a:t>
            </a:r>
            <a:r>
              <a:rPr lang="en-US" dirty="0" smtClean="0"/>
              <a:t> </a:t>
            </a:r>
            <a:r>
              <a:rPr lang="en-US" dirty="0" err="1" smtClean="0"/>
              <a:t>facteurs</a:t>
            </a:r>
            <a:r>
              <a:rPr lang="en-US" dirty="0" smtClean="0"/>
              <a:t>) ?</a:t>
            </a:r>
            <a:endParaRPr lang="en-US" dirty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err="1" smtClean="0"/>
              <a:t>Une</a:t>
            </a:r>
            <a:r>
              <a:rPr lang="en-US" dirty="0" smtClean="0"/>
              <a:t> </a:t>
            </a:r>
            <a:r>
              <a:rPr lang="en-US" dirty="0" err="1" smtClean="0"/>
              <a:t>corrélation</a:t>
            </a:r>
            <a:r>
              <a:rPr lang="en-US" dirty="0" smtClean="0"/>
              <a:t> avec les </a:t>
            </a:r>
            <a:r>
              <a:rPr lang="en-US" dirty="0" err="1" smtClean="0"/>
              <a:t>deux</a:t>
            </a:r>
            <a:r>
              <a:rPr lang="en-US" dirty="0" smtClean="0"/>
              <a:t> zones </a:t>
            </a:r>
            <a:r>
              <a:rPr lang="en-US" dirty="0" err="1" smtClean="0"/>
              <a:t>situées</a:t>
            </a:r>
            <a:r>
              <a:rPr lang="en-US" dirty="0" smtClean="0"/>
              <a:t> à </a:t>
            </a:r>
            <a:r>
              <a:rPr lang="en-US" dirty="0" err="1" smtClean="0"/>
              <a:t>l’extremité</a:t>
            </a:r>
            <a:r>
              <a:rPr lang="en-US" dirty="0" smtClean="0"/>
              <a:t> de </a:t>
            </a:r>
            <a:r>
              <a:rPr lang="en-US" dirty="0" err="1" smtClean="0"/>
              <a:t>l’aire</a:t>
            </a:r>
            <a:r>
              <a:rPr lang="en-US" dirty="0" smtClean="0"/>
              <a:t> de distribution ? </a:t>
            </a:r>
            <a:r>
              <a:rPr lang="en-US" dirty="0" err="1" smtClean="0"/>
              <a:t>Larves</a:t>
            </a:r>
            <a:r>
              <a:rPr lang="en-US" dirty="0" smtClean="0"/>
              <a:t> </a:t>
            </a:r>
            <a:r>
              <a:rPr lang="en-US" dirty="0" err="1" smtClean="0"/>
              <a:t>sujettes</a:t>
            </a:r>
            <a:r>
              <a:rPr lang="en-US" dirty="0" smtClean="0"/>
              <a:t> à des conditions plus </a:t>
            </a:r>
            <a:r>
              <a:rPr lang="en-US" dirty="0" err="1" smtClean="0"/>
              <a:t>extrêmes</a:t>
            </a:r>
            <a:r>
              <a:rPr lang="en-US" dirty="0" smtClean="0"/>
              <a:t> ? Importance de </a:t>
            </a:r>
            <a:r>
              <a:rPr lang="en-US" dirty="0" err="1" smtClean="0"/>
              <a:t>leur</a:t>
            </a:r>
            <a:r>
              <a:rPr lang="en-US" dirty="0" smtClean="0"/>
              <a:t> </a:t>
            </a:r>
            <a:r>
              <a:rPr lang="en-US" dirty="0" err="1" smtClean="0"/>
              <a:t>état</a:t>
            </a:r>
            <a:r>
              <a:rPr lang="en-US" dirty="0" smtClean="0"/>
              <a:t> </a:t>
            </a:r>
            <a:r>
              <a:rPr lang="en-US" dirty="0" err="1" smtClean="0"/>
              <a:t>énergétique</a:t>
            </a:r>
            <a:r>
              <a:rPr lang="en-US" dirty="0" smtClean="0"/>
              <a:t> ? </a:t>
            </a:r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err="1" smtClean="0"/>
              <a:t>Résultat</a:t>
            </a:r>
            <a:r>
              <a:rPr lang="en-US" dirty="0" smtClean="0"/>
              <a:t> </a:t>
            </a:r>
            <a:r>
              <a:rPr lang="en-US" dirty="0" err="1" smtClean="0"/>
              <a:t>surprenant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 </a:t>
            </a:r>
            <a:r>
              <a:rPr lang="en-US" dirty="0" err="1" smtClean="0"/>
              <a:t>cas</a:t>
            </a:r>
            <a:r>
              <a:rPr lang="en-US" dirty="0" smtClean="0"/>
              <a:t> de la </a:t>
            </a:r>
            <a:r>
              <a:rPr lang="en-US" dirty="0" err="1" smtClean="0"/>
              <a:t>Méditerranée</a:t>
            </a:r>
            <a:endParaRPr lang="en-US" dirty="0" smtClean="0"/>
          </a:p>
        </p:txBody>
      </p:sp>
      <p:sp>
        <p:nvSpPr>
          <p:cNvPr id="3" name="ZoneTexte 2"/>
          <p:cNvSpPr txBox="1"/>
          <p:nvPr/>
        </p:nvSpPr>
        <p:spPr>
          <a:xfrm>
            <a:off x="136475" y="3906922"/>
            <a:ext cx="887105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smtClean="0"/>
              <a:t> Des </a:t>
            </a:r>
            <a:r>
              <a:rPr lang="en-US" dirty="0" err="1" smtClean="0"/>
              <a:t>corrélations</a:t>
            </a:r>
            <a:r>
              <a:rPr lang="en-US" dirty="0" smtClean="0"/>
              <a:t> </a:t>
            </a:r>
            <a:r>
              <a:rPr lang="en-US" dirty="0" err="1" smtClean="0"/>
              <a:t>difficiles</a:t>
            </a:r>
            <a:r>
              <a:rPr lang="en-US" dirty="0" smtClean="0"/>
              <a:t> à </a:t>
            </a:r>
            <a:r>
              <a:rPr lang="en-US" dirty="0" err="1" smtClean="0"/>
              <a:t>interpréter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 </a:t>
            </a:r>
            <a:r>
              <a:rPr lang="en-US" dirty="0" err="1" smtClean="0"/>
              <a:t>cas</a:t>
            </a:r>
            <a:r>
              <a:rPr lang="en-US" dirty="0" smtClean="0"/>
              <a:t> de la NAO</a:t>
            </a:r>
          </a:p>
          <a:p>
            <a:endParaRPr lang="en-US" dirty="0" smtClean="0"/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smtClean="0"/>
              <a:t>Pas de </a:t>
            </a:r>
            <a:r>
              <a:rPr lang="en-US" dirty="0" err="1" smtClean="0"/>
              <a:t>corrélations</a:t>
            </a:r>
            <a:r>
              <a:rPr lang="en-US" dirty="0" smtClean="0"/>
              <a:t> avec la façade </a:t>
            </a:r>
            <a:r>
              <a:rPr lang="en-US" dirty="0" err="1" smtClean="0"/>
              <a:t>Atlantique</a:t>
            </a:r>
            <a:r>
              <a:rPr lang="en-US" dirty="0" smtClean="0"/>
              <a:t> </a:t>
            </a:r>
            <a:r>
              <a:rPr lang="en-US" dirty="0" err="1" smtClean="0"/>
              <a:t>française</a:t>
            </a:r>
            <a:r>
              <a:rPr lang="en-US" dirty="0" smtClean="0"/>
              <a:t> et le recrutement global : </a:t>
            </a:r>
            <a:r>
              <a:rPr lang="en-US" dirty="0" err="1" smtClean="0"/>
              <a:t>modèles</a:t>
            </a:r>
            <a:r>
              <a:rPr lang="en-US" dirty="0" smtClean="0"/>
              <a:t> ARIMA trop </a:t>
            </a:r>
            <a:r>
              <a:rPr lang="en-US" dirty="0" err="1" smtClean="0"/>
              <a:t>contraints</a:t>
            </a:r>
            <a:r>
              <a:rPr lang="en-US" dirty="0" smtClean="0"/>
              <a:t> ?</a:t>
            </a:r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smtClean="0"/>
              <a:t>Des </a:t>
            </a:r>
            <a:r>
              <a:rPr lang="en-US" dirty="0" err="1" smtClean="0"/>
              <a:t>mécanismes</a:t>
            </a:r>
            <a:r>
              <a:rPr lang="en-US" dirty="0" smtClean="0"/>
              <a:t> </a:t>
            </a:r>
            <a:r>
              <a:rPr lang="en-US" dirty="0" err="1" smtClean="0"/>
              <a:t>difficiles</a:t>
            </a:r>
            <a:r>
              <a:rPr lang="en-US" dirty="0" smtClean="0"/>
              <a:t> à </a:t>
            </a:r>
            <a:r>
              <a:rPr lang="en-US" dirty="0" err="1" smtClean="0"/>
              <a:t>interpréter</a:t>
            </a:r>
            <a:r>
              <a:rPr lang="en-US" dirty="0"/>
              <a:t> </a:t>
            </a:r>
            <a:r>
              <a:rPr lang="en-US" dirty="0" smtClean="0"/>
              <a:t>: </a:t>
            </a:r>
            <a:r>
              <a:rPr lang="en-US" dirty="0" err="1" smtClean="0"/>
              <a:t>réchauffement</a:t>
            </a:r>
            <a:r>
              <a:rPr lang="en-US" dirty="0" smtClean="0"/>
              <a:t> de la </a:t>
            </a:r>
            <a:r>
              <a:rPr lang="en-US" dirty="0" err="1" smtClean="0"/>
              <a:t>Mer</a:t>
            </a:r>
            <a:r>
              <a:rPr lang="en-US" dirty="0" smtClean="0"/>
              <a:t> des </a:t>
            </a:r>
            <a:r>
              <a:rPr lang="en-US" dirty="0" err="1" smtClean="0"/>
              <a:t>Sargasses</a:t>
            </a:r>
            <a:r>
              <a:rPr lang="en-US" dirty="0" smtClean="0"/>
              <a:t> avec un </a:t>
            </a:r>
            <a:r>
              <a:rPr lang="en-US" dirty="0" err="1" smtClean="0"/>
              <a:t>effet</a:t>
            </a:r>
            <a:r>
              <a:rPr lang="en-US" dirty="0" smtClean="0"/>
              <a:t> </a:t>
            </a:r>
            <a:r>
              <a:rPr lang="en-US" dirty="0" err="1" smtClean="0"/>
              <a:t>retardé</a:t>
            </a:r>
            <a:r>
              <a:rPr lang="en-US" dirty="0" smtClean="0"/>
              <a:t> ?</a:t>
            </a:r>
          </a:p>
          <a:p>
            <a:pPr marL="1657350" lvl="3" indent="-285750">
              <a:buFont typeface="Wingdings" panose="05000000000000000000" pitchFamily="2" charset="2"/>
              <a:buChar char="§"/>
            </a:pPr>
            <a:r>
              <a:rPr lang="en-US" dirty="0" err="1" smtClean="0"/>
              <a:t>Résultat</a:t>
            </a:r>
            <a:r>
              <a:rPr lang="en-US" dirty="0" smtClean="0"/>
              <a:t> </a:t>
            </a:r>
            <a:r>
              <a:rPr lang="en-US" dirty="0" err="1" smtClean="0"/>
              <a:t>surprenant</a:t>
            </a:r>
            <a:r>
              <a:rPr lang="en-US" dirty="0" smtClean="0"/>
              <a:t> </a:t>
            </a:r>
            <a:r>
              <a:rPr lang="en-US" dirty="0" err="1" smtClean="0"/>
              <a:t>dans</a:t>
            </a:r>
            <a:r>
              <a:rPr lang="en-US" dirty="0" smtClean="0"/>
              <a:t> le </a:t>
            </a:r>
            <a:r>
              <a:rPr lang="en-US" dirty="0" err="1" smtClean="0"/>
              <a:t>cas</a:t>
            </a:r>
            <a:r>
              <a:rPr lang="en-US" dirty="0" smtClean="0"/>
              <a:t> de la </a:t>
            </a:r>
            <a:r>
              <a:rPr lang="en-US" dirty="0" err="1" smtClean="0"/>
              <a:t>Méditerranée</a:t>
            </a:r>
            <a:endParaRPr lang="en-US" dirty="0"/>
          </a:p>
        </p:txBody>
      </p:sp>
      <p:sp>
        <p:nvSpPr>
          <p:cNvPr id="4" name="ZoneTexte 3"/>
          <p:cNvSpPr txBox="1"/>
          <p:nvPr/>
        </p:nvSpPr>
        <p:spPr>
          <a:xfrm>
            <a:off x="136475" y="6084004"/>
            <a:ext cx="8871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dirty="0" err="1" smtClean="0"/>
              <a:t>Une</a:t>
            </a:r>
            <a:r>
              <a:rPr lang="en-US" dirty="0" smtClean="0"/>
              <a:t> route </a:t>
            </a:r>
            <a:r>
              <a:rPr lang="en-US" dirty="0" err="1" smtClean="0"/>
              <a:t>migratoire</a:t>
            </a:r>
            <a:r>
              <a:rPr lang="en-US" dirty="0" smtClean="0"/>
              <a:t> </a:t>
            </a:r>
            <a:r>
              <a:rPr lang="en-US" dirty="0" err="1" smtClean="0"/>
              <a:t>différente</a:t>
            </a:r>
            <a:r>
              <a:rPr lang="en-US" dirty="0" smtClean="0"/>
              <a:t> des </a:t>
            </a:r>
            <a:r>
              <a:rPr lang="en-US" dirty="0" err="1" smtClean="0"/>
              <a:t>larves</a:t>
            </a:r>
            <a:r>
              <a:rPr lang="en-US" dirty="0" smtClean="0"/>
              <a:t> </a:t>
            </a:r>
            <a:r>
              <a:rPr lang="en-US" dirty="0" err="1" smtClean="0"/>
              <a:t>recrutées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Méditerranée</a:t>
            </a:r>
            <a:r>
              <a:rPr lang="en-US" dirty="0" smtClean="0"/>
              <a:t> ?</a:t>
            </a:r>
            <a:endParaRPr lang="en-US" dirty="0"/>
          </a:p>
        </p:txBody>
      </p:sp>
      <p:grpSp>
        <p:nvGrpSpPr>
          <p:cNvPr id="19" name="Groupe 18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20" name="Rectangle 19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à coins arrondis 20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22" name="Rectangle à coins arrondis 21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23" name="Rectangle à coins arrondis 22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24" name="Rectangle à coins arrondis 23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25" name="Groupe 24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26" name="Pentagone 25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27" name="Pentagone 26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29" name="Pentagone 28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849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44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0" name="ZoneTexte 19"/>
          <p:cNvSpPr txBox="1"/>
          <p:nvPr/>
        </p:nvSpPr>
        <p:spPr>
          <a:xfrm>
            <a:off x="-108520" y="930206"/>
            <a:ext cx="936104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 s’il y avait une route alternative ?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2" y="1484784"/>
            <a:ext cx="9072562" cy="4278559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683568" y="5013176"/>
            <a:ext cx="2376264" cy="720080"/>
          </a:xfrm>
          <a:prstGeom prst="ellipse">
            <a:avLst/>
          </a:prstGeom>
          <a:solidFill>
            <a:srgbClr val="5548B8"/>
          </a:solidFill>
          <a:ln>
            <a:solidFill>
              <a:srgbClr val="5548B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Mer des Sargasses</a:t>
            </a:r>
            <a:endParaRPr lang="fr-FR" dirty="0"/>
          </a:p>
        </p:txBody>
      </p:sp>
      <p:sp>
        <p:nvSpPr>
          <p:cNvPr id="10" name="Ellipse 9"/>
          <p:cNvSpPr/>
          <p:nvPr/>
        </p:nvSpPr>
        <p:spPr>
          <a:xfrm>
            <a:off x="2411760" y="5171070"/>
            <a:ext cx="603522" cy="346162"/>
          </a:xfrm>
          <a:prstGeom prst="ellipse">
            <a:avLst/>
          </a:prstGeom>
          <a:solidFill>
            <a:srgbClr val="E4C232"/>
          </a:solidFill>
          <a:ln>
            <a:solidFill>
              <a:srgbClr val="E4C23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/>
          <p:cNvSpPr/>
          <p:nvPr/>
        </p:nvSpPr>
        <p:spPr>
          <a:xfrm>
            <a:off x="755576" y="5157192"/>
            <a:ext cx="576064" cy="432048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" name="Connecteur en arc 21"/>
          <p:cNvCxnSpPr>
            <a:stCxn id="10" idx="6"/>
          </p:cNvCxnSpPr>
          <p:nvPr/>
        </p:nvCxnSpPr>
        <p:spPr>
          <a:xfrm flipV="1">
            <a:off x="3015282" y="4790213"/>
            <a:ext cx="2924870" cy="553938"/>
          </a:xfrm>
          <a:prstGeom prst="curvedConnector3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orme libre 36"/>
          <p:cNvSpPr/>
          <p:nvPr/>
        </p:nvSpPr>
        <p:spPr>
          <a:xfrm>
            <a:off x="847598" y="3429000"/>
            <a:ext cx="3385178" cy="1758249"/>
          </a:xfrm>
          <a:custGeom>
            <a:avLst/>
            <a:gdLst>
              <a:gd name="connsiteX0" fmla="*/ 54929 w 4068789"/>
              <a:gd name="connsiteY0" fmla="*/ 2208811 h 2208811"/>
              <a:gd name="connsiteX1" fmla="*/ 114306 w 4068789"/>
              <a:gd name="connsiteY1" fmla="*/ 1448790 h 2208811"/>
              <a:gd name="connsiteX2" fmla="*/ 1076207 w 4068789"/>
              <a:gd name="connsiteY2" fmla="*/ 938151 h 2208811"/>
              <a:gd name="connsiteX3" fmla="*/ 2584373 w 4068789"/>
              <a:gd name="connsiteY3" fmla="*/ 273133 h 2208811"/>
              <a:gd name="connsiteX4" fmla="*/ 4068789 w 4068789"/>
              <a:gd name="connsiteY4" fmla="*/ 0 h 2208811"/>
              <a:gd name="connsiteX5" fmla="*/ 4068789 w 4068789"/>
              <a:gd name="connsiteY5" fmla="*/ 0 h 2208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8789" h="2208811">
                <a:moveTo>
                  <a:pt x="54929" y="2208811"/>
                </a:moveTo>
                <a:cubicBezTo>
                  <a:pt x="-489" y="1934689"/>
                  <a:pt x="-55907" y="1660567"/>
                  <a:pt x="114306" y="1448790"/>
                </a:cubicBezTo>
                <a:cubicBezTo>
                  <a:pt x="284519" y="1237013"/>
                  <a:pt x="664529" y="1134094"/>
                  <a:pt x="1076207" y="938151"/>
                </a:cubicBezTo>
                <a:cubicBezTo>
                  <a:pt x="1487885" y="742208"/>
                  <a:pt x="2085609" y="429491"/>
                  <a:pt x="2584373" y="273133"/>
                </a:cubicBezTo>
                <a:cubicBezTo>
                  <a:pt x="3083137" y="116775"/>
                  <a:pt x="4068789" y="0"/>
                  <a:pt x="4068789" y="0"/>
                </a:cubicBezTo>
                <a:lnTo>
                  <a:pt x="4068789" y="0"/>
                </a:lnTo>
              </a:path>
            </a:pathLst>
          </a:custGeom>
          <a:noFill/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necteur droit avec flèche 38"/>
          <p:cNvCxnSpPr/>
          <p:nvPr/>
        </p:nvCxnSpPr>
        <p:spPr>
          <a:xfrm flipV="1">
            <a:off x="4174104" y="2441402"/>
            <a:ext cx="1357790" cy="1008110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>
            <a:stCxn id="37" idx="4"/>
          </p:cNvCxnSpPr>
          <p:nvPr/>
        </p:nvCxnSpPr>
        <p:spPr>
          <a:xfrm>
            <a:off x="4232776" y="3429000"/>
            <a:ext cx="447236" cy="741566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e 54"/>
          <p:cNvGrpSpPr/>
          <p:nvPr/>
        </p:nvGrpSpPr>
        <p:grpSpPr>
          <a:xfrm>
            <a:off x="-252536" y="3996353"/>
            <a:ext cx="1583160" cy="1160839"/>
            <a:chOff x="-179512" y="4212377"/>
            <a:chExt cx="1583160" cy="1160839"/>
          </a:xfrm>
        </p:grpSpPr>
        <p:sp>
          <p:nvSpPr>
            <p:cNvPr id="43" name="Éclair 42"/>
            <p:cNvSpPr/>
            <p:nvPr/>
          </p:nvSpPr>
          <p:spPr>
            <a:xfrm>
              <a:off x="293153" y="4783274"/>
              <a:ext cx="534431" cy="589942"/>
            </a:xfrm>
            <a:prstGeom prst="lightningBolt">
              <a:avLst/>
            </a:prstGeom>
            <a:solidFill>
              <a:srgbClr val="00B050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ZoneTexte 43"/>
            <p:cNvSpPr txBox="1"/>
            <p:nvPr/>
          </p:nvSpPr>
          <p:spPr>
            <a:xfrm>
              <a:off x="-179512" y="4212377"/>
              <a:ext cx="15831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smtClean="0"/>
                <a:t>Production </a:t>
              </a:r>
              <a:r>
                <a:rPr lang="en-US" sz="1600" b="1" dirty="0"/>
                <a:t>P</a:t>
              </a:r>
              <a:r>
                <a:rPr lang="en-US" sz="1600" b="1" dirty="0" smtClean="0"/>
                <a:t>rimaire</a:t>
              </a:r>
              <a:endParaRPr lang="en-US" sz="1600" b="1" dirty="0"/>
            </a:p>
          </p:txBody>
        </p:sp>
      </p:grpSp>
      <p:sp>
        <p:nvSpPr>
          <p:cNvPr id="48" name="ZoneTexte 47"/>
          <p:cNvSpPr txBox="1"/>
          <p:nvPr/>
        </p:nvSpPr>
        <p:spPr>
          <a:xfrm>
            <a:off x="2555776" y="3409255"/>
            <a:ext cx="1152128" cy="307777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Gulf Stream</a:t>
            </a:r>
            <a:endParaRPr lang="en-US" sz="1400" dirty="0"/>
          </a:p>
        </p:txBody>
      </p:sp>
      <p:sp>
        <p:nvSpPr>
          <p:cNvPr id="50" name="ZoneTexte 49"/>
          <p:cNvSpPr txBox="1"/>
          <p:nvPr/>
        </p:nvSpPr>
        <p:spPr>
          <a:xfrm>
            <a:off x="3296578" y="4653136"/>
            <a:ext cx="1851486" cy="523220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Subtropical Counter Current</a:t>
            </a:r>
            <a:endParaRPr lang="en-US" sz="1400" dirty="0"/>
          </a:p>
        </p:txBody>
      </p:sp>
      <p:sp>
        <p:nvSpPr>
          <p:cNvPr id="51" name="ZoneTexte 50"/>
          <p:cNvSpPr txBox="1"/>
          <p:nvPr/>
        </p:nvSpPr>
        <p:spPr>
          <a:xfrm>
            <a:off x="3307032" y="5210036"/>
            <a:ext cx="1851487" cy="523220"/>
          </a:xfrm>
          <a:prstGeom prst="rect">
            <a:avLst/>
          </a:prstGeom>
          <a:solidFill>
            <a:srgbClr val="E4C23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/>
              <a:t>Temps de migration</a:t>
            </a:r>
          </a:p>
          <a:p>
            <a:pPr algn="ctr"/>
            <a:r>
              <a:rPr lang="fr-FR" sz="1400" dirty="0" smtClean="0"/>
              <a:t>1 an </a:t>
            </a:r>
            <a:endParaRPr lang="fr-FR" sz="1400" dirty="0"/>
          </a:p>
        </p:txBody>
      </p:sp>
      <p:sp>
        <p:nvSpPr>
          <p:cNvPr id="52" name="ZoneTexte 51"/>
          <p:cNvSpPr txBox="1"/>
          <p:nvPr/>
        </p:nvSpPr>
        <p:spPr>
          <a:xfrm>
            <a:off x="2411760" y="3717032"/>
            <a:ext cx="1657199" cy="52322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dirty="0" smtClean="0"/>
              <a:t>Temps de migration</a:t>
            </a:r>
          </a:p>
          <a:p>
            <a:pPr algn="ctr"/>
            <a:r>
              <a:rPr lang="fr-FR" sz="1400" dirty="0"/>
              <a:t>2</a:t>
            </a:r>
            <a:r>
              <a:rPr lang="fr-FR" sz="1400" dirty="0" smtClean="0"/>
              <a:t> ans </a:t>
            </a:r>
            <a:endParaRPr lang="fr-FR" sz="1400" dirty="0"/>
          </a:p>
        </p:txBody>
      </p:sp>
      <p:grpSp>
        <p:nvGrpSpPr>
          <p:cNvPr id="49" name="Groupe 48"/>
          <p:cNvGrpSpPr/>
          <p:nvPr/>
        </p:nvGrpSpPr>
        <p:grpSpPr>
          <a:xfrm>
            <a:off x="1043608" y="4262011"/>
            <a:ext cx="1583160" cy="733963"/>
            <a:chOff x="1403648" y="4491243"/>
            <a:chExt cx="1583160" cy="733963"/>
          </a:xfrm>
        </p:grpSpPr>
        <p:sp>
          <p:nvSpPr>
            <p:cNvPr id="53" name="Éclair 52"/>
            <p:cNvSpPr/>
            <p:nvPr/>
          </p:nvSpPr>
          <p:spPr>
            <a:xfrm>
              <a:off x="1684541" y="4635264"/>
              <a:ext cx="534431" cy="589942"/>
            </a:xfrm>
            <a:prstGeom prst="lightningBolt">
              <a:avLst/>
            </a:prstGeom>
            <a:solidFill>
              <a:srgbClr val="65E81C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ZoneTexte 53"/>
            <p:cNvSpPr txBox="1"/>
            <p:nvPr/>
          </p:nvSpPr>
          <p:spPr>
            <a:xfrm>
              <a:off x="1403648" y="4491243"/>
              <a:ext cx="1583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NAO</a:t>
              </a:r>
              <a:endParaRPr lang="en-US" b="1" dirty="0"/>
            </a:p>
          </p:txBody>
        </p:sp>
      </p:grpSp>
      <p:grpSp>
        <p:nvGrpSpPr>
          <p:cNvPr id="57" name="Groupe 56"/>
          <p:cNvGrpSpPr/>
          <p:nvPr/>
        </p:nvGrpSpPr>
        <p:grpSpPr>
          <a:xfrm>
            <a:off x="2484784" y="1758933"/>
            <a:ext cx="1583160" cy="733963"/>
            <a:chOff x="1403648" y="4491243"/>
            <a:chExt cx="1583160" cy="733963"/>
          </a:xfrm>
        </p:grpSpPr>
        <p:sp>
          <p:nvSpPr>
            <p:cNvPr id="58" name="Éclair 57"/>
            <p:cNvSpPr/>
            <p:nvPr/>
          </p:nvSpPr>
          <p:spPr>
            <a:xfrm>
              <a:off x="1684541" y="4635264"/>
              <a:ext cx="534431" cy="589942"/>
            </a:xfrm>
            <a:prstGeom prst="lightningBolt">
              <a:avLst/>
            </a:prstGeom>
            <a:solidFill>
              <a:srgbClr val="65E81C"/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ZoneTexte 58"/>
            <p:cNvSpPr txBox="1"/>
            <p:nvPr/>
          </p:nvSpPr>
          <p:spPr>
            <a:xfrm>
              <a:off x="1403648" y="4491243"/>
              <a:ext cx="15831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NAO</a:t>
              </a:r>
              <a:endParaRPr lang="en-US" b="1" dirty="0"/>
            </a:p>
          </p:txBody>
        </p:sp>
      </p:grpSp>
      <p:sp>
        <p:nvSpPr>
          <p:cNvPr id="33" name="Éclair 32"/>
          <p:cNvSpPr/>
          <p:nvPr/>
        </p:nvSpPr>
        <p:spPr>
          <a:xfrm>
            <a:off x="4304561" y="2204864"/>
            <a:ext cx="534431" cy="589942"/>
          </a:xfrm>
          <a:prstGeom prst="lightningBolt">
            <a:avLst/>
          </a:prstGeom>
          <a:solidFill>
            <a:srgbClr val="00B050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ZoneTexte 34"/>
          <p:cNvSpPr txBox="1"/>
          <p:nvPr/>
        </p:nvSpPr>
        <p:spPr>
          <a:xfrm>
            <a:off x="4356484" y="1946501"/>
            <a:ext cx="1583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Recrutement</a:t>
            </a:r>
            <a:endParaRPr lang="en-US" sz="1600" b="1" dirty="0"/>
          </a:p>
        </p:txBody>
      </p:sp>
      <p:sp>
        <p:nvSpPr>
          <p:cNvPr id="63" name="Éclair 62"/>
          <p:cNvSpPr/>
          <p:nvPr/>
        </p:nvSpPr>
        <p:spPr>
          <a:xfrm>
            <a:off x="5004048" y="4063194"/>
            <a:ext cx="534431" cy="589942"/>
          </a:xfrm>
          <a:prstGeom prst="lightningBolt">
            <a:avLst/>
          </a:prstGeom>
          <a:solidFill>
            <a:srgbClr val="00B050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ZoneTexte 63"/>
          <p:cNvSpPr txBox="1"/>
          <p:nvPr/>
        </p:nvSpPr>
        <p:spPr>
          <a:xfrm>
            <a:off x="5220072" y="4170566"/>
            <a:ext cx="1583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Recrutement</a:t>
            </a:r>
            <a:endParaRPr lang="en-US" sz="1600" b="1" dirty="0"/>
          </a:p>
        </p:txBody>
      </p:sp>
      <p:sp>
        <p:nvSpPr>
          <p:cNvPr id="4" name="ZoneTexte 3"/>
          <p:cNvSpPr txBox="1"/>
          <p:nvPr/>
        </p:nvSpPr>
        <p:spPr>
          <a:xfrm>
            <a:off x="36512" y="5877272"/>
            <a:ext cx="907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Kettle et Haines, 2006; </a:t>
            </a:r>
            <a:r>
              <a:rPr lang="en-US" dirty="0" err="1" smtClean="0"/>
              <a:t>McCleave</a:t>
            </a:r>
            <a:r>
              <a:rPr lang="en-US" dirty="0" smtClean="0"/>
              <a:t>, 1993;  Munk et al., 2010; Fernandez and </a:t>
            </a:r>
            <a:r>
              <a:rPr lang="en-US" dirty="0" err="1" smtClean="0"/>
              <a:t>Pingree</a:t>
            </a:r>
            <a:r>
              <a:rPr lang="en-US" dirty="0" smtClean="0"/>
              <a:t>, 1996</a:t>
            </a:r>
            <a:endParaRPr lang="en-US" dirty="0"/>
          </a:p>
        </p:txBody>
      </p:sp>
      <p:grpSp>
        <p:nvGrpSpPr>
          <p:cNvPr id="65" name="Groupe 64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66" name="Rectangle 65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à coins arrondis 66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68" name="Rectangle à coins arrondis 67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69" name="Rectangle à coins arrondis 68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70" name="Rectangle à coins arrondis 69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71" name="Groupe 70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72" name="Pentagone 71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73" name="Pentagone 72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74" name="Pentagone 73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21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37" grpId="0" animBg="1"/>
      <p:bldP spid="48" grpId="0" animBg="1"/>
      <p:bldP spid="50" grpId="0" animBg="1"/>
      <p:bldP spid="51" grpId="0" animBg="1"/>
      <p:bldP spid="52" grpId="0" animBg="1"/>
      <p:bldP spid="33" grpId="0" animBg="1"/>
      <p:bldP spid="35" grpId="0"/>
      <p:bldP spid="63" grpId="0" animBg="1"/>
      <p:bldP spid="64" grpId="0"/>
      <p:bldP spid="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pied de page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 smtClean="0"/>
              <a:t>Soutenance Master II </a:t>
            </a:r>
            <a:endParaRPr lang="fr-FR"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45</a:t>
            </a:fld>
            <a:endParaRPr lang="fr-FR" dirty="0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3" name="ZoneTexte 2"/>
          <p:cNvSpPr txBox="1"/>
          <p:nvPr/>
        </p:nvSpPr>
        <p:spPr>
          <a:xfrm>
            <a:off x="251520" y="1196752"/>
            <a:ext cx="8640960" cy="4801314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 smtClean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Modèle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GEREM : Un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modèle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statistique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flexible qui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répond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à un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besoin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en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termes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d’évaluation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et de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gestion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de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l’Anguille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Européenne</a:t>
            </a:r>
            <a:endParaRPr lang="en-US" dirty="0" smtClean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algn="ctr"/>
            <a:endParaRPr lang="en-US" dirty="0" smtClean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Un point de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départ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pour un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modèle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de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dynamique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de population ?</a:t>
            </a:r>
          </a:p>
          <a:p>
            <a:pPr algn="ctr"/>
            <a:endParaRPr lang="en-US" dirty="0" smtClean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Des estimations qui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permettent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de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réaliser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des analyses de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corrélations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à large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échelle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(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lissage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des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effets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locaux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, du bruit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dans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les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données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…)</a:t>
            </a:r>
          </a:p>
          <a:p>
            <a:pPr algn="ctr"/>
            <a:endParaRPr lang="en-US" dirty="0" smtClean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Etude plus approfondie pour élucider les résultats statistiques</a:t>
            </a:r>
          </a:p>
          <a:p>
            <a:pPr algn="ctr"/>
            <a:endParaRPr lang="en-US" dirty="0" smtClean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GEREM: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Vers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un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modèle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</a:t>
            </a:r>
            <a:r>
              <a:rPr lang="en-US" dirty="0" err="1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mécaniste</a:t>
            </a:r>
            <a:r>
              <a:rPr lang="en-US" dirty="0" smtClean="0">
                <a:ln>
                  <a:solidFill>
                    <a:srgbClr val="C00000"/>
                  </a:solidFill>
                </a:ln>
                <a:solidFill>
                  <a:srgbClr val="C00000"/>
                </a:solidFill>
              </a:rPr>
              <a:t> ?</a:t>
            </a:r>
          </a:p>
          <a:p>
            <a:pPr algn="ctr"/>
            <a:endParaRPr lang="en-US" dirty="0">
              <a:ln>
                <a:solidFill>
                  <a:srgbClr val="C00000"/>
                </a:solidFill>
              </a:ln>
              <a:solidFill>
                <a:srgbClr val="C00000"/>
              </a:solidFill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15" name="Rectangle 14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à coins arrondis 15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17" name="Rectangle à coins arrondis 16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18" name="Rectangle à coins arrondis 17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19" name="Rectangle à coins arrondis 18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437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46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683568" y="1988840"/>
            <a:ext cx="7488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Bookman Old Style" panose="02050604050505020204" pitchFamily="18" charset="0"/>
              </a:rPr>
              <a:t>Merci de votre attention !</a:t>
            </a:r>
            <a:endParaRPr lang="en-US" sz="4000" b="1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78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47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116632"/>
            <a:ext cx="914400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Bookman Old Style" panose="02050604050505020204" pitchFamily="18" charset="0"/>
              </a:rPr>
              <a:t>Références</a:t>
            </a:r>
            <a:endParaRPr lang="en-US" sz="3200" dirty="0" smtClean="0"/>
          </a:p>
          <a:p>
            <a:r>
              <a:rPr lang="en-US" sz="1600" dirty="0" smtClean="0"/>
              <a:t>	Als </a:t>
            </a:r>
            <a:r>
              <a:rPr lang="en-US" sz="1600" dirty="0"/>
              <a:t>T., Hansen M., Maes G., Castonguay M., Riemann L., Aarestrup K., Munk P., Sparholt H., Hanel R., and Bernatchez L. (2011). All Roads Lead to Home: Panmixia of European Eel in the Sargasso Sea. </a:t>
            </a:r>
            <a:r>
              <a:rPr lang="en-US" sz="1600" i="1" dirty="0"/>
              <a:t>Molecular Ecology </a:t>
            </a:r>
            <a:r>
              <a:rPr lang="en-US" sz="1600" dirty="0"/>
              <a:t>20 (7): 1333‑46. </a:t>
            </a:r>
            <a:endParaRPr lang="en-US" sz="1600" dirty="0" smtClean="0"/>
          </a:p>
          <a:p>
            <a:r>
              <a:rPr lang="en-US" sz="1600" dirty="0"/>
              <a:t>	Beaulaton, L., Briand, C., 2007. Effect of management measures on glass </a:t>
            </a:r>
            <a:r>
              <a:rPr lang="en-US" sz="1600" dirty="0" smtClean="0"/>
              <a:t>eel escapement</a:t>
            </a:r>
            <a:r>
              <a:rPr lang="en-US" sz="1600" dirty="0"/>
              <a:t>. ICES J. Mar. Sci. 64, </a:t>
            </a:r>
            <a:r>
              <a:rPr lang="en-US" sz="1600" dirty="0" smtClean="0"/>
              <a:t>1402–1413.</a:t>
            </a:r>
          </a:p>
          <a:p>
            <a:r>
              <a:rPr lang="en-US" sz="1600" dirty="0"/>
              <a:t>	Bonhommeau S., </a:t>
            </a:r>
            <a:r>
              <a:rPr lang="en-US" sz="1600" dirty="0" err="1"/>
              <a:t>Blanke</a:t>
            </a:r>
            <a:r>
              <a:rPr lang="en-US" sz="1600" dirty="0"/>
              <a:t> B., </a:t>
            </a:r>
            <a:r>
              <a:rPr lang="en-US" sz="1600" dirty="0" err="1"/>
              <a:t>Tréguier</a:t>
            </a:r>
            <a:r>
              <a:rPr lang="en-US" sz="1600" dirty="0"/>
              <a:t> A.M., </a:t>
            </a:r>
            <a:r>
              <a:rPr lang="en-US" sz="1600" dirty="0" err="1"/>
              <a:t>Grima</a:t>
            </a:r>
            <a:r>
              <a:rPr lang="en-US" sz="1600" dirty="0"/>
              <a:t> N., </a:t>
            </a:r>
            <a:r>
              <a:rPr lang="en-US" sz="1600" dirty="0" err="1"/>
              <a:t>Rivot</a:t>
            </a:r>
            <a:r>
              <a:rPr lang="en-US" sz="1600" dirty="0"/>
              <a:t> E., </a:t>
            </a:r>
            <a:r>
              <a:rPr lang="en-US" sz="1600" dirty="0" err="1"/>
              <a:t>Vermard</a:t>
            </a:r>
            <a:r>
              <a:rPr lang="en-US" sz="1600" dirty="0"/>
              <a:t> Y., Greiner E., and Le Pape O. (2009). How Fast Can the European Eel (</a:t>
            </a:r>
            <a:r>
              <a:rPr lang="en-US" sz="1600" i="1" dirty="0"/>
              <a:t>Anguilla </a:t>
            </a:r>
            <a:r>
              <a:rPr lang="en-US" sz="1600" i="1" dirty="0" err="1"/>
              <a:t>Anguilla</a:t>
            </a:r>
            <a:r>
              <a:rPr lang="en-US" sz="1600" i="1" dirty="0"/>
              <a:t> </a:t>
            </a:r>
            <a:r>
              <a:rPr lang="en-US" sz="1600" dirty="0"/>
              <a:t>) Larvae Cross the Atlantic Ocean? </a:t>
            </a:r>
            <a:r>
              <a:rPr lang="en-US" sz="1600" i="1" dirty="0"/>
              <a:t>Fisheries Oceanography </a:t>
            </a:r>
            <a:r>
              <a:rPr lang="en-US" sz="1600" dirty="0"/>
              <a:t>18 (6): 371‑85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Bonhommeau S., </a:t>
            </a:r>
            <a:r>
              <a:rPr lang="en-US" sz="1600" dirty="0" err="1"/>
              <a:t>Chassot</a:t>
            </a:r>
            <a:r>
              <a:rPr lang="en-US" sz="1600" dirty="0"/>
              <a:t> E., and </a:t>
            </a:r>
            <a:r>
              <a:rPr lang="en-US" sz="1600" dirty="0" err="1"/>
              <a:t>Rivot</a:t>
            </a:r>
            <a:r>
              <a:rPr lang="en-US" sz="1600" dirty="0"/>
              <a:t> E. (2007). Fluctuations in European Eel (Anguilla Anguilla) Recruitment Resulting from Environmental Changes in the Sargasso Sea: Fluctuations in Glass Eel Recruitment. </a:t>
            </a:r>
            <a:r>
              <a:rPr lang="en-US" sz="1600" i="1" dirty="0"/>
              <a:t>Fisheries Oceanography </a:t>
            </a:r>
            <a:r>
              <a:rPr lang="en-US" sz="1600" dirty="0"/>
              <a:t>17 (1): 32‑44. </a:t>
            </a:r>
            <a:endParaRPr lang="en-US" sz="1600" dirty="0" smtClean="0"/>
          </a:p>
          <a:p>
            <a:r>
              <a:rPr lang="fr-FR" sz="1600" dirty="0" smtClean="0"/>
              <a:t>	Bru</a:t>
            </a:r>
            <a:r>
              <a:rPr lang="fr-FR" sz="1600" dirty="0"/>
              <a:t>, N., Bouvet, J.-C., </a:t>
            </a:r>
            <a:r>
              <a:rPr lang="fr-FR" sz="1600" dirty="0" err="1"/>
              <a:t>Prouzet</a:t>
            </a:r>
            <a:r>
              <a:rPr lang="fr-FR" sz="1600" dirty="0"/>
              <a:t>, P., 2006. Quantification par une méthode </a:t>
            </a:r>
            <a:r>
              <a:rPr lang="fr-FR" sz="1600" dirty="0" err="1"/>
              <a:t>analytiquede</a:t>
            </a:r>
            <a:r>
              <a:rPr lang="fr-FR" sz="1600" dirty="0"/>
              <a:t> la biomasse saisonnière de civelles (Anguilla </a:t>
            </a:r>
            <a:r>
              <a:rPr lang="fr-FR" sz="1600" dirty="0" err="1"/>
              <a:t>anguilla</a:t>
            </a:r>
            <a:r>
              <a:rPr lang="fr-FR" sz="1600" dirty="0"/>
              <a:t>) dans l’estuaire </a:t>
            </a:r>
            <a:r>
              <a:rPr lang="fr-FR" sz="1600" dirty="0" err="1"/>
              <a:t>del’Adour</a:t>
            </a:r>
            <a:r>
              <a:rPr lang="fr-FR" sz="1600" dirty="0"/>
              <a:t> et estimation du taux d’exploitation saisonnier de la </a:t>
            </a:r>
            <a:r>
              <a:rPr lang="fr-FR" sz="1600" dirty="0" err="1"/>
              <a:t>pêcheprofessionnelle</a:t>
            </a:r>
            <a:r>
              <a:rPr lang="fr-FR" sz="1600" dirty="0"/>
              <a:t> de 1998 à 2005. Rapport Ifremer—projet </a:t>
            </a:r>
            <a:r>
              <a:rPr lang="fr-FR" sz="1600" dirty="0" err="1" smtClean="0"/>
              <a:t>Indicang</a:t>
            </a:r>
            <a:endParaRPr lang="fr-FR" sz="1600" dirty="0" smtClean="0"/>
          </a:p>
          <a:p>
            <a:r>
              <a:rPr lang="fr-FR" sz="1600" dirty="0"/>
              <a:t>	</a:t>
            </a:r>
            <a:r>
              <a:rPr lang="en-US" sz="1600" dirty="0"/>
              <a:t>Burgers, H.E., </a:t>
            </a:r>
            <a:r>
              <a:rPr lang="en-US" sz="1600" dirty="0" err="1"/>
              <a:t>Schipper</a:t>
            </a:r>
            <a:r>
              <a:rPr lang="en-US" sz="1600" dirty="0"/>
              <a:t>, A.M., Jan Hendriks, A., 2014. Size relationships of </a:t>
            </a:r>
            <a:r>
              <a:rPr lang="en-US" sz="1600" dirty="0" err="1"/>
              <a:t>waterdischarge</a:t>
            </a:r>
            <a:r>
              <a:rPr lang="en-US" sz="1600" dirty="0"/>
              <a:t> in rivers: scaling of discharge with catchment area, main-</a:t>
            </a:r>
            <a:r>
              <a:rPr lang="en-US" sz="1600" dirty="0" err="1"/>
              <a:t>stemlength</a:t>
            </a:r>
            <a:r>
              <a:rPr lang="en-US" sz="1600" dirty="0"/>
              <a:t> and precipitation. </a:t>
            </a:r>
            <a:r>
              <a:rPr lang="en-US" sz="1600" dirty="0" err="1"/>
              <a:t>Hydrol</a:t>
            </a:r>
            <a:r>
              <a:rPr lang="en-US" sz="1600" dirty="0"/>
              <a:t>. Process. 28, 5769–5775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Dekker W. (2000). A Procrustean Assessment of the European Eel Stock. </a:t>
            </a:r>
            <a:r>
              <a:rPr lang="en-US" sz="1600" i="1" dirty="0"/>
              <a:t>ICES Journal of Marine Science </a:t>
            </a:r>
            <a:r>
              <a:rPr lang="en-US" sz="1600" dirty="0"/>
              <a:t>57 (4): 938‑47. </a:t>
            </a:r>
            <a:endParaRPr lang="en-US" sz="1600" dirty="0" smtClean="0"/>
          </a:p>
          <a:p>
            <a:r>
              <a:rPr lang="en-US" sz="1600" dirty="0"/>
              <a:t>	 Dekker W. (2000). The Fractal Geometry of the European Eel Stock. </a:t>
            </a:r>
            <a:r>
              <a:rPr lang="en-US" sz="1600" i="1" dirty="0"/>
              <a:t>ICES Journal of Marine Science </a:t>
            </a:r>
            <a:r>
              <a:rPr lang="en-US" sz="1600" dirty="0"/>
              <a:t>57 (1): 109‑21. </a:t>
            </a:r>
            <a:endParaRPr lang="en-US" sz="1600" dirty="0" smtClean="0"/>
          </a:p>
          <a:p>
            <a:r>
              <a:rPr lang="en-US" sz="1600" dirty="0"/>
              <a:t>	</a:t>
            </a:r>
            <a:r>
              <a:rPr lang="en-US" sz="1600" dirty="0" err="1"/>
              <a:t>Drouineau</a:t>
            </a:r>
            <a:r>
              <a:rPr lang="en-US" sz="1600" dirty="0"/>
              <a:t> H., Briand C., Lambert P., and Beaulaton L. (2016). GEREM (Glass Eel Recruitment Estimation Model): A Model to Estimate Glass Eel Recruitment at Different Spatial Scales. </a:t>
            </a:r>
            <a:r>
              <a:rPr lang="en-US" sz="1600" i="1" dirty="0"/>
              <a:t>Fisheries Research </a:t>
            </a:r>
            <a:r>
              <a:rPr lang="en-US" sz="1600" dirty="0"/>
              <a:t>174 (</a:t>
            </a:r>
            <a:r>
              <a:rPr lang="en-US" sz="1600" dirty="0" err="1"/>
              <a:t>février</a:t>
            </a:r>
            <a:r>
              <a:rPr lang="en-US" sz="1600" dirty="0"/>
              <a:t>): 68‑80. </a:t>
            </a:r>
            <a:endParaRPr lang="en-US" sz="1600" dirty="0" smtClean="0"/>
          </a:p>
          <a:p>
            <a:r>
              <a:rPr lang="en-US" sz="1600" dirty="0"/>
              <a:t>	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1858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48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116632"/>
            <a:ext cx="9144000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Bookman Old Style" panose="02050604050505020204" pitchFamily="18" charset="0"/>
              </a:rPr>
              <a:t>Références</a:t>
            </a:r>
            <a:endParaRPr lang="en-US" sz="3200" dirty="0" smtClean="0"/>
          </a:p>
          <a:p>
            <a:r>
              <a:rPr lang="en-US" sz="1600" dirty="0" smtClean="0"/>
              <a:t>	EU</a:t>
            </a:r>
            <a:r>
              <a:rPr lang="en-US" sz="1600" dirty="0"/>
              <a:t>. (2007). Council Regulation (EC) No. 1100/2007 of 18 September 2007 establishing measures for the recovery of the stock of European eel. Official Journal of the European Union L 248: 17–23. </a:t>
            </a:r>
            <a:endParaRPr lang="en-US" sz="1600" dirty="0" smtClean="0"/>
          </a:p>
          <a:p>
            <a:r>
              <a:rPr lang="en-US" sz="1600" dirty="0"/>
              <a:t>	Fernandez, E. &amp; </a:t>
            </a:r>
            <a:r>
              <a:rPr lang="en-US" sz="1600" dirty="0" err="1"/>
              <a:t>Pingree</a:t>
            </a:r>
            <a:r>
              <a:rPr lang="en-US" sz="1600" dirty="0"/>
              <a:t>, R. D. 1996 Coupling between physical and biological fields in the North Atlantic subtropical front southeast of the Azores. Deep Sea Res. I 43, 1369-1393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Friedland</a:t>
            </a:r>
            <a:r>
              <a:rPr lang="en-US" sz="1600" dirty="0"/>
              <a:t> K D., Miller M J., and Knights B. (2007). Oceanic changes in the Sargasso Sea and declines in recruitment of the European Eel. </a:t>
            </a:r>
            <a:r>
              <a:rPr lang="en-US" sz="1600" i="1" dirty="0"/>
              <a:t>ICES Journal of Marine Science </a:t>
            </a:r>
            <a:r>
              <a:rPr lang="en-US" sz="1600" dirty="0"/>
              <a:t>64 (3): 519‑30. </a:t>
            </a:r>
            <a:endParaRPr lang="en-US" sz="1600" dirty="0" smtClean="0"/>
          </a:p>
          <a:p>
            <a:r>
              <a:rPr lang="en-US" sz="1600" dirty="0"/>
              <a:t>	 Gutiérrez-Estrada J C. and Pulido-</a:t>
            </a:r>
            <a:r>
              <a:rPr lang="en-US" sz="1600" dirty="0" err="1"/>
              <a:t>Calvo</a:t>
            </a:r>
            <a:r>
              <a:rPr lang="en-US" sz="1600" dirty="0"/>
              <a:t> I. (2015). Is the Atlantic Surface Temperature a Good Proxy for Forecasting the Recruitment of European Eel in the Guadalquivir Estuary? </a:t>
            </a:r>
            <a:r>
              <a:rPr lang="en-US" sz="1600" i="1" dirty="0"/>
              <a:t>Progress in Oceanography </a:t>
            </a:r>
            <a:r>
              <a:rPr lang="en-US" sz="1600" dirty="0"/>
              <a:t>130 (</a:t>
            </a:r>
            <a:r>
              <a:rPr lang="en-US" sz="1600" dirty="0" err="1"/>
              <a:t>janvier</a:t>
            </a:r>
            <a:r>
              <a:rPr lang="en-US" sz="1600" dirty="0"/>
              <a:t>): 112‑24. </a:t>
            </a:r>
            <a:endParaRPr lang="en-US" sz="1600" dirty="0" smtClean="0"/>
          </a:p>
          <a:p>
            <a:r>
              <a:rPr lang="en-US" sz="1600" dirty="0"/>
              <a:t>	</a:t>
            </a:r>
            <a:r>
              <a:rPr lang="en-US" sz="1600" dirty="0" smtClean="0"/>
              <a:t>ICES</a:t>
            </a:r>
            <a:r>
              <a:rPr lang="en-US" sz="1600" dirty="0"/>
              <a:t>. (2001). Report of the ICES/EIFAC Working Group on Eels, 28-31 August 2001, Copenhagen, Denmark. ICES CM 2002/ACFM:03. 55 pp. </a:t>
            </a:r>
            <a:endParaRPr lang="en-US" sz="1600" dirty="0" smtClean="0"/>
          </a:p>
          <a:p>
            <a:r>
              <a:rPr lang="en-US" sz="1600" dirty="0"/>
              <a:t>	ICES. (2016). Report of the Joint EIFAAC/ICES/GFCM Working Group on Eel (WGEEL), 24 November-2 December 2015, Antalya, Turkey. ICES CM2015/ACOM:18. 130 </a:t>
            </a:r>
            <a:r>
              <a:rPr lang="en-US" sz="1600" dirty="0" smtClean="0"/>
              <a:t>pp</a:t>
            </a:r>
          </a:p>
          <a:p>
            <a:r>
              <a:rPr lang="en-US" sz="1600" dirty="0"/>
              <a:t>	 Kettle A.J., and Haines K. (2006). How Does the European Eel (</a:t>
            </a:r>
            <a:r>
              <a:rPr lang="en-US" sz="1600" i="1" dirty="0"/>
              <a:t>Anguilla </a:t>
            </a:r>
            <a:r>
              <a:rPr lang="en-US" sz="1600" i="1" dirty="0" err="1"/>
              <a:t>anguilla</a:t>
            </a:r>
            <a:r>
              <a:rPr lang="en-US" sz="1600" dirty="0"/>
              <a:t>) retain its population structure during its larval migration across the North Atlantic Ocean? </a:t>
            </a:r>
            <a:r>
              <a:rPr lang="en-US" sz="1600" i="1" dirty="0"/>
              <a:t>Canadian Journal of Fisheries and Aquatic Sciences </a:t>
            </a:r>
            <a:r>
              <a:rPr lang="en-US" sz="1600" dirty="0"/>
              <a:t>63 (1): 90‑106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 Kettle A.J., Bakker D.C.E., and Haines K. (2008). Impact of the North Atlantic Oscillation on the Trans-Atlantic Migrations of the European Eel (Anguilla Anguilla). </a:t>
            </a:r>
            <a:r>
              <a:rPr lang="en-US" sz="1600" i="1" dirty="0"/>
              <a:t>Journal of Geophysical Research </a:t>
            </a:r>
            <a:r>
              <a:rPr lang="en-US" sz="1600" dirty="0"/>
              <a:t>113 (G3).</a:t>
            </a:r>
            <a:r>
              <a:rPr lang="en-US" sz="1600" dirty="0" smtClean="0"/>
              <a:t> </a:t>
            </a:r>
          </a:p>
          <a:p>
            <a:r>
              <a:rPr lang="en-US" sz="1600" dirty="0"/>
              <a:t>	Knights B. (2003). A review of the possible impacts of long-term oceanic and climate changes and fishing mortality on recruitment of </a:t>
            </a:r>
            <a:r>
              <a:rPr lang="en-US" sz="1600" dirty="0" err="1"/>
              <a:t>Anguillid</a:t>
            </a:r>
            <a:r>
              <a:rPr lang="en-US" sz="1600" dirty="0"/>
              <a:t> eels of the Northern Hemisphere. </a:t>
            </a:r>
            <a:r>
              <a:rPr lang="en-US" sz="1600" i="1" dirty="0"/>
              <a:t>Science of The Total Environment </a:t>
            </a:r>
            <a:r>
              <a:rPr lang="en-US" sz="1600" dirty="0"/>
              <a:t>310 (1‑3): 237‑44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McCleave</a:t>
            </a:r>
            <a:r>
              <a:rPr lang="en-US" sz="1600" dirty="0"/>
              <a:t> J. D. (1993). Physical and </a:t>
            </a:r>
            <a:r>
              <a:rPr lang="en-US" sz="1600" dirty="0" err="1"/>
              <a:t>behavioural</a:t>
            </a:r>
            <a:r>
              <a:rPr lang="en-US" sz="1600" dirty="0"/>
              <a:t> controls on the Oceanic distribution and migration of </a:t>
            </a:r>
            <a:r>
              <a:rPr lang="en-US" sz="1600" dirty="0" err="1"/>
              <a:t>leptocephali</a:t>
            </a:r>
            <a:r>
              <a:rPr lang="en-US" sz="1600" dirty="0"/>
              <a:t>. </a:t>
            </a:r>
            <a:r>
              <a:rPr lang="en-US" sz="1600" i="1" dirty="0"/>
              <a:t>Journal of Fish Biology </a:t>
            </a:r>
            <a:r>
              <a:rPr lang="en-US" sz="1600" dirty="0"/>
              <a:t>43 (</a:t>
            </a:r>
            <a:r>
              <a:rPr lang="en-US" sz="1600" dirty="0" err="1"/>
              <a:t>sa</a:t>
            </a:r>
            <a:r>
              <a:rPr lang="en-US" sz="1600" dirty="0"/>
              <a:t>): 243‑73. </a:t>
            </a:r>
            <a:endParaRPr lang="en-US" sz="1600" dirty="0" smtClean="0"/>
          </a:p>
          <a:p>
            <a:r>
              <a:rPr lang="en-US" sz="1600" dirty="0"/>
              <a:t>	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74363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93B4E7C7-EA58-4C76-85B5-E3C002D3EF9A}" type="slidenum">
              <a:rPr lang="fr-FR" sz="1400" b="1" smtClean="0">
                <a:solidFill>
                  <a:schemeClr val="bg1"/>
                </a:solidFill>
              </a:rPr>
              <a:t>49</a:t>
            </a:fld>
            <a:endParaRPr lang="fr-FR" sz="1400" b="1" dirty="0">
              <a:solidFill>
                <a:schemeClr val="bg1"/>
              </a:solidFill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116632"/>
            <a:ext cx="9144000" cy="7786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latin typeface="Bookman Old Style" panose="02050604050505020204" pitchFamily="18" charset="0"/>
              </a:rPr>
              <a:t>Références</a:t>
            </a:r>
            <a:endParaRPr lang="en-US" sz="3200" dirty="0" smtClean="0"/>
          </a:p>
          <a:p>
            <a:r>
              <a:rPr lang="en-US" sz="1600" dirty="0" smtClean="0"/>
              <a:t>	Munk </a:t>
            </a:r>
            <a:r>
              <a:rPr lang="en-US" sz="1600" dirty="0"/>
              <a:t>P., Hansen M.M., Maes G.E., Nielsen T.G., Castonguay M., Riemann L., Sparholt H., and al. (2010). Oceanic fronts in the Sargasso Sea control the early life and drift of Atlantic eels. </a:t>
            </a:r>
            <a:r>
              <a:rPr lang="en-US" sz="1600" i="1" dirty="0"/>
              <a:t>Proceedings of the Royal Society B: Biological Sciences </a:t>
            </a:r>
            <a:r>
              <a:rPr lang="en-US" sz="1600" dirty="0"/>
              <a:t>277 (1700): 3593‑99. </a:t>
            </a:r>
            <a:endParaRPr lang="en-US" sz="1600" dirty="0" smtClean="0"/>
          </a:p>
          <a:p>
            <a:r>
              <a:rPr lang="en-US" sz="1600" dirty="0"/>
              <a:t>	 Sorensen, P.W., 1986. Origins of the freshwater attractant(s) of migrating </a:t>
            </a:r>
            <a:r>
              <a:rPr lang="en-US" sz="1600" dirty="0" err="1"/>
              <a:t>elvers</a:t>
            </a:r>
            <a:r>
              <a:rPr lang="en-US" sz="1600" dirty="0"/>
              <a:t> </a:t>
            </a:r>
            <a:r>
              <a:rPr lang="en-US" sz="1600" dirty="0" err="1"/>
              <a:t>ofthe</a:t>
            </a:r>
            <a:r>
              <a:rPr lang="en-US" sz="1600" dirty="0"/>
              <a:t> American eel, Anguilla </a:t>
            </a:r>
            <a:r>
              <a:rPr lang="en-US" sz="1600" dirty="0" err="1"/>
              <a:t>rostrata</a:t>
            </a:r>
            <a:r>
              <a:rPr lang="en-US" sz="1600" dirty="0"/>
              <a:t>. Environ. Biol. Fishes 17, 185–200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Tesch</a:t>
            </a:r>
            <a:r>
              <a:rPr lang="en-US" sz="1600" dirty="0"/>
              <a:t>, F.W., 2003. The Eel. Blackwell Publishing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Wuenschel</a:t>
            </a:r>
            <a:r>
              <a:rPr lang="en-US" sz="1600" dirty="0"/>
              <a:t>, M.J., Able, K.W., 2008. Swimming ability of eels (Anguilla </a:t>
            </a:r>
            <a:r>
              <a:rPr lang="en-US" sz="1600" dirty="0" err="1"/>
              <a:t>rostrata,Conger</a:t>
            </a:r>
            <a:r>
              <a:rPr lang="en-US" sz="1600" dirty="0"/>
              <a:t> </a:t>
            </a:r>
            <a:r>
              <a:rPr lang="en-US" sz="1600" dirty="0" err="1"/>
              <a:t>oceanicus</a:t>
            </a:r>
            <a:r>
              <a:rPr lang="en-US" sz="1600" dirty="0"/>
              <a:t>) at estuarine ingress: contrasting patterns of cross-</a:t>
            </a:r>
            <a:r>
              <a:rPr lang="en-US" sz="1600" dirty="0" err="1"/>
              <a:t>shelftransport</a:t>
            </a:r>
            <a:r>
              <a:rPr lang="en-US" sz="1600" dirty="0"/>
              <a:t>? Mar. Biol. 154, 775–786</a:t>
            </a:r>
            <a:r>
              <a:rPr lang="en-US" sz="1600" dirty="0" smtClean="0"/>
              <a:t>.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Zuur</a:t>
            </a:r>
            <a:r>
              <a:rPr lang="en-US" sz="1600" dirty="0"/>
              <a:t> A.F., Tuck I.D., and Bailey N. (2003b). Dynamic factor analysis to estimate common trends in fisheries time series. </a:t>
            </a:r>
            <a:r>
              <a:rPr lang="en-US" sz="1600" i="1" dirty="0"/>
              <a:t>Canadian Journal of Fisheries and Aquatic Sciences </a:t>
            </a:r>
            <a:r>
              <a:rPr lang="en-US" sz="1600" dirty="0"/>
              <a:t>60 (5): 542‑52.  </a:t>
            </a:r>
          </a:p>
          <a:p>
            <a:r>
              <a:rPr lang="en-US" sz="1600" dirty="0"/>
              <a:t>			</a:t>
            </a:r>
          </a:p>
          <a:p>
            <a:endParaRPr lang="en-US" sz="1600" dirty="0"/>
          </a:p>
          <a:p>
            <a:r>
              <a:rPr lang="en-US" sz="1600" dirty="0"/>
              <a:t>	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	</a:t>
            </a:r>
            <a:r>
              <a:rPr lang="en-US" sz="1050" dirty="0"/>
              <a:t>	</a:t>
            </a:r>
          </a:p>
          <a:p>
            <a:endParaRPr lang="fr-FR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 smtClean="0"/>
          </a:p>
          <a:p>
            <a:r>
              <a:rPr lang="en-US" sz="1600" dirty="0" smtClean="0"/>
              <a:t>	</a:t>
            </a:r>
            <a:r>
              <a:rPr lang="en-US" sz="1600" dirty="0"/>
              <a:t>			</a:t>
            </a:r>
          </a:p>
          <a:p>
            <a:r>
              <a:rPr lang="en-US" sz="1600" dirty="0" smtClean="0"/>
              <a:t>	</a:t>
            </a:r>
          </a:p>
          <a:p>
            <a:r>
              <a:rPr lang="en-US" sz="1600" dirty="0"/>
              <a:t>	</a:t>
            </a:r>
            <a:r>
              <a:rPr lang="fr-FR" sz="1600" dirty="0"/>
              <a:t>	</a:t>
            </a:r>
            <a:r>
              <a:rPr lang="en-US" sz="1200" dirty="0"/>
              <a:t>	</a:t>
            </a:r>
            <a:endParaRPr lang="en-US" sz="1200" dirty="0" smtClean="0"/>
          </a:p>
          <a:p>
            <a:r>
              <a:rPr lang="en-US" sz="12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99181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611560" y="1476073"/>
            <a:ext cx="7416824" cy="4761239"/>
            <a:chOff x="1259632" y="1404065"/>
            <a:chExt cx="7416824" cy="4761239"/>
          </a:xfrm>
        </p:grpSpPr>
        <p:grpSp>
          <p:nvGrpSpPr>
            <p:cNvPr id="28" name="Groupe 27"/>
            <p:cNvGrpSpPr/>
            <p:nvPr/>
          </p:nvGrpSpPr>
          <p:grpSpPr>
            <a:xfrm>
              <a:off x="1259632" y="1412776"/>
              <a:ext cx="7416824" cy="4752528"/>
              <a:chOff x="701824" y="1412776"/>
              <a:chExt cx="7416824" cy="4752528"/>
            </a:xfrm>
          </p:grpSpPr>
          <p:grpSp>
            <p:nvGrpSpPr>
              <p:cNvPr id="22" name="Groupe 21"/>
              <p:cNvGrpSpPr/>
              <p:nvPr/>
            </p:nvGrpSpPr>
            <p:grpSpPr>
              <a:xfrm>
                <a:off x="1979712" y="1988840"/>
                <a:ext cx="6120680" cy="2016224"/>
                <a:chOff x="1403648" y="1988840"/>
                <a:chExt cx="6120680" cy="2016224"/>
              </a:xfrm>
            </p:grpSpPr>
            <p:sp>
              <p:nvSpPr>
                <p:cNvPr id="8" name="Triangle isocèle 7"/>
                <p:cNvSpPr/>
                <p:nvPr/>
              </p:nvSpPr>
              <p:spPr>
                <a:xfrm rot="5400000">
                  <a:off x="971600" y="2420888"/>
                  <a:ext cx="2016224" cy="1152128"/>
                </a:xfrm>
                <a:prstGeom prst="triangle">
                  <a:avLst/>
                </a:prstGeom>
                <a:solidFill>
                  <a:srgbClr val="5548B8"/>
                </a:solidFill>
                <a:ln>
                  <a:solidFill>
                    <a:srgbClr val="5548B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" name="Pentagone 12"/>
                <p:cNvSpPr/>
                <p:nvPr/>
              </p:nvSpPr>
              <p:spPr>
                <a:xfrm>
                  <a:off x="2195735" y="2708920"/>
                  <a:ext cx="2377057" cy="576064"/>
                </a:xfrm>
                <a:prstGeom prst="homePlate">
                  <a:avLst>
                    <a:gd name="adj" fmla="val 137634"/>
                  </a:avLst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" name="Pentagone 18"/>
                <p:cNvSpPr/>
                <p:nvPr/>
              </p:nvSpPr>
              <p:spPr>
                <a:xfrm>
                  <a:off x="4139952" y="2852936"/>
                  <a:ext cx="1512168" cy="288032"/>
                </a:xfrm>
                <a:prstGeom prst="homePlate">
                  <a:avLst>
                    <a:gd name="adj" fmla="val 132673"/>
                  </a:avLst>
                </a:prstGeom>
                <a:solidFill>
                  <a:srgbClr val="00B0F0"/>
                </a:solidFill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" name="Rectangle 19"/>
                <p:cNvSpPr/>
                <p:nvPr/>
              </p:nvSpPr>
              <p:spPr>
                <a:xfrm>
                  <a:off x="5476528" y="2924944"/>
                  <a:ext cx="2047800" cy="144016"/>
                </a:xfrm>
                <a:prstGeom prst="rect">
                  <a:avLst/>
                </a:prstGeom>
                <a:solidFill>
                  <a:srgbClr val="92D050"/>
                </a:solidFill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27" name="Rectangle 26"/>
              <p:cNvSpPr/>
              <p:nvPr/>
            </p:nvSpPr>
            <p:spPr>
              <a:xfrm>
                <a:off x="701824" y="1412776"/>
                <a:ext cx="7416824" cy="475252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cxnSp>
          <p:nvCxnSpPr>
            <p:cNvPr id="31" name="Connecteur droit 30"/>
            <p:cNvCxnSpPr/>
            <p:nvPr/>
          </p:nvCxnSpPr>
          <p:spPr>
            <a:xfrm>
              <a:off x="2537520" y="1412776"/>
              <a:ext cx="0" cy="47525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>
              <a:off x="1259632" y="1988840"/>
              <a:ext cx="74168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ZoneTexte 41"/>
            <p:cNvSpPr txBox="1"/>
            <p:nvPr/>
          </p:nvSpPr>
          <p:spPr>
            <a:xfrm>
              <a:off x="1259632" y="1547500"/>
              <a:ext cx="12778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 smtClean="0"/>
                <a:t>Salinité</a:t>
              </a:r>
              <a:endParaRPr lang="fr-FR" dirty="0"/>
            </a:p>
          </p:txBody>
        </p:sp>
        <p:sp>
          <p:nvSpPr>
            <p:cNvPr id="43" name="ZoneTexte 42"/>
            <p:cNvSpPr txBox="1"/>
            <p:nvPr/>
          </p:nvSpPr>
          <p:spPr>
            <a:xfrm>
              <a:off x="2632720" y="1404065"/>
              <a:ext cx="597172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 smtClean="0"/>
                <a:t>Mer</a:t>
              </a:r>
              <a:r>
                <a:rPr lang="fr-FR" dirty="0" smtClean="0"/>
                <a:t>          </a:t>
              </a:r>
              <a:r>
                <a:rPr lang="fr-FR" sz="1400" dirty="0" smtClean="0"/>
                <a:t>Eaux saumâtre                     Eau douce                  Eau douce </a:t>
              </a:r>
            </a:p>
            <a:p>
              <a:r>
                <a:rPr lang="fr-FR" sz="1400" dirty="0" smtClean="0"/>
                <a:t>                         </a:t>
              </a:r>
              <a:r>
                <a:rPr lang="fr-FR" sz="1200" i="1" dirty="0" smtClean="0"/>
                <a:t>zone tidale                                zone tidale</a:t>
              </a:r>
              <a:endParaRPr lang="fr-FR" sz="1200" i="1" dirty="0"/>
            </a:p>
          </p:txBody>
        </p:sp>
        <p:cxnSp>
          <p:nvCxnSpPr>
            <p:cNvPr id="45" name="Connecteur droit avec flèche 44"/>
            <p:cNvCxnSpPr/>
            <p:nvPr/>
          </p:nvCxnSpPr>
          <p:spPr>
            <a:xfrm flipH="1">
              <a:off x="6785992" y="2420888"/>
              <a:ext cx="1458416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ZoneTexte 46"/>
            <p:cNvSpPr txBox="1"/>
            <p:nvPr/>
          </p:nvSpPr>
          <p:spPr>
            <a:xfrm>
              <a:off x="1259632" y="4149080"/>
              <a:ext cx="136815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100" b="1" dirty="0" smtClean="0"/>
                <a:t>Mouvement vers zone continentale</a:t>
              </a:r>
              <a:endParaRPr lang="fr-FR" sz="1100" b="1" dirty="0"/>
            </a:p>
          </p:txBody>
        </p:sp>
        <p:grpSp>
          <p:nvGrpSpPr>
            <p:cNvPr id="62" name="Groupe 61"/>
            <p:cNvGrpSpPr/>
            <p:nvPr/>
          </p:nvGrpSpPr>
          <p:grpSpPr>
            <a:xfrm>
              <a:off x="3329607" y="3895636"/>
              <a:ext cx="3385394" cy="829508"/>
              <a:chOff x="3329607" y="4149080"/>
              <a:chExt cx="3385394" cy="829508"/>
            </a:xfrm>
          </p:grpSpPr>
          <p:sp>
            <p:nvSpPr>
              <p:cNvPr id="48" name="ZoneTexte 47"/>
              <p:cNvSpPr txBox="1"/>
              <p:nvPr/>
            </p:nvSpPr>
            <p:spPr>
              <a:xfrm>
                <a:off x="3329607" y="4149080"/>
                <a:ext cx="3367137" cy="3385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 smtClean="0"/>
                  <a:t>        </a:t>
                </a:r>
                <a:r>
                  <a:rPr lang="fr-FR" sz="1400" dirty="0" smtClean="0"/>
                  <a:t>Immigration passive à marée haute</a:t>
                </a:r>
                <a:endParaRPr lang="fr-FR" sz="1400" dirty="0"/>
              </a:p>
            </p:txBody>
          </p:sp>
          <p:cxnSp>
            <p:nvCxnSpPr>
              <p:cNvPr id="50" name="Connecteur droit avec flèche 49"/>
              <p:cNvCxnSpPr/>
              <p:nvPr/>
            </p:nvCxnSpPr>
            <p:spPr>
              <a:xfrm>
                <a:off x="3347864" y="4318357"/>
                <a:ext cx="32352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necteur droit avec flèche 51"/>
              <p:cNvCxnSpPr>
                <a:endCxn id="48" idx="3"/>
              </p:cNvCxnSpPr>
              <p:nvPr/>
            </p:nvCxnSpPr>
            <p:spPr>
              <a:xfrm>
                <a:off x="6408712" y="4318357"/>
                <a:ext cx="28803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ZoneTexte 56"/>
              <p:cNvSpPr txBox="1"/>
              <p:nvPr/>
            </p:nvSpPr>
            <p:spPr>
              <a:xfrm>
                <a:off x="3347864" y="4640034"/>
                <a:ext cx="3367137" cy="33855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sz="1600" dirty="0" smtClean="0"/>
                  <a:t>        </a:t>
                </a:r>
                <a:r>
                  <a:rPr lang="fr-FR" sz="1400" dirty="0" smtClean="0"/>
                  <a:t>Enfouissement à marée basse </a:t>
                </a:r>
                <a:endParaRPr lang="fr-FR" sz="1600" dirty="0" smtClean="0"/>
              </a:p>
            </p:txBody>
          </p:sp>
          <p:cxnSp>
            <p:nvCxnSpPr>
              <p:cNvPr id="58" name="Connecteur droit avec flèche 57"/>
              <p:cNvCxnSpPr/>
              <p:nvPr/>
            </p:nvCxnSpPr>
            <p:spPr>
              <a:xfrm>
                <a:off x="3501244" y="4640034"/>
                <a:ext cx="8384" cy="33855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eur droit avec flèche 62"/>
              <p:cNvCxnSpPr/>
              <p:nvPr/>
            </p:nvCxnSpPr>
            <p:spPr>
              <a:xfrm>
                <a:off x="6414281" y="4640034"/>
                <a:ext cx="8384" cy="338554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ZoneTexte 64"/>
            <p:cNvSpPr txBox="1"/>
            <p:nvPr/>
          </p:nvSpPr>
          <p:spPr>
            <a:xfrm>
              <a:off x="6849145" y="4149080"/>
              <a:ext cx="1467272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600" dirty="0"/>
                <a:t>Nage active</a:t>
              </a:r>
            </a:p>
          </p:txBody>
        </p:sp>
        <p:sp>
          <p:nvSpPr>
            <p:cNvPr id="66" name="ZoneTexte 65"/>
            <p:cNvSpPr txBox="1"/>
            <p:nvPr/>
          </p:nvSpPr>
          <p:spPr>
            <a:xfrm>
              <a:off x="5868144" y="3450486"/>
              <a:ext cx="1467272" cy="338554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dirty="0" smtClean="0"/>
                <a:t>Seuil de ~ 14°C</a:t>
              </a:r>
              <a:endParaRPr lang="fr-FR" sz="1600" dirty="0"/>
            </a:p>
          </p:txBody>
        </p:sp>
        <p:cxnSp>
          <p:nvCxnSpPr>
            <p:cNvPr id="68" name="Connecteur droit 67"/>
            <p:cNvCxnSpPr/>
            <p:nvPr/>
          </p:nvCxnSpPr>
          <p:spPr>
            <a:xfrm>
              <a:off x="1259632" y="5877272"/>
              <a:ext cx="741682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ZoneTexte 68"/>
            <p:cNvSpPr txBox="1"/>
            <p:nvPr/>
          </p:nvSpPr>
          <p:spPr>
            <a:xfrm>
              <a:off x="1475656" y="5877272"/>
              <a:ext cx="8640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/>
                <a:t>Stade</a:t>
              </a:r>
            </a:p>
          </p:txBody>
        </p:sp>
        <p:sp>
          <p:nvSpPr>
            <p:cNvPr id="70" name="ZoneTexte 69"/>
            <p:cNvSpPr txBox="1"/>
            <p:nvPr/>
          </p:nvSpPr>
          <p:spPr>
            <a:xfrm>
              <a:off x="2555776" y="5877272"/>
              <a:ext cx="8640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 smtClean="0"/>
                <a:t>Civelle</a:t>
              </a:r>
              <a:endParaRPr lang="fr-FR" sz="1100" b="1" dirty="0"/>
            </a:p>
          </p:txBody>
        </p:sp>
        <p:sp>
          <p:nvSpPr>
            <p:cNvPr id="71" name="ZoneTexte 70"/>
            <p:cNvSpPr txBox="1"/>
            <p:nvPr/>
          </p:nvSpPr>
          <p:spPr>
            <a:xfrm>
              <a:off x="5584032" y="5877272"/>
              <a:ext cx="1220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 smtClean="0"/>
                <a:t>Pigmentation</a:t>
              </a:r>
              <a:endParaRPr lang="fr-FR" sz="1100" b="1" dirty="0"/>
            </a:p>
          </p:txBody>
        </p:sp>
        <p:sp>
          <p:nvSpPr>
            <p:cNvPr id="72" name="ZoneTexte 71"/>
            <p:cNvSpPr txBox="1"/>
            <p:nvPr/>
          </p:nvSpPr>
          <p:spPr>
            <a:xfrm>
              <a:off x="7100901" y="5896669"/>
              <a:ext cx="122021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 smtClean="0"/>
                <a:t>Pigmentées</a:t>
              </a:r>
              <a:endParaRPr lang="fr-FR" sz="1100" b="1" dirty="0"/>
            </a:p>
          </p:txBody>
        </p:sp>
        <p:sp>
          <p:nvSpPr>
            <p:cNvPr id="73" name="ZoneTexte 72"/>
            <p:cNvSpPr txBox="1"/>
            <p:nvPr/>
          </p:nvSpPr>
          <p:spPr>
            <a:xfrm>
              <a:off x="1331640" y="4941168"/>
              <a:ext cx="120588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100" b="1" dirty="0" smtClean="0">
                  <a:solidFill>
                    <a:srgbClr val="FF0000"/>
                  </a:solidFill>
                </a:rPr>
                <a:t>Opportunités de capture</a:t>
              </a:r>
              <a:endParaRPr lang="fr-FR" sz="1100" b="1" dirty="0">
                <a:solidFill>
                  <a:srgbClr val="FF0000"/>
                </a:solidFill>
              </a:endParaRPr>
            </a:p>
          </p:txBody>
        </p:sp>
        <p:sp>
          <p:nvSpPr>
            <p:cNvPr id="74" name="ZoneTexte 73"/>
            <p:cNvSpPr txBox="1"/>
            <p:nvPr/>
          </p:nvSpPr>
          <p:spPr>
            <a:xfrm>
              <a:off x="5273824" y="4941168"/>
              <a:ext cx="1458416" cy="861774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600" b="1" dirty="0">
                  <a:solidFill>
                    <a:srgbClr val="FF0000"/>
                  </a:solidFill>
                </a:rPr>
                <a:t>Concentration </a:t>
              </a:r>
              <a:r>
                <a:rPr lang="fr-FR" sz="1600" b="1" dirty="0" smtClean="0">
                  <a:solidFill>
                    <a:srgbClr val="FF0000"/>
                  </a:solidFill>
                </a:rPr>
                <a:t>de civelles</a:t>
              </a:r>
            </a:p>
            <a:p>
              <a:r>
                <a:rPr lang="fr-FR" sz="1600" b="1" dirty="0" smtClean="0">
                  <a:solidFill>
                    <a:srgbClr val="FF0000"/>
                  </a:solidFill>
                  <a:sym typeface="Wingdings" panose="05000000000000000000" pitchFamily="2" charset="2"/>
                </a:rPr>
                <a:t></a:t>
              </a:r>
              <a:r>
                <a:rPr lang="fr-FR" sz="1600" b="1" dirty="0" smtClean="0">
                  <a:solidFill>
                    <a:srgbClr val="FF0000"/>
                  </a:solidFill>
                </a:rPr>
                <a:t>captures</a:t>
              </a:r>
              <a:endParaRPr lang="fr-FR"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75" name="ZoneTexte 74"/>
            <p:cNvSpPr txBox="1"/>
            <p:nvPr/>
          </p:nvSpPr>
          <p:spPr>
            <a:xfrm>
              <a:off x="6849145" y="4948386"/>
              <a:ext cx="1269503" cy="58477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fr-FR" sz="1600" b="1" dirty="0" smtClean="0">
                  <a:solidFill>
                    <a:srgbClr val="FF0000"/>
                  </a:solidFill>
                </a:rPr>
                <a:t>Piégeage possible</a:t>
              </a:r>
              <a:endParaRPr lang="fr-FR" sz="16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50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grpSp>
        <p:nvGrpSpPr>
          <p:cNvPr id="41" name="Groupe 40"/>
          <p:cNvGrpSpPr/>
          <p:nvPr/>
        </p:nvGrpSpPr>
        <p:grpSpPr>
          <a:xfrm>
            <a:off x="36512" y="44624"/>
            <a:ext cx="9107488" cy="576064"/>
            <a:chOff x="0" y="44624"/>
            <a:chExt cx="9107488" cy="360040"/>
          </a:xfrm>
        </p:grpSpPr>
        <p:sp>
          <p:nvSpPr>
            <p:cNvPr id="44" name="Pentagone 43"/>
            <p:cNvSpPr/>
            <p:nvPr/>
          </p:nvSpPr>
          <p:spPr>
            <a:xfrm>
              <a:off x="6660232" y="44624"/>
              <a:ext cx="2447256" cy="360040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Discussion</a:t>
              </a:r>
              <a:endParaRPr lang="fr-FR" dirty="0"/>
            </a:p>
          </p:txBody>
        </p:sp>
        <p:sp>
          <p:nvSpPr>
            <p:cNvPr id="46" name="Pentagone 45"/>
            <p:cNvSpPr/>
            <p:nvPr/>
          </p:nvSpPr>
          <p:spPr>
            <a:xfrm>
              <a:off x="4536281" y="44624"/>
              <a:ext cx="2446463" cy="360040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résultats</a:t>
              </a:r>
              <a:endParaRPr lang="fr-FR" dirty="0"/>
            </a:p>
          </p:txBody>
        </p:sp>
        <p:sp>
          <p:nvSpPr>
            <p:cNvPr id="49" name="Pentagone 48"/>
            <p:cNvSpPr/>
            <p:nvPr/>
          </p:nvSpPr>
          <p:spPr>
            <a:xfrm>
              <a:off x="1915245" y="44624"/>
              <a:ext cx="2979267" cy="360040"/>
            </a:xfrm>
            <a:prstGeom prst="homePlat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Matériel et méthodes</a:t>
              </a:r>
            </a:p>
          </p:txBody>
        </p:sp>
        <p:sp>
          <p:nvSpPr>
            <p:cNvPr id="51" name="Pentagone 50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introduction</a:t>
              </a:r>
            </a:p>
          </p:txBody>
        </p:sp>
      </p:grpSp>
      <p:sp>
        <p:nvSpPr>
          <p:cNvPr id="53" name="ZoneTexte 52"/>
          <p:cNvSpPr txBox="1"/>
          <p:nvPr/>
        </p:nvSpPr>
        <p:spPr>
          <a:xfrm>
            <a:off x="36512" y="692696"/>
            <a:ext cx="9072562" cy="64633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2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Séries temporelles de recrutement disponibles à l’échelle de l’Europe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Processus gouvernant le recrutement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2883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" t="3402" r="2150" b="852"/>
          <a:stretch/>
        </p:blipFill>
        <p:spPr>
          <a:xfrm>
            <a:off x="476250" y="1717587"/>
            <a:ext cx="3371850" cy="21434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8" t="3432" r="1922"/>
          <a:stretch/>
        </p:blipFill>
        <p:spPr>
          <a:xfrm>
            <a:off x="4522043" y="1700808"/>
            <a:ext cx="3362325" cy="214346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0" name="ZoneTexte 9"/>
          <p:cNvSpPr txBox="1"/>
          <p:nvPr/>
        </p:nvSpPr>
        <p:spPr>
          <a:xfrm>
            <a:off x="539552" y="1844824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 smtClean="0"/>
              <a:t>α</a:t>
            </a:r>
            <a:r>
              <a:rPr lang="fr-FR" sz="1400" dirty="0" smtClean="0"/>
              <a:t>*trend1 </a:t>
            </a:r>
            <a:endParaRPr lang="fr-FR" sz="1400" dirty="0"/>
          </a:p>
        </p:txBody>
      </p:sp>
      <p:sp>
        <p:nvSpPr>
          <p:cNvPr id="27" name="ZoneTexte 26"/>
          <p:cNvSpPr txBox="1"/>
          <p:nvPr/>
        </p:nvSpPr>
        <p:spPr>
          <a:xfrm>
            <a:off x="5724636" y="2005211"/>
            <a:ext cx="19442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400" dirty="0" smtClean="0"/>
              <a:t>α</a:t>
            </a:r>
            <a:r>
              <a:rPr lang="fr-FR" sz="1400" dirty="0" smtClean="0"/>
              <a:t>*trend1 </a:t>
            </a:r>
            <a:endParaRPr lang="fr-FR" sz="1400" dirty="0"/>
          </a:p>
        </p:txBody>
      </p:sp>
      <p:grpSp>
        <p:nvGrpSpPr>
          <p:cNvPr id="15" name="Groupe 14"/>
          <p:cNvGrpSpPr/>
          <p:nvPr/>
        </p:nvGrpSpPr>
        <p:grpSpPr>
          <a:xfrm>
            <a:off x="476250" y="4285827"/>
            <a:ext cx="3376178" cy="2095501"/>
            <a:chOff x="476250" y="4147566"/>
            <a:chExt cx="3376178" cy="2095501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1" t="3149" r="2157" b="3247"/>
            <a:stretch/>
          </p:blipFill>
          <p:spPr>
            <a:xfrm>
              <a:off x="476250" y="4147566"/>
              <a:ext cx="3371850" cy="2095501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28" name="ZoneTexte 27"/>
            <p:cNvSpPr txBox="1"/>
            <p:nvPr/>
          </p:nvSpPr>
          <p:spPr>
            <a:xfrm>
              <a:off x="1908212" y="4725144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400" dirty="0" smtClean="0"/>
                <a:t>α</a:t>
              </a:r>
              <a:r>
                <a:rPr lang="fr-FR" sz="1400" dirty="0" smtClean="0"/>
                <a:t>*trend1 </a:t>
              </a:r>
              <a:endParaRPr lang="fr-FR" sz="1400"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467544" y="1713421"/>
            <a:ext cx="3384884" cy="2147627"/>
            <a:chOff x="4029937" y="1700808"/>
            <a:chExt cx="3384884" cy="2147627"/>
          </a:xfrm>
        </p:grpSpPr>
        <p:pic>
          <p:nvPicPr>
            <p:cNvPr id="11" name="Image 10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76" b="2498"/>
            <a:stretch/>
          </p:blipFill>
          <p:spPr>
            <a:xfrm>
              <a:off x="4029937" y="1700808"/>
              <a:ext cx="3384884" cy="214762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30" name="ZoneTexte 29"/>
            <p:cNvSpPr txBox="1"/>
            <p:nvPr/>
          </p:nvSpPr>
          <p:spPr>
            <a:xfrm>
              <a:off x="4140460" y="1844823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400" dirty="0" smtClean="0"/>
                <a:t>α</a:t>
              </a:r>
              <a:r>
                <a:rPr lang="fr-FR" sz="1400" dirty="0" smtClean="0"/>
                <a:t>*trend1+</a:t>
              </a:r>
              <a:r>
                <a:rPr lang="el-GR" sz="1400" dirty="0" smtClean="0"/>
                <a:t>β</a:t>
              </a:r>
              <a:r>
                <a:rPr lang="fr-FR" sz="1400" dirty="0" smtClean="0"/>
                <a:t>*trend2 </a:t>
              </a:r>
              <a:endParaRPr lang="fr-FR" sz="1400" dirty="0"/>
            </a:p>
          </p:txBody>
        </p:sp>
      </p:grpSp>
      <p:grpSp>
        <p:nvGrpSpPr>
          <p:cNvPr id="14" name="Groupe 13"/>
          <p:cNvGrpSpPr/>
          <p:nvPr/>
        </p:nvGrpSpPr>
        <p:grpSpPr>
          <a:xfrm>
            <a:off x="4522043" y="1713421"/>
            <a:ext cx="3362325" cy="2147627"/>
            <a:chOff x="4505324" y="4161693"/>
            <a:chExt cx="3362325" cy="2147627"/>
          </a:xfrm>
        </p:grpSpPr>
        <p:pic>
          <p:nvPicPr>
            <p:cNvPr id="13" name="Image 12"/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66" r="2391" b="3067"/>
            <a:stretch/>
          </p:blipFill>
          <p:spPr>
            <a:xfrm>
              <a:off x="4505324" y="4161693"/>
              <a:ext cx="3362325" cy="2147627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33" name="ZoneTexte 32"/>
            <p:cNvSpPr txBox="1"/>
            <p:nvPr/>
          </p:nvSpPr>
          <p:spPr>
            <a:xfrm>
              <a:off x="5724128" y="4561383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400" dirty="0" smtClean="0"/>
                <a:t>α</a:t>
              </a:r>
              <a:r>
                <a:rPr lang="fr-FR" sz="1400" dirty="0" smtClean="0"/>
                <a:t>*trend1+</a:t>
              </a:r>
              <a:r>
                <a:rPr lang="el-GR" sz="1400" dirty="0" smtClean="0"/>
                <a:t>β</a:t>
              </a:r>
              <a:r>
                <a:rPr lang="fr-FR" sz="1400" dirty="0" smtClean="0"/>
                <a:t>*trend2 </a:t>
              </a:r>
              <a:endParaRPr lang="fr-FR" sz="1400" dirty="0"/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467544" y="4285827"/>
            <a:ext cx="3672408" cy="2095501"/>
            <a:chOff x="3851920" y="4219574"/>
            <a:chExt cx="3672408" cy="2095501"/>
          </a:xfrm>
        </p:grpSpPr>
        <p:pic>
          <p:nvPicPr>
            <p:cNvPr id="16" name="Image 15"/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3" r="1978"/>
            <a:stretch/>
          </p:blipFill>
          <p:spPr>
            <a:xfrm>
              <a:off x="3851920" y="4219574"/>
              <a:ext cx="3384884" cy="2095501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</p:pic>
        <p:sp>
          <p:nvSpPr>
            <p:cNvPr id="46" name="ZoneTexte 45"/>
            <p:cNvSpPr txBox="1"/>
            <p:nvPr/>
          </p:nvSpPr>
          <p:spPr>
            <a:xfrm>
              <a:off x="5580112" y="4725144"/>
              <a:ext cx="19442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1400" dirty="0" smtClean="0"/>
                <a:t>α</a:t>
              </a:r>
              <a:r>
                <a:rPr lang="fr-FR" sz="1400" dirty="0" smtClean="0"/>
                <a:t>*trend1+</a:t>
              </a:r>
              <a:r>
                <a:rPr lang="el-GR" sz="1400" dirty="0" smtClean="0"/>
                <a:t>β</a:t>
              </a:r>
              <a:r>
                <a:rPr lang="fr-FR" sz="1400" dirty="0" smtClean="0"/>
                <a:t>trend2 </a:t>
              </a:r>
              <a:endParaRPr lang="fr-FR" sz="1400" dirty="0"/>
            </a:p>
          </p:txBody>
        </p:sp>
      </p:grpSp>
      <p:sp>
        <p:nvSpPr>
          <p:cNvPr id="17" name="Ellipse 16"/>
          <p:cNvSpPr/>
          <p:nvPr/>
        </p:nvSpPr>
        <p:spPr>
          <a:xfrm>
            <a:off x="578067" y="1844824"/>
            <a:ext cx="393533" cy="307776"/>
          </a:xfrm>
          <a:prstGeom prst="ellipse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Ellipse 46"/>
          <p:cNvSpPr/>
          <p:nvPr/>
        </p:nvSpPr>
        <p:spPr>
          <a:xfrm>
            <a:off x="6499977" y="2132856"/>
            <a:ext cx="393533" cy="307776"/>
          </a:xfrm>
          <a:prstGeom prst="ellipse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Ellipse 47"/>
          <p:cNvSpPr/>
          <p:nvPr/>
        </p:nvSpPr>
        <p:spPr>
          <a:xfrm>
            <a:off x="2971077" y="4797152"/>
            <a:ext cx="393533" cy="307776"/>
          </a:xfrm>
          <a:prstGeom prst="ellipse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20" name="Espace réservé du numéro de diapositive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51</a:t>
            </a:fld>
            <a:endParaRPr lang="fr-FR" dirty="0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grpSp>
        <p:nvGrpSpPr>
          <p:cNvPr id="31" name="Groupe 30"/>
          <p:cNvGrpSpPr/>
          <p:nvPr/>
        </p:nvGrpSpPr>
        <p:grpSpPr>
          <a:xfrm>
            <a:off x="36512" y="44624"/>
            <a:ext cx="9107488" cy="576064"/>
            <a:chOff x="0" y="44624"/>
            <a:chExt cx="9107488" cy="360040"/>
          </a:xfrm>
        </p:grpSpPr>
        <p:sp>
          <p:nvSpPr>
            <p:cNvPr id="32" name="Pentagone 31"/>
            <p:cNvSpPr/>
            <p:nvPr/>
          </p:nvSpPr>
          <p:spPr>
            <a:xfrm>
              <a:off x="6660232" y="44624"/>
              <a:ext cx="2447256" cy="360040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Discussion</a:t>
              </a:r>
              <a:endParaRPr lang="fr-FR" dirty="0"/>
            </a:p>
          </p:txBody>
        </p:sp>
        <p:sp>
          <p:nvSpPr>
            <p:cNvPr id="34" name="Pentagone 33"/>
            <p:cNvSpPr/>
            <p:nvPr/>
          </p:nvSpPr>
          <p:spPr>
            <a:xfrm>
              <a:off x="4536281" y="44624"/>
              <a:ext cx="2446463" cy="360040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 smtClean="0"/>
                <a:t>résultats</a:t>
              </a:r>
              <a:endParaRPr lang="fr-FR" dirty="0"/>
            </a:p>
          </p:txBody>
        </p:sp>
        <p:sp>
          <p:nvSpPr>
            <p:cNvPr id="35" name="Pentagone 34"/>
            <p:cNvSpPr/>
            <p:nvPr/>
          </p:nvSpPr>
          <p:spPr>
            <a:xfrm>
              <a:off x="1915245" y="44624"/>
              <a:ext cx="2979267" cy="360040"/>
            </a:xfrm>
            <a:prstGeom prst="homePlate">
              <a:avLst/>
            </a:prstGeom>
            <a:solidFill>
              <a:srgbClr val="0070C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 Matériel et méthodes</a:t>
              </a:r>
            </a:p>
          </p:txBody>
        </p:sp>
        <p:sp>
          <p:nvSpPr>
            <p:cNvPr id="36" name="Pentagone 35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introduction</a:t>
              </a:r>
            </a:p>
          </p:txBody>
        </p:sp>
      </p:grpSp>
      <p:sp>
        <p:nvSpPr>
          <p:cNvPr id="37" name="ZoneTexte 36"/>
          <p:cNvSpPr txBox="1"/>
          <p:nvPr/>
        </p:nvSpPr>
        <p:spPr>
          <a:xfrm>
            <a:off x="36512" y="692696"/>
            <a:ext cx="9072562" cy="64633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 startAt="3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DFA et vérification des hypothèses du modèle GEREM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Utilisation de la DFA: concept (2) 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476250" y="1340768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Série 1</a:t>
            </a:r>
            <a:endParaRPr lang="en-US" dirty="0"/>
          </a:p>
        </p:txBody>
      </p:sp>
      <p:sp>
        <p:nvSpPr>
          <p:cNvPr id="38" name="ZoneTexte 37"/>
          <p:cNvSpPr txBox="1"/>
          <p:nvPr/>
        </p:nvSpPr>
        <p:spPr>
          <a:xfrm>
            <a:off x="4524090" y="1340768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Série 2</a:t>
            </a:r>
            <a:endParaRPr lang="en-US" dirty="0"/>
          </a:p>
        </p:txBody>
      </p:sp>
      <p:sp>
        <p:nvSpPr>
          <p:cNvPr id="39" name="ZoneTexte 38"/>
          <p:cNvSpPr txBox="1"/>
          <p:nvPr/>
        </p:nvSpPr>
        <p:spPr>
          <a:xfrm>
            <a:off x="474061" y="3933056"/>
            <a:ext cx="3371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Série 3</a:t>
            </a:r>
            <a:endParaRPr lang="en-US" dirty="0"/>
          </a:p>
        </p:txBody>
      </p:sp>
      <p:cxnSp>
        <p:nvCxnSpPr>
          <p:cNvPr id="24" name="Connecteur droit 23"/>
          <p:cNvCxnSpPr/>
          <p:nvPr/>
        </p:nvCxnSpPr>
        <p:spPr>
          <a:xfrm flipV="1">
            <a:off x="3852428" y="5443483"/>
            <a:ext cx="1295636" cy="9378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 flipV="1">
            <a:off x="4522043" y="3861049"/>
            <a:ext cx="626021" cy="9361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ZoneTexte 28"/>
          <p:cNvSpPr txBox="1"/>
          <p:nvPr/>
        </p:nvSpPr>
        <p:spPr>
          <a:xfrm>
            <a:off x="4931024" y="4797152"/>
            <a:ext cx="3961456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Séries</a:t>
            </a:r>
            <a:r>
              <a:rPr lang="en-US" dirty="0" smtClean="0"/>
              <a:t> 2 et 3 similaires en terme de </a:t>
            </a:r>
            <a:r>
              <a:rPr lang="en-US" dirty="0" err="1" smtClean="0"/>
              <a:t>tendance</a:t>
            </a:r>
            <a:r>
              <a:rPr lang="en-US" dirty="0" smtClean="0"/>
              <a:t> résultante (</a:t>
            </a:r>
            <a:r>
              <a:rPr lang="el-GR" dirty="0" smtClean="0"/>
              <a:t>β</a:t>
            </a:r>
            <a:r>
              <a:rPr lang="fr-FR" dirty="0" smtClean="0"/>
              <a:t> fort et </a:t>
            </a:r>
            <a:r>
              <a:rPr lang="el-GR" dirty="0" smtClean="0"/>
              <a:t>α</a:t>
            </a:r>
            <a:r>
              <a:rPr lang="fr-FR" dirty="0" smtClean="0"/>
              <a:t> faible)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4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7" grpId="0"/>
      <p:bldP spid="17" grpId="0" animBg="1"/>
      <p:bldP spid="47" grpId="0" animBg="1"/>
      <p:bldP spid="48" grpId="0" animBg="1"/>
      <p:bldP spid="22" grpId="0"/>
      <p:bldP spid="38" grpId="0"/>
      <p:bldP spid="39" grpId="0"/>
      <p:bldP spid="2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487" y="1563523"/>
            <a:ext cx="6839905" cy="3305637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260487" y="4849996"/>
            <a:ext cx="6839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 smtClean="0"/>
              <a:t>Classification hiérarchique des séries de recrutement sur la base de leurs coefficients de saturation</a:t>
            </a:r>
            <a:endParaRPr lang="fr-FR" sz="1400" b="1" dirty="0"/>
          </a:p>
        </p:txBody>
      </p:sp>
      <p:sp>
        <p:nvSpPr>
          <p:cNvPr id="18" name="Flèche droite 17"/>
          <p:cNvSpPr/>
          <p:nvPr/>
        </p:nvSpPr>
        <p:spPr>
          <a:xfrm>
            <a:off x="179512" y="5733256"/>
            <a:ext cx="1517104" cy="432048"/>
          </a:xfrm>
          <a:prstGeom prst="rightArrow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Soutenance Master II </a:t>
            </a:r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4E7C7-EA58-4C76-85B5-E3C002D3EF9A}" type="slidenum">
              <a:rPr lang="fr-FR" smtClean="0"/>
              <a:t>52</a:t>
            </a:fld>
            <a:endParaRPr lang="fr-FR" dirty="0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15/09/2016</a:t>
            </a:r>
            <a:endParaRPr lang="fr-FR" dirty="0"/>
          </a:p>
        </p:txBody>
      </p:sp>
      <p:sp>
        <p:nvSpPr>
          <p:cNvPr id="23" name="ZoneTexte 22"/>
          <p:cNvSpPr txBox="1"/>
          <p:nvPr/>
        </p:nvSpPr>
        <p:spPr>
          <a:xfrm>
            <a:off x="-108520" y="908720"/>
            <a:ext cx="9361040" cy="6463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marL="400050" indent="-400050" algn="ctr">
              <a:buFont typeface="+mj-lt"/>
              <a:buAutoNum type="romanUcPeriod"/>
            </a:pPr>
            <a:r>
              <a:rPr lang="fr-FR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Tendances de recrutement à l’échelle de l’Europe: résultats de la DFA</a:t>
            </a:r>
          </a:p>
          <a:p>
            <a:pPr algn="ctr"/>
            <a:r>
              <a:rPr lang="fr-FR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fr-FR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de structure spatiale précise…</a:t>
            </a:r>
            <a:endParaRPr lang="fr-F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2051720" y="5590981"/>
            <a:ext cx="6696744" cy="646331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Mélange de séries provenant de zones géographiques distinctes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Pas de structure géographique </a:t>
            </a:r>
            <a:r>
              <a:rPr lang="fr-FR" dirty="0" smtClean="0"/>
              <a:t>précise</a:t>
            </a:r>
          </a:p>
        </p:txBody>
      </p:sp>
      <p:grpSp>
        <p:nvGrpSpPr>
          <p:cNvPr id="21" name="Groupe 20"/>
          <p:cNvGrpSpPr/>
          <p:nvPr/>
        </p:nvGrpSpPr>
        <p:grpSpPr>
          <a:xfrm>
            <a:off x="-108520" y="44624"/>
            <a:ext cx="9577064" cy="563433"/>
            <a:chOff x="-108520" y="44624"/>
            <a:chExt cx="9577064" cy="563433"/>
          </a:xfrm>
        </p:grpSpPr>
        <p:sp>
          <p:nvSpPr>
            <p:cNvPr id="22" name="Rectangle 21"/>
            <p:cNvSpPr/>
            <p:nvPr/>
          </p:nvSpPr>
          <p:spPr>
            <a:xfrm>
              <a:off x="-108520" y="44624"/>
              <a:ext cx="9577064" cy="563433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60000"/>
                    <a:lumOff val="40000"/>
                    <a:shade val="30000"/>
                    <a:satMod val="115000"/>
                  </a:schemeClr>
                </a:gs>
                <a:gs pos="50000">
                  <a:schemeClr val="accent3">
                    <a:lumMod val="60000"/>
                    <a:lumOff val="40000"/>
                    <a:shade val="67500"/>
                    <a:satMod val="115000"/>
                  </a:schemeClr>
                </a:gs>
                <a:gs pos="100000">
                  <a:schemeClr val="accent3">
                    <a:lumMod val="60000"/>
                    <a:lumOff val="40000"/>
                    <a:shade val="100000"/>
                    <a:satMod val="115000"/>
                  </a:scheme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à coins arrondis 33"/>
            <p:cNvSpPr/>
            <p:nvPr/>
          </p:nvSpPr>
          <p:spPr>
            <a:xfrm>
              <a:off x="136475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Introduction</a:t>
              </a:r>
            </a:p>
          </p:txBody>
        </p:sp>
        <p:sp>
          <p:nvSpPr>
            <p:cNvPr id="35" name="Rectangle à coins arrondis 34"/>
            <p:cNvSpPr/>
            <p:nvPr/>
          </p:nvSpPr>
          <p:spPr>
            <a:xfrm>
              <a:off x="1865684" y="116632"/>
              <a:ext cx="2778324" cy="400690"/>
            </a:xfrm>
            <a:prstGeom prst="roundRect">
              <a:avLst/>
            </a:prstGeom>
            <a:solidFill>
              <a:srgbClr val="2C3E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Modélisation du recrutement</a:t>
              </a:r>
            </a:p>
          </p:txBody>
        </p:sp>
        <p:sp>
          <p:nvSpPr>
            <p:cNvPr id="36" name="Rectangle à coins arrondis 35"/>
            <p:cNvSpPr/>
            <p:nvPr/>
          </p:nvSpPr>
          <p:spPr>
            <a:xfrm>
              <a:off x="4852999" y="116632"/>
              <a:ext cx="2455305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Analyse de corrélation</a:t>
              </a:r>
            </a:p>
          </p:txBody>
        </p:sp>
        <p:sp>
          <p:nvSpPr>
            <p:cNvPr id="37" name="Rectangle à coins arrondis 36"/>
            <p:cNvSpPr/>
            <p:nvPr/>
          </p:nvSpPr>
          <p:spPr>
            <a:xfrm>
              <a:off x="7596336" y="116632"/>
              <a:ext cx="1411189" cy="40069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Conclusion</a:t>
              </a:r>
            </a:p>
          </p:txBody>
        </p:sp>
      </p:grpSp>
      <p:grpSp>
        <p:nvGrpSpPr>
          <p:cNvPr id="38" name="Groupe 37"/>
          <p:cNvGrpSpPr/>
          <p:nvPr/>
        </p:nvGrpSpPr>
        <p:grpSpPr>
          <a:xfrm>
            <a:off x="-324544" y="620688"/>
            <a:ext cx="9793088" cy="288032"/>
            <a:chOff x="0" y="44624"/>
            <a:chExt cx="6982744" cy="360040"/>
          </a:xfrm>
        </p:grpSpPr>
        <p:sp>
          <p:nvSpPr>
            <p:cNvPr id="39" name="Pentagone 38"/>
            <p:cNvSpPr/>
            <p:nvPr/>
          </p:nvSpPr>
          <p:spPr>
            <a:xfrm>
              <a:off x="3997433" y="44624"/>
              <a:ext cx="2985311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Premiers éléments de discussion</a:t>
              </a:r>
            </a:p>
          </p:txBody>
        </p:sp>
        <p:sp>
          <p:nvSpPr>
            <p:cNvPr id="40" name="Pentagone 39"/>
            <p:cNvSpPr/>
            <p:nvPr/>
          </p:nvSpPr>
          <p:spPr>
            <a:xfrm>
              <a:off x="1915245" y="44624"/>
              <a:ext cx="2348733" cy="360040"/>
            </a:xfrm>
            <a:prstGeom prst="homePlate">
              <a:avLst/>
            </a:prstGeom>
            <a:solidFill>
              <a:srgbClr val="6699FF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 Résultats</a:t>
              </a:r>
            </a:p>
          </p:txBody>
        </p:sp>
        <p:sp>
          <p:nvSpPr>
            <p:cNvPr id="41" name="Pentagone 40"/>
            <p:cNvSpPr/>
            <p:nvPr/>
          </p:nvSpPr>
          <p:spPr>
            <a:xfrm>
              <a:off x="0" y="44624"/>
              <a:ext cx="2203277" cy="360040"/>
            </a:xfrm>
            <a:prstGeom prst="homePlat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600" b="1" dirty="0">
                  <a:solidFill>
                    <a:schemeClr val="tx1"/>
                  </a:solidFill>
                </a:rPr>
                <a:t>Matériels et méthodes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14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Fonderie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ception personnalisé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5587</Words>
  <Application>Microsoft Office PowerPoint</Application>
  <PresentationFormat>Affichage à l'écran (4:3)</PresentationFormat>
  <Paragraphs>1060</Paragraphs>
  <Slides>52</Slides>
  <Notes>28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52</vt:i4>
      </vt:variant>
    </vt:vector>
  </HeadingPairs>
  <TitlesOfParts>
    <vt:vector size="54" baseType="lpstr">
      <vt:lpstr>Thème Office</vt:lpstr>
      <vt:lpstr>Conception personnalisée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Irstea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Bornarel Virginie</dc:creator>
  <cp:lastModifiedBy>virginie</cp:lastModifiedBy>
  <cp:revision>469</cp:revision>
  <dcterms:created xsi:type="dcterms:W3CDTF">2016-08-22T11:15:41Z</dcterms:created>
  <dcterms:modified xsi:type="dcterms:W3CDTF">2016-09-15T07:51:26Z</dcterms:modified>
</cp:coreProperties>
</file>